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1.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2.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3.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4.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90b731e7eb764e0d" /><Relationship Type="http://schemas.openxmlformats.org/officeDocument/2006/relationships/extended-properties" Target="/docProps/app.xml" Id="R225b2d42cb884080" /><Relationship Type="http://schemas.openxmlformats.org/officeDocument/2006/relationships/officeDocument" Target="/ppt/presentation.xml" Id="R68703a9ab0114ba0" /></Relationships>
</file>

<file path=ppt/presentation.xml><?xml version="1.0" encoding="utf-8"?>
<p:presentation xmlns:p="http://schemas.openxmlformats.org/presentationml/2006/main">
  <p:sldMasterIdLst>
    <p:sldMasterId xmlns:r="http://schemas.openxmlformats.org/officeDocument/2006/relationships" id="2147483648" r:id="R6f8a7ae0e0dc4913"/>
  </p:sldMasterIdLst>
  <p:notesMasterIdLst>
    <p:notesMasterId xmlns:r="http://schemas.openxmlformats.org/officeDocument/2006/relationships" r:id="R0515add41b5c4bec"/>
  </p:notesMasterIdLst>
  <p:sldIdLst>
    <p:sldId xmlns:r="http://schemas.openxmlformats.org/officeDocument/2006/relationships" id="256" r:id="R063407d8a5e042ed"/>
    <p:sldId xmlns:r="http://schemas.openxmlformats.org/officeDocument/2006/relationships" id="257" r:id="Ra9fcfc43a0ec4c53"/>
    <p:sldId xmlns:r="http://schemas.openxmlformats.org/officeDocument/2006/relationships" id="258" r:id="R139fc3c2b8c740f2"/>
    <p:sldId xmlns:r="http://schemas.openxmlformats.org/officeDocument/2006/relationships" id="259" r:id="R9f550127b4584f05"/>
    <p:sldId xmlns:r="http://schemas.openxmlformats.org/officeDocument/2006/relationships" id="260" r:id="R0c67e7033ed74bbc"/>
    <p:sldId xmlns:r="http://schemas.openxmlformats.org/officeDocument/2006/relationships" id="261" r:id="R4d2383c419b44a89"/>
    <p:sldId xmlns:r="http://schemas.openxmlformats.org/officeDocument/2006/relationships" id="262" r:id="Rd58e5d72112e439f"/>
    <p:sldId xmlns:r="http://schemas.openxmlformats.org/officeDocument/2006/relationships" id="263" r:id="R376d6f193dc74839"/>
    <p:sldId xmlns:r="http://schemas.openxmlformats.org/officeDocument/2006/relationships" id="264" r:id="R4148cc18063a4f3e"/>
    <p:sldId xmlns:r="http://schemas.openxmlformats.org/officeDocument/2006/relationships" id="265" r:id="R57f328319a0d4051"/>
    <p:sldId xmlns:r="http://schemas.openxmlformats.org/officeDocument/2006/relationships" id="266" r:id="Rfa6ac6540a204c35"/>
    <p:sldId xmlns:r="http://schemas.openxmlformats.org/officeDocument/2006/relationships" id="267" r:id="R6ca1453aabb74700"/>
    <p:sldId xmlns:r="http://schemas.openxmlformats.org/officeDocument/2006/relationships" id="268" r:id="R19bb2ded06d442d0"/>
    <p:sldId xmlns:r="http://schemas.openxmlformats.org/officeDocument/2006/relationships" id="269" r:id="R95c1fdc7a8704d8a"/>
    <p:sldId xmlns:r="http://schemas.openxmlformats.org/officeDocument/2006/relationships" id="270" r:id="Rd0518c317c4f4fd9"/>
    <p:sldId xmlns:r="http://schemas.openxmlformats.org/officeDocument/2006/relationships" id="271" r:id="R92abb43cb44d4c1f"/>
    <p:sldId xmlns:r="http://schemas.openxmlformats.org/officeDocument/2006/relationships" id="272" r:id="Re51a55dc7cde4b89"/>
    <p:sldId xmlns:r="http://schemas.openxmlformats.org/officeDocument/2006/relationships" id="273" r:id="R3f911e8e6dc7450e"/>
    <p:sldId xmlns:r="http://schemas.openxmlformats.org/officeDocument/2006/relationships" id="274" r:id="R189fdff409bb4715"/>
    <p:sldId xmlns:r="http://schemas.openxmlformats.org/officeDocument/2006/relationships" id="275" r:id="Rbaf021bc0b7b457d"/>
    <p:sldId xmlns:r="http://schemas.openxmlformats.org/officeDocument/2006/relationships" id="276" r:id="Rbb9cf2df20174cf5"/>
    <p:sldId xmlns:r="http://schemas.openxmlformats.org/officeDocument/2006/relationships" id="277" r:id="Rb78924b0a2344b2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380d3c6091c418a" /><Relationship Type="http://schemas.openxmlformats.org/officeDocument/2006/relationships/slideMaster" Target="/ppt/slideMasters/slideMaster1.xml" Id="R6f8a7ae0e0dc4913" /><Relationship Type="http://schemas.openxmlformats.org/officeDocument/2006/relationships/notesMaster" Target="/ppt/notesMasters/notesMaster1.xml" Id="R0515add41b5c4bec" /><Relationship Type="http://schemas.openxmlformats.org/officeDocument/2006/relationships/presProps" Target="/ppt/presProps.xml" Id="Ra53b800011ee4c29" /><Relationship Type="http://schemas.openxmlformats.org/officeDocument/2006/relationships/tableStyles" Target="/ppt/tableStyles.xml" Id="R7b746c162a264d0c" /><Relationship Type="http://schemas.openxmlformats.org/officeDocument/2006/relationships/slide" Target="/ppt/slides/slide1.xml" Id="R063407d8a5e042ed" /><Relationship Type="http://schemas.openxmlformats.org/officeDocument/2006/relationships/slide" Target="/ppt/slides/slide2.xml" Id="Ra9fcfc43a0ec4c53" /><Relationship Type="http://schemas.openxmlformats.org/officeDocument/2006/relationships/slide" Target="/ppt/slides/slide3.xml" Id="R139fc3c2b8c740f2" /><Relationship Type="http://schemas.openxmlformats.org/officeDocument/2006/relationships/slide" Target="/ppt/slides/slide4.xml" Id="R9f550127b4584f05" /><Relationship Type="http://schemas.openxmlformats.org/officeDocument/2006/relationships/slide" Target="/ppt/slides/slide5.xml" Id="R0c67e7033ed74bbc" /><Relationship Type="http://schemas.openxmlformats.org/officeDocument/2006/relationships/slide" Target="/ppt/slides/slide6.xml" Id="R4d2383c419b44a89" /><Relationship Type="http://schemas.openxmlformats.org/officeDocument/2006/relationships/slide" Target="/ppt/slides/slide7.xml" Id="Rd58e5d72112e439f" /><Relationship Type="http://schemas.openxmlformats.org/officeDocument/2006/relationships/slide" Target="/ppt/slides/slide8.xml" Id="R376d6f193dc74839" /><Relationship Type="http://schemas.openxmlformats.org/officeDocument/2006/relationships/slide" Target="/ppt/slides/slide9.xml" Id="R4148cc18063a4f3e" /><Relationship Type="http://schemas.openxmlformats.org/officeDocument/2006/relationships/slide" Target="/ppt/slides/slide10.xml" Id="R57f328319a0d4051" /><Relationship Type="http://schemas.openxmlformats.org/officeDocument/2006/relationships/slide" Target="/ppt/slides/slide11.xml" Id="Rfa6ac6540a204c35" /><Relationship Type="http://schemas.openxmlformats.org/officeDocument/2006/relationships/slide" Target="/ppt/slides/slide12.xml" Id="R6ca1453aabb74700" /><Relationship Type="http://schemas.openxmlformats.org/officeDocument/2006/relationships/slide" Target="/ppt/slides/slide13.xml" Id="R19bb2ded06d442d0" /><Relationship Type="http://schemas.openxmlformats.org/officeDocument/2006/relationships/slide" Target="/ppt/slides/slide14.xml" Id="R95c1fdc7a8704d8a" /><Relationship Type="http://schemas.openxmlformats.org/officeDocument/2006/relationships/slide" Target="/ppt/slides/slide15.xml" Id="Rd0518c317c4f4fd9" /><Relationship Type="http://schemas.openxmlformats.org/officeDocument/2006/relationships/slide" Target="/ppt/slides/slide16.xml" Id="R92abb43cb44d4c1f" /><Relationship Type="http://schemas.openxmlformats.org/officeDocument/2006/relationships/slide" Target="/ppt/slides/slide17.xml" Id="Re51a55dc7cde4b89" /><Relationship Type="http://schemas.openxmlformats.org/officeDocument/2006/relationships/slide" Target="/ppt/slides/slide18.xml" Id="R3f911e8e6dc7450e" /><Relationship Type="http://schemas.openxmlformats.org/officeDocument/2006/relationships/slide" Target="/ppt/slides/slide19.xml" Id="R189fdff409bb4715" /><Relationship Type="http://schemas.openxmlformats.org/officeDocument/2006/relationships/slide" Target="/ppt/slides/slide20.xml" Id="Rbaf021bc0b7b457d" /><Relationship Type="http://schemas.openxmlformats.org/officeDocument/2006/relationships/slide" Target="/ppt/slides/slide21.xml" Id="Rbb9cf2df20174cf5" /><Relationship Type="http://schemas.openxmlformats.org/officeDocument/2006/relationships/slide" Target="/ppt/slides/slide22.xml" Id="Rb78924b0a2344b2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e3cc4798419426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5d3b88d65494fff" /><Relationship Type="http://schemas.openxmlformats.org/officeDocument/2006/relationships/notesMaster" Target="/ppt/notesMasters/notesMaster1.xml" Id="Rab224f07682344a0" /></Relationships>
</file>

<file path=ppt/notesSlides/_rels/notesSlide2.xml.rels>&#65279;<?xml version="1.0" encoding="utf-8"?><Relationships xmlns="http://schemas.openxmlformats.org/package/2006/relationships"><Relationship Type="http://schemas.openxmlformats.org/officeDocument/2006/relationships/slide" Target="/ppt/slides/slide2.xml" Id="R666e4d5a2f6c4f5d" /><Relationship Type="http://schemas.openxmlformats.org/officeDocument/2006/relationships/notesMaster" Target="/ppt/notesMasters/notesMaster1.xml" Id="Rc1bd5e3f4ded4f46" /></Relationships>
</file>

<file path=ppt/notesSlides/_rels/notesSlide3.xml.rels>&#65279;<?xml version="1.0" encoding="utf-8"?><Relationships xmlns="http://schemas.openxmlformats.org/package/2006/relationships"><Relationship Type="http://schemas.openxmlformats.org/officeDocument/2006/relationships/slide" Target="/ppt/slides/slide3.xml" Id="R7206630f3996428c" /><Relationship Type="http://schemas.openxmlformats.org/officeDocument/2006/relationships/notesMaster" Target="/ppt/notesMasters/notesMaster1.xml" Id="Re6296f51ff1b456a" /></Relationships>
</file>

<file path=ppt/notesSlides/_rels/notesSlide4.xml.rels>&#65279;<?xml version="1.0" encoding="utf-8"?><Relationships xmlns="http://schemas.openxmlformats.org/package/2006/relationships"><Relationship Type="http://schemas.openxmlformats.org/officeDocument/2006/relationships/slide" Target="/ppt/slides/slide4.xml" Id="R5d40617d32244985" /><Relationship Type="http://schemas.openxmlformats.org/officeDocument/2006/relationships/notesMaster" Target="/ppt/notesMasters/notesMaster1.xml" Id="R4d7d9814bcff4bbb" /></Relationships>
</file>

<file path=ppt/notesSlides/_rels/notesSlide5.xml.rels>&#65279;<?xml version="1.0" encoding="utf-8"?><Relationships xmlns="http://schemas.openxmlformats.org/package/2006/relationships"><Relationship Type="http://schemas.openxmlformats.org/officeDocument/2006/relationships/slide" Target="/ppt/slides/slide5.xml" Id="R8e9240ac7b6349d0" /><Relationship Type="http://schemas.openxmlformats.org/officeDocument/2006/relationships/notesMaster" Target="/ppt/notesMasters/notesMaster1.xml" Id="Rec2c9a6df4294f6b" /></Relationships>
</file>

<file path=ppt/notesSlides/_rels/notesSlide6.xml.rels>&#65279;<?xml version="1.0" encoding="utf-8"?><Relationships xmlns="http://schemas.openxmlformats.org/package/2006/relationships"><Relationship Type="http://schemas.openxmlformats.org/officeDocument/2006/relationships/slide" Target="/ppt/slides/slide6.xml" Id="R6ae1b1db722e461f" /><Relationship Type="http://schemas.openxmlformats.org/officeDocument/2006/relationships/notesMaster" Target="/ppt/notesMasters/notesMaster1.xml" Id="Rc21b0b6f164b4e7a" /></Relationships>
</file>

<file path=ppt/notesSlides/_rels/notesSlide7.xml.rels>&#65279;<?xml version="1.0" encoding="utf-8"?><Relationships xmlns="http://schemas.openxmlformats.org/package/2006/relationships"><Relationship Type="http://schemas.openxmlformats.org/officeDocument/2006/relationships/slide" Target="/ppt/slides/slide7.xml" Id="R01db5ef353d64f70" /><Relationship Type="http://schemas.openxmlformats.org/officeDocument/2006/relationships/notesMaster" Target="/ppt/notesMasters/notesMaster1.xml" Id="Ra68b42ff1c37468d" /></Relationships>
</file>

<file path=ppt/notesSlides/_rels/notesSlide8.xml.rels>&#65279;<?xml version="1.0" encoding="utf-8"?><Relationships xmlns="http://schemas.openxmlformats.org/package/2006/relationships"><Relationship Type="http://schemas.openxmlformats.org/officeDocument/2006/relationships/slide" Target="/ppt/slides/slide8.xml" Id="R8a30f1c99eac4ecf" /><Relationship Type="http://schemas.openxmlformats.org/officeDocument/2006/relationships/notesMaster" Target="/ppt/notesMasters/notesMaster1.xml" Id="Rd0eab1c137cc41bf" /></Relationships>
</file>

<file path=ppt/notesSlides/_rels/notesSlide9.xml.rels>&#65279;<?xml version="1.0" encoding="utf-8"?><Relationships xmlns="http://schemas.openxmlformats.org/package/2006/relationships"><Relationship Type="http://schemas.openxmlformats.org/officeDocument/2006/relationships/slide" Target="/ppt/slides/slide9.xml" Id="R77142e39b36c4a1d" /><Relationship Type="http://schemas.openxmlformats.org/officeDocument/2006/relationships/notesMaster" Target="/ppt/notesMasters/notesMaster1.xml" Id="R0b4e78f4d4eb4b4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10470a420a14c16" /><Relationship Type="http://schemas.openxmlformats.org/officeDocument/2006/relationships/notesMaster" Target="/ppt/notesMasters/notesMaster1.xml" Id="R4e68ebe8b7e24c9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3ecb8bf2e5f4850" /><Relationship Type="http://schemas.openxmlformats.org/officeDocument/2006/relationships/notesMaster" Target="/ppt/notesMasters/notesMaster1.xml" Id="Rb18d161afdee487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727a25f078c4e16" /><Relationship Type="http://schemas.openxmlformats.org/officeDocument/2006/relationships/notesMaster" Target="/ppt/notesMasters/notesMaster1.xml" Id="Rb8533ec93aca4a5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9abf5e871434211" /><Relationship Type="http://schemas.openxmlformats.org/officeDocument/2006/relationships/notesMaster" Target="/ppt/notesMasters/notesMaster1.xml" Id="Rb67b7a01657b432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a7b525d12fb4ac2" /><Relationship Type="http://schemas.openxmlformats.org/officeDocument/2006/relationships/notesMaster" Target="/ppt/notesMasters/notesMaster1.xml" Id="R75ae51580bbc443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d590e8b62524963" /><Relationship Type="http://schemas.openxmlformats.org/officeDocument/2006/relationships/notesMaster" Target="/ppt/notesMasters/notesMaster1.xml" Id="Re0b10298d7b745a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81a568a8de34358" /><Relationship Type="http://schemas.openxmlformats.org/officeDocument/2006/relationships/notesMaster" Target="/ppt/notesMasters/notesMaster1.xml" Id="R1ec4305cd3e9468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c24d5cbdb624b97" /><Relationship Type="http://schemas.openxmlformats.org/officeDocument/2006/relationships/notesMaster" Target="/ppt/notesMasters/notesMaster1.xml" Id="Ra4b8761f02b9458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941a989d9e54d18" /><Relationship Type="http://schemas.openxmlformats.org/officeDocument/2006/relationships/notesMaster" Target="/ppt/notesMasters/notesMaster1.xml" Id="R6175fc4df92a4fb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7d0246ad8114945" /><Relationship Type="http://schemas.openxmlformats.org/officeDocument/2006/relationships/notesMaster" Target="/ppt/notesMasters/notesMaster1.xml" Id="Ra7914a9aea77460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c9ca80e31f64383" /><Relationship Type="http://schemas.openxmlformats.org/officeDocument/2006/relationships/notesMaster" Target="/ppt/notesMasters/notesMaster1.xml" Id="Raa465bf6667d44f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26e77c8e82144a1" /><Relationship Type="http://schemas.openxmlformats.org/officeDocument/2006/relationships/notesMaster" Target="/ppt/notesMasters/notesMaster1.xml" Id="R4998fbacba734a2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ec71847ca674898" /><Relationship Type="http://schemas.openxmlformats.org/officeDocument/2006/relationships/notesMaster" Target="/ppt/notesMasters/notesMaster1.xml" Id="R3aaae91295a14c4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briefing begins with the neuron operation, then explains runtime packing and its exact decoder. The retained contribution concerns membrane leakage multiplication. Earlier accumulation and overflow candidates appear in the archived conversation, but they are not the measured contribution in this paper.</a:t>
            </a:r>
          </a:p>
          <a:p xmlns:a="http://schemas.openxmlformats.org/drawingml/2006/main">
            <a:r>
              <a:t/>
            </a:r>
          </a:p>
          <a:p xmlns:a="http://schemas.openxmlformats.org/drawingml/2006/main">
            <a:r>
              <a:t>Source: current manuscript and release evidence index.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leaky integrate-and-fire neuron stores membrane potential U. Leakage decays the previous membrane. Input current charges it, and threshold/reset rules produce the next state and spike. Different source models order these steps differently. The evaluation adapters preserve each original ordering. Only the highlighted leakage primitive has measured FPGA costs.</a:t>
            </a:r>
          </a:p>
          <a:p xmlns:a="http://schemas.openxmlformats.org/drawingml/2006/main">
            <a:r>
              <a:t/>
            </a:r>
          </a:p>
          <a:p xmlns:a="http://schemas.openxmlformats.org/drawingml/2006/main">
            <a:r>
              <a:t>Sources: paper Sections II and IV, original GLIF/OTTT/TinyImageNet source manifests.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Beta is an integer Q8 coefficient code. Its effective leakage factor is beta/256. Ceiling rounds toward positive infinity, so ceil(-1.5) is -1. The circuit preserves this declared integer operation. Converting an original floating neuron to integer units is separate and can change predictions.</a:t>
            </a:r>
          </a:p>
          <a:p xmlns:a="http://schemas.openxmlformats.org/drawingml/2006/main">
            <a:r>
              <a:t/>
            </a:r>
          </a:p>
          <a:p xmlns:a="http://schemas.openxmlformats.org/drawingml/2006/main">
            <a:r>
              <a:t>Sources: domain_acceptance_glif_v2.json, paper Equation 1 and model summaries.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Admission checks actual values, not only configured operand types. Two small membranes with the same coefficient share a DSP issue. A wide membrane or coefficient mismatch causes an exact singleton. The membrane remains stored at 16 bits. The returned count determines source advancement.</a:t>
            </a:r>
          </a:p>
          <a:p xmlns:a="http://schemas.openxmlformats.org/drawingml/2006/main">
            <a:r>
              <a:t/>
            </a:r>
          </a:p>
          <a:p xmlns:a="http://schemas.openxmlformats.org/drawingml/2006/main">
            <a:r>
              <a:t>Source: rtl/leak_core16.sv, E5 generate branch and take expression.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example uses five ordered operands. The source advances by 2, then 1, then 2, preserving the unconsumed next operand. Results are -1,3,117,-1,4. Three DSP issues replace five scalar issues in this toy. Fixed full-domain packing also uses three here, so this example illustrates mechanics rather than a universal fixed-packing win.</a:t>
            </a:r>
          </a:p>
          <a:p xmlns:a="http://schemas.openxmlformats.org/drawingml/2006/main">
            <a:r>
              <a:t/>
            </a:r>
          </a:p>
          <a:p xmlns:a="http://schemas.openxmlformats.org/drawingml/2006/main">
            <a:r>
              <a:t>Source: examples/run_examples.py, independently computed integer ceilings.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lower membrane receives a 256 bias and occupies nine low multiplicand bits. The upper signed membrane begins at bit 16, leaving seven zeros between them. This fits the 25-bit DSP input. The offset C removes the bias after multiplication and supplies both ceiling offsets. A signed borrow can cross the product boundary.</a:t>
            </a:r>
          </a:p>
          <a:p xmlns:a="http://schemas.openxmlformats.org/drawingml/2006/main">
            <a:r>
              <a:t/>
            </a:r>
          </a:p>
          <a:p xmlns:a="http://schemas.openxmlformats.org/drawingml/2006/main">
            <a:r>
              <a:t>Source: paper Equations 2–4 and leak_core16.sv packed9.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lower term x can be negative, but its bounded range permits at most one negative borrow. The upper field then equals y minus that borrow. The known odd/even bit of y recovers the borrow with an XOR. This enables a small rounded-result correction instead of general spill reconstruction.</a:t>
            </a:r>
          </a:p>
          <a:p xmlns:a="http://schemas.openxmlformats.org/drawingml/2006/main">
            <a:r>
              <a:t/>
            </a:r>
          </a:p>
          <a:p xmlns:a="http://schemas.openxmlformats.org/drawingml/2006/main">
            <a:r>
              <a:t>Sources: exhaustive stage3_algebra.json and manuscript decoder proof.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membranes -3 and 5 with beta 128, x=-129 and y=895. The lower quotient byte 255 becomes -1 when the borrow correction subtracts 256. The upper field 894 still has quotient 3. The independent integer ceilings agree with both results.</a:t>
            </a:r>
          </a:p>
          <a:p xmlns:a="http://schemas.openxmlformats.org/drawingml/2006/main">
            <a:r>
              <a:t/>
            </a:r>
          </a:p>
          <a:p xmlns:a="http://schemas.openxmlformats.org/drawingml/2006/main">
            <a:r>
              <a:t>Source: examples/run_examples.py.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pair (-256,1) with beta 1 exercises the upper correction boundary. A borrow changes upper field 256 to 255, so restoring it increases the upper quotient from 0 to 1. Separately,381 with beta 78 lies outside signed9. E5 computes 117 in a wide singleton. Unsafe narrowing would produce -39.</a:t>
            </a:r>
          </a:p>
          <a:p xmlns:a="http://schemas.openxmlformats.org/drawingml/2006/main">
            <a:r>
              <a:t/>
            </a:r>
          </a:p>
          <a:p xmlns:a="http://schemas.openxmlformats.org/drawingml/2006/main">
            <a:r>
              <a:t>Sources: portable examples and GLIF capture unsafe-wrap check.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measured core includes range tests, coefficient equality, operand selection, the DSP, quotient correction and the elastic interface. Its source queue, operand memory and common zero filter remain external. Core latency is two advancing edges without stalls. Neither source integration nor complete-neuron latency has been measured.</a:t>
            </a:r>
          </a:p>
          <a:p xmlns:a="http://schemas.openxmlformats.org/drawingml/2006/main">
            <a:r>
              <a:t/>
            </a:r>
          </a:p>
          <a:p xmlns:a="http://schemas.openxmlformats.org/drawingml/2006/main">
            <a:r>
              <a:t>Sources: hardware/route12_e5_a0/hardware.json, rtl/timing16.sv, manuscript Figure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general controls compute the same signed16 leakage contract. E1 retains full-domain pairs using DSP residue products and fabric high parts. E3 uses two scalar DSPs, E4 one, and E7 uses general LUT arithmetic. E6 is legal only for half leakage. E9 supports the 33 trained GLIF coefficient codes using shared add/sub logic. These are matched constructed primitives rather than reproduced FireFly accelerators.</a:t>
            </a:r>
          </a:p>
          <a:p xmlns:a="http://schemas.openxmlformats.org/drawingml/2006/main">
            <a:r>
              <a:t/>
            </a:r>
          </a:p>
          <a:p xmlns:a="http://schemas.openxmlformats.org/drawingml/2006/main">
            <a:r>
              <a:t>Sources: route and energy manifests.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Exhaustive arithmetic checks cover every stated narrow pair and full-domain scalar/split case. Native RTL checks also verify consumption, ordering and held outputs under stalls. The added GLIF constant control passes all 65536 signed16 values for each of its 33 coefficients and the entire representative workload, both stalled and unstalled.</a:t>
            </a:r>
          </a:p>
          <a:p xmlns:a="http://schemas.openxmlformats.org/drawingml/2006/main">
            <a:r>
              <a:t/>
            </a:r>
          </a:p>
          <a:p xmlns:a="http://schemas.openxmlformats.org/drawingml/2006/main">
            <a:r>
              <a:t>Source: stage3_algebra.json, domain_acceptance_glif_v2.json, native receipts, E9 independent_readiness_native_only_a0.json.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GLIF uses a full 10000-image conversion reference but 64-image packed feedback. OTTT uses full 10000-image packed feedback. The independent TinyImageNet model uses a predeclared 64-image subset. Exact agreement refers to packed versus scalar integer states/spikes/logits. Floating-to-integer conversion changes some network predictions, and those changes are reported separately.</a:t>
            </a:r>
          </a:p>
          <a:p xmlns:a="http://schemas.openxmlformats.org/drawingml/2006/main">
            <a:r>
              <a:t/>
            </a:r>
          </a:p>
          <a:p xmlns:a="http://schemas.openxmlformats.org/drawingml/2006/main">
            <a:r>
              <a:t>Sources: stage2_acceptance, stage3_results, benchmark_acceptance, bntt_acceptance.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Bars show core LUT counts at selected matched 12 ns routes. The common 94 fixture FFs are excluded from these core resources. E5 and E1 both use one DSP. E3 uses two DSPs. E7 and E9 use zero DSPs. E9 is one shared implementation covering all trained GLIF coefficient codes, not a lower bound for every possible constant design.</a:t>
            </a:r>
          </a:p>
          <a:p xmlns:a="http://schemas.openxmlformats.org/drawingml/2006/main">
            <a:r>
              <a:t/>
            </a:r>
          </a:p>
          <a:p xmlns:a="http://schemas.openxmlformats.org/drawingml/2006/main">
            <a:r>
              <a:t>Sources: selected hardware.json receipts and E9 hardware/route12_a0/hardware.json.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Bars show representative GLIF fixture dynamic energy per scalar operand. Every compared engine receives the same declared operands. E5 uses 21.599 pJ, E1 fixed split 55.308 pJ, one-DSP scalar 24.648 pJ, two-DSP scalar 21.371 pJ and general LUT 124.198 pJ. The independently audited GLIF constant control uses 96.758 pJ. Energy excludes chip static power, operand memory and whole-neuron integration.</a:t>
            </a:r>
          </a:p>
          <a:p xmlns:a="http://schemas.openxmlformats.org/drawingml/2006/main">
            <a:r>
              <a:t/>
            </a:r>
          </a:p>
          <a:p xmlns:a="http://schemas.openxmlformats.org/drawingml/2006/main">
            <a:r>
              <a:t>Sources: explicit selected power map, physical audits, E9 independent_readiness_full_a0.json.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values show E5 extra leakage issues relative to fixed E1. GLIF small membranes allow nearly full pair occupancy, whereas the wider OTTT and TinyImageNet streams cause many singletons. Leakage issue counts do not establish complete-network runtime or burst latency.</a:t>
            </a:r>
          </a:p>
          <a:p xmlns:a="http://schemas.openxmlformats.org/drawingml/2006/main">
            <a:r>
              <a:t/>
            </a:r>
          </a:p>
          <a:p xmlns:a="http://schemas.openxmlformats.org/drawingml/2006/main">
            <a:r>
              <a:t>Sources: stream profiles and Table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Half leakage has a cheap exact shift control. It beats E5 on OTTT energy. The TinyImageNet coefficient 253 also has an exact shift/add identity, although its hardware and energy remain unmeasured. This bounds the useful conditions for a general DSP primitive.</a:t>
            </a:r>
          </a:p>
          <a:p xmlns:a="http://schemas.openxmlformats.org/drawingml/2006/main">
            <a:r>
              <a:t/>
            </a:r>
          </a:p>
          <a:p xmlns:a="http://schemas.openxmlformats.org/drawingml/2006/main">
            <a:r>
              <a:t>Sources: OTTT representative accepted closure and BNTT exact constant check.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Operation packing, actual-value narrowness detection and signed correction have established ancestry. The specific contribution is the compact exact rounded-leakage decoder integrated with actual-membrane admission and a wide singleton contract. The available review has not identified an equivalent implementation, but three original full methods remain unavailable. A worldwide first-ever claim is not established.</a:t>
            </a:r>
          </a:p>
          <a:p xmlns:a="http://schemas.openxmlformats.org/drawingml/2006/main">
            <a:r>
              <a:t/>
            </a:r>
          </a:p>
          <a:p xmlns:a="http://schemas.openxmlformats.org/drawingml/2006/main">
            <a:r>
              <a:t>Source: paper related work and readiness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evidence supports preparation of a focused circuit submission. The paper should report exactness, measured resources, conditional energy benefits and negative cases. It should avoid claims about a complete accelerator, board energy, improved accuracy or universal burst latency. Reviewers determine the significance of the contribution and acceptance.</a:t>
            </a:r>
          </a:p>
          <a:p xmlns:a="http://schemas.openxmlformats.org/drawingml/2006/main">
            <a:r>
              <a:t/>
            </a:r>
          </a:p>
          <a:p xmlns:a="http://schemas.openxmlformats.org/drawingml/2006/main">
            <a:r>
              <a:t>Source: current paper and readiness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public repository packages the paper, slides, executable examples, research-authored source archive, lightweight evidence receipts and user-facing conversation export. Large weights, datasets and vendor artifacts remain external. The reading guide helps the mentor assess the final mechanism without following every discarded experiment.</a:t>
            </a:r>
          </a:p>
          <a:p xmlns:a="http://schemas.openxmlformats.org/drawingml/2006/main">
            <a:r>
              <a:t/>
            </a:r>
          </a:p>
          <a:p xmlns:a="http://schemas.openxmlformats.org/drawingml/2006/main">
            <a:r>
              <a:t>Source: README and docs/REPRODUCIBILITY.md. AI disclosure: OpenAI Codex assisted RTL, software, evidence review, drafting and slides. X is the author placeholder.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lower quotient takes product bits 15:8 as an unsigned byte and subtracts 256 times the recovered borrow. The upper quotient interprets bits 32:24 as a signed9 value and adds 1 only if the borrow exists and product bits 23:16 are 255. Bits denote positions in the two-complement product. The parity reference needs only coefficient bit 0 and upper membrane bit 0. Source: manuscript Equations 5–6 and examples/leakage_reference.py.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Fixed E1 writes U = 256h + q, where q lies between 0 and 255 and h = floor(U/256). It computes beta times h in fabric and packed beta times q in the DSP. Since beta times h is an integer, ceil(beta U/256) = beta h + ceil(beta q/256). For U = 381 and beta = 78, h = 1 and q = 125, giving 78 + 39 = 117. For U = -3 and beta = 128, h = -1 and q = 253, giving -128 + 127 = -1. It preserves full-domain pair occupancy but pays for the high-part arithmetic. Source: manuscript fixed control equation and leak_core16.sv E1 split branch.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519c7b0617e47f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4ff7dfde42141a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c51afd767c6484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a40d44b93104c7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90598e9f9694fc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6a95f0ab0a5472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A516528-00F4-467B-86E6-4499017055C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16D6416-087B-4C15-A75D-B8ED8EAFF85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FC95C7C-2F98-4B04-A1F5-088100FCAB4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7CF272F-6DEC-48FF-B47F-EDEB6AA3ED1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880D77A-0C47-4E91-80EE-D6E9D0B6862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B9DEDB5-DB22-4AD6-8453-092A52377C0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B4828CD-9949-4599-84B8-20CA77AB8E3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37E68C0-EC1B-4299-9C35-FF95CAA8718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3E8DE5C-A8DA-400F-9A96-3494325E822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5914534-798E-419C-8295-A62859C8B5C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705d46eacc443d9" /><Relationship Type="http://schemas.openxmlformats.org/officeDocument/2006/relationships/slideLayout" Target="/ppt/slideLayouts/slideLayout1.xml" Id="Rfe084cfa8dca4f23" /><Relationship Type="http://schemas.openxmlformats.org/officeDocument/2006/relationships/slideLayout" Target="/ppt/slideLayouts/slideLayout2.xml" Id="Rb1c230700c81497b" /><Relationship Type="http://schemas.openxmlformats.org/officeDocument/2006/relationships/slideLayout" Target="/ppt/slideLayouts/slideLayout3.xml" Id="R827b55d030cb4ee8" /><Relationship Type="http://schemas.openxmlformats.org/officeDocument/2006/relationships/slideLayout" Target="/ppt/slideLayouts/slideLayout4.xml" Id="R08fa31ba2bb646bf" /><Relationship Type="http://schemas.openxmlformats.org/officeDocument/2006/relationships/slideLayout" Target="/ppt/slideLayouts/slideLayout5.xml" Id="Ra627bd9d0b5c4b30" /><Relationship Type="http://schemas.openxmlformats.org/officeDocument/2006/relationships/slideLayout" Target="/ppt/slideLayouts/slideLayout6.xml" Id="Ra99153b74fb3422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e084cfa8dca4f23"/>
    <p:sldLayoutId xmlns:r="http://schemas.openxmlformats.org/officeDocument/2006/relationships" id="2147483650" r:id="Rb1c230700c81497b"/>
    <p:sldLayoutId xmlns:r="http://schemas.openxmlformats.org/officeDocument/2006/relationships" id="2147483651" r:id="R827b55d030cb4ee8"/>
    <p:sldLayoutId xmlns:r="http://schemas.openxmlformats.org/officeDocument/2006/relationships" id="2147483652" r:id="R08fa31ba2bb646bf"/>
    <p:sldLayoutId xmlns:r="http://schemas.openxmlformats.org/officeDocument/2006/relationships" id="2147483653" r:id="Ra627bd9d0b5c4b30"/>
    <p:sldLayoutId xmlns:r="http://schemas.openxmlformats.org/officeDocument/2006/relationships" id="2147483654" r:id="Ra99153b74fb3422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25037d8af774347" /><Relationship Type="http://schemas.openxmlformats.org/officeDocument/2006/relationships/notesSlide" Target="/ppt/notesSlides/notesSlide1.xml" Id="Rce0b8a8162124f5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238d47d510e4466" /><Relationship Type="http://schemas.openxmlformats.org/officeDocument/2006/relationships/notesSlide" Target="/ppt/notesSlides/notesSlide2.xml" Id="Rfe12b6caa9ab4ac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772cd863ae84f36" /><Relationship Type="http://schemas.openxmlformats.org/officeDocument/2006/relationships/notesSlide" Target="/ppt/notesSlides/notesSlide3.xml" Id="R81efbaf67e6d4aa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72069e897ac44e6" /><Relationship Type="http://schemas.openxmlformats.org/officeDocument/2006/relationships/notesSlide" Target="/ppt/notesSlides/notesSlide4.xml" Id="R22746450789440e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ad60aecb4394ac7" /><Relationship Type="http://schemas.openxmlformats.org/officeDocument/2006/relationships/notesSlide" Target="/ppt/notesSlides/notesSlide5.xml" Id="Rc6f1d0c5cd914f5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c22c5e66e024765" /><Relationship Type="http://schemas.openxmlformats.org/officeDocument/2006/relationships/notesSlide" Target="/ppt/notesSlides/notesSlide6.xml" Id="R2ba073ded85c422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3abd447d3c8442c" /><Relationship Type="http://schemas.openxmlformats.org/officeDocument/2006/relationships/notesSlide" Target="/ppt/notesSlides/notesSlide7.xml" Id="R4f4707f3960b4a6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b6d0741cefe46eb" /><Relationship Type="http://schemas.openxmlformats.org/officeDocument/2006/relationships/notesSlide" Target="/ppt/notesSlides/notesSlide8.xml" Id="R88afad268e4d462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05982b848dc4494" /><Relationship Type="http://schemas.openxmlformats.org/officeDocument/2006/relationships/notesSlide" Target="/ppt/notesSlides/notesSlide9.xml" Id="R3094e9b4eb1d4f5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18dd3f5c2c24d76" /><Relationship Type="http://schemas.openxmlformats.org/officeDocument/2006/relationships/notesSlide" Target="/ppt/notesSlides/notesSlide10.xml" Id="Rb91b18ab41fb4bc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7fc4429838a749ba" /><Relationship Type="http://schemas.openxmlformats.org/officeDocument/2006/relationships/notesSlide" Target="/ppt/notesSlides/notesSlide11.xml" Id="Rd28e71813d4847b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f8309202a7346fa" /><Relationship Type="http://schemas.openxmlformats.org/officeDocument/2006/relationships/notesSlide" Target="/ppt/notesSlides/notesSlide12.xml" Id="Ra4fea4ef515a419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6240c5d9aa6e40a7" /><Relationship Type="http://schemas.openxmlformats.org/officeDocument/2006/relationships/notesSlide" Target="/ppt/notesSlides/notesSlide13.xml" Id="R9bd9cda7d1d5439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bec1e204932d4c23" /><Relationship Type="http://schemas.openxmlformats.org/officeDocument/2006/relationships/chart" Target="/ppt/slides/charts/chart1.xml" Id="R51bae25c33ae4400" /><Relationship Type="http://schemas.openxmlformats.org/officeDocument/2006/relationships/notesSlide" Target="/ppt/notesSlides/notesSlide14.xml" Id="R4eed4a634ba4485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f1ed1e45a90e4f45" /><Relationship Type="http://schemas.openxmlformats.org/officeDocument/2006/relationships/chart" Target="/ppt/slides/charts/chart2.xml" Id="Rbcfb3873c16f4b2d" /><Relationship Type="http://schemas.openxmlformats.org/officeDocument/2006/relationships/notesSlide" Target="/ppt/notesSlides/notesSlide15.xml" Id="R357e6bfb4bfd413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d47e2285bfe64cc0" /><Relationship Type="http://schemas.openxmlformats.org/officeDocument/2006/relationships/chart" Target="/ppt/slides/charts/chart3.xml" Id="R636db54072cc41a9" /><Relationship Type="http://schemas.openxmlformats.org/officeDocument/2006/relationships/notesSlide" Target="/ppt/notesSlides/notesSlide16.xml" Id="R2bb891e90eaf462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adcb3eb5af414ad8" /><Relationship Type="http://schemas.openxmlformats.org/officeDocument/2006/relationships/chart" Target="/ppt/slides/charts/chart4.xml" Id="R0913c26384db4fc3" /><Relationship Type="http://schemas.openxmlformats.org/officeDocument/2006/relationships/notesSlide" Target="/ppt/notesSlides/notesSlide17.xml" Id="Rd47319a8f0d8411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06cc0f0422764ded" /><Relationship Type="http://schemas.openxmlformats.org/officeDocument/2006/relationships/notesSlide" Target="/ppt/notesSlides/notesSlide18.xml" Id="Rdc9065e3e07b4e2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743862edec6946c7" /><Relationship Type="http://schemas.openxmlformats.org/officeDocument/2006/relationships/notesSlide" Target="/ppt/notesSlides/notesSlide19.xml" Id="R30525ec8d38a485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28ec8afbc45c4fda" /><Relationship Type="http://schemas.openxmlformats.org/officeDocument/2006/relationships/notesSlide" Target="/ppt/notesSlides/notesSlide20.xml" Id="R154cf4d2d2474f8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5b2052b8f4e6464c" /><Relationship Type="http://schemas.openxmlformats.org/officeDocument/2006/relationships/notesSlide" Target="/ppt/notesSlides/notesSlide21.xml" Id="R2cc8231e8499437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98bbfc0b6b9941dc" /><Relationship Type="http://schemas.openxmlformats.org/officeDocument/2006/relationships/notesSlide" Target="/ppt/notesSlides/notesSlide22.xml" Id="Ra29ea8a2339444a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Core LUTs</c:v>
          </c:tx>
          <c:spPr>
            <a:solidFill xmlns:a="http://schemas.openxmlformats.org/drawingml/2006/main">
              <a:srgbClr val="007E87"/>
            </a:solidFill>
          </c:spPr>
          <c:invertIfNegative val="0"/>
          <c:cat>
            <c:strRef>
              <c:f>'Chart Data'!$A$2:$A$7</c:f>
              <c:strCache>
                <c:ptCount val="6"/>
                <c:pt idx="0">
                  <c:v>E4 scalar</c:v>
                </c:pt>
                <c:pt idx="1">
                  <c:v>E3 pair</c:v>
                </c:pt>
                <c:pt idx="2">
                  <c:v>E5 adaptive</c:v>
                </c:pt>
                <c:pt idx="3">
                  <c:v>E1 fixed</c:v>
                </c:pt>
                <c:pt idx="4">
                  <c:v>E7 LUT</c:v>
                </c:pt>
                <c:pt idx="5">
                  <c:v>E9 constants</c:v>
                </c:pt>
              </c:strCache>
            </c:strRef>
          </c:cat>
          <c:val>
            <c:numRef>
              <c:f>'Chart Data'!$B$2:$B$7</c:f>
              <c:numCache>
                <c:formatCode>0.0</c:formatCode>
                <c:ptCount val="6"/>
                <c:pt idx="0">
                  <c:v>13</c:v>
                </c:pt>
                <c:pt idx="1">
                  <c:v>35</c:v>
                </c:pt>
                <c:pt idx="2">
                  <c:v>62</c:v>
                </c:pt>
                <c:pt idx="3">
                  <c:v>202</c:v>
                </c:pt>
                <c:pt idx="4">
                  <c:v>330</c:v>
                </c:pt>
                <c:pt idx="5">
                  <c:v>375</c:v>
                </c:pt>
              </c:numCache>
            </c:numRef>
          </c:val>
        </c:ser>
        <c:dLbls>
          <c:txPr>
            <a:bodyPr xmlns:a="http://schemas.openxmlformats.org/drawingml/2006/main" anchorCtr="1"/>
            <a:lstStyle xmlns:a="http://schemas.openxmlformats.org/drawingml/2006/main"/>
            <a:p xmlns:a="http://schemas.openxmlformats.org/drawingml/2006/main">
              <a:pPr>
                <a:defRPr sz="1725">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DDE5E9"/>
              </a:solidFill>
            </a:ln>
          </c:spPr>
        </c:majorGridlines>
        <c:title>
          <c:tx>
            <c:rich>
              <a:bodyPr xmlns:a="http://schemas.openxmlformats.org/drawingml/2006/main"/>
              <a:lstStyle xmlns:a="http://schemas.openxmlformats.org/drawingml/2006/main"/>
              <a:p xmlns:a="http://schemas.openxmlformats.org/drawingml/2006/main">
                <a:r>
                  <a:rPr sz="1650">
                    <a:latin typeface="Arial"/>
                    <a:ea typeface="Arial"/>
                    <a:cs typeface="Arial"/>
                  </a:rPr>
                  <a:t>Core LUTs</a:t>
                </a:r>
              </a:p>
            </c:rich>
          </c:tx>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Arial"/>
                <a:ea typeface="Arial"/>
                <a:cs typeface="Arial"/>
              </a:defRPr>
            </a:pPr>
          </a:p>
        </c:txPr>
        <c:crossAx val="48650112"/>
        <c:crossBetween val="between"/>
      </c:valAx>
      <c:spPr>
        <a:solidFill xmlns:a="http://schemas.openxmlformats.org/drawingml/2006/main">
          <a:srgbClr val="FAFBFC"/>
        </a:solidFill>
      </c:spPr>
    </c:plotArea>
    <c:plotVisOnly val="1"/>
  </c:chart>
  <c:spPr>
    <a:solidFill xmlns:a="http://schemas.openxmlformats.org/drawingml/2006/main">
      <a:srgbClr val="FAFBFC"/>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pJ per scalar operand</c:v>
          </c:tx>
          <c:spPr>
            <a:solidFill xmlns:a="http://schemas.openxmlformats.org/drawingml/2006/main">
              <a:srgbClr val="007E87"/>
            </a:solidFill>
          </c:spPr>
          <c:invertIfNegative val="0"/>
          <c:cat>
            <c:strRef>
              <c:f>'Chart Data'!$A$2:$A$7</c:f>
              <c:strCache>
                <c:ptCount val="6"/>
                <c:pt idx="0">
                  <c:v>E3 pair</c:v>
                </c:pt>
                <c:pt idx="1">
                  <c:v>E5 adaptive</c:v>
                </c:pt>
                <c:pt idx="2">
                  <c:v>E4 scalar</c:v>
                </c:pt>
                <c:pt idx="3">
                  <c:v>E1 fixed</c:v>
                </c:pt>
                <c:pt idx="4">
                  <c:v>E7 LUT</c:v>
                </c:pt>
                <c:pt idx="5">
                  <c:v>E9 constants</c:v>
                </c:pt>
              </c:strCache>
            </c:strRef>
          </c:cat>
          <c:val>
            <c:numRef>
              <c:f>'Chart Data'!$B$2:$B$7</c:f>
              <c:numCache>
                <c:formatCode>0.0</c:formatCode>
                <c:ptCount val="6"/>
                <c:pt idx="0">
                  <c:v>21.371</c:v>
                </c:pt>
                <c:pt idx="1">
                  <c:v>21.599</c:v>
                </c:pt>
                <c:pt idx="2">
                  <c:v>24.648</c:v>
                </c:pt>
                <c:pt idx="3">
                  <c:v>55.308</c:v>
                </c:pt>
                <c:pt idx="4">
                  <c:v>124.198</c:v>
                </c:pt>
                <c:pt idx="5">
                  <c:v>96.758</c:v>
                </c:pt>
              </c:numCache>
            </c:numRef>
          </c:val>
        </c:ser>
        <c:dLbls>
          <c:txPr>
            <a:bodyPr xmlns:a="http://schemas.openxmlformats.org/drawingml/2006/main" anchorCtr="1"/>
            <a:lstStyle xmlns:a="http://schemas.openxmlformats.org/drawingml/2006/main"/>
            <a:p xmlns:a="http://schemas.openxmlformats.org/drawingml/2006/main">
              <a:pPr>
                <a:defRPr sz="1725">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DDE5E9"/>
              </a:solidFill>
            </a:ln>
          </c:spPr>
        </c:majorGridlines>
        <c:title>
          <c:tx>
            <c:rich>
              <a:bodyPr xmlns:a="http://schemas.openxmlformats.org/drawingml/2006/main"/>
              <a:lstStyle xmlns:a="http://schemas.openxmlformats.org/drawingml/2006/main"/>
              <a:p xmlns:a="http://schemas.openxmlformats.org/drawingml/2006/main">
                <a:r>
                  <a:rPr sz="1650">
                    <a:latin typeface="Arial"/>
                    <a:ea typeface="Arial"/>
                    <a:cs typeface="Arial"/>
                  </a:rPr>
                  <a:t>pJ per scalar operand</a:t>
                </a:r>
              </a:p>
            </c:rich>
          </c:tx>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Arial"/>
                <a:ea typeface="Arial"/>
                <a:cs typeface="Arial"/>
              </a:defRPr>
            </a:pPr>
          </a:p>
        </c:txPr>
        <c:crossAx val="48650112"/>
        <c:crossBetween val="between"/>
      </c:valAx>
      <c:spPr>
        <a:solidFill xmlns:a="http://schemas.openxmlformats.org/drawingml/2006/main">
          <a:srgbClr val="FAFBFC"/>
        </a:solidFill>
      </c:spPr>
    </c:plotArea>
    <c:plotVisOnly val="1"/>
  </c:chart>
  <c:spPr>
    <a:solidFill xmlns:a="http://schemas.openxmlformats.org/drawingml/2006/main">
      <a:srgbClr val="FAFBFC"/>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Extra issues versus E1 (%)</c:v>
          </c:tx>
          <c:spPr>
            <a:solidFill xmlns:a="http://schemas.openxmlformats.org/drawingml/2006/main">
              <a:srgbClr val="007E87"/>
            </a:solidFill>
          </c:spPr>
          <c:invertIfNegative val="0"/>
          <c:cat>
            <c:strRef>
              <c:f>'Chart Data'!$A$2:$A$4</c:f>
              <c:strCache>
                <c:ptCount val="3"/>
                <c:pt idx="0">
                  <c:v>GLIF 64</c:v>
                </c:pt>
                <c:pt idx="1">
                  <c:v>OTTT 10k</c:v>
                </c:pt>
                <c:pt idx="2">
                  <c:v>TinyImageNet 64</c:v>
                </c:pt>
              </c:strCache>
            </c:strRef>
          </c:cat>
          <c:val>
            <c:numRef>
              <c:f>'Chart Data'!$B$2:$B$4</c:f>
              <c:numCache>
                <c:formatCode>0.0</c:formatCode>
                <c:ptCount val="3"/>
                <c:pt idx="0">
                  <c:v>1.0836</c:v>
                </c:pt>
                <c:pt idx="1">
                  <c:v>54.9444</c:v>
                </c:pt>
                <c:pt idx="2">
                  <c:v>27.0303</c:v>
                </c:pt>
              </c:numCache>
            </c:numRef>
          </c:val>
        </c:ser>
        <c:dLbls>
          <c:txPr>
            <a:bodyPr xmlns:a="http://schemas.openxmlformats.org/drawingml/2006/main" anchorCtr="1"/>
            <a:lstStyle xmlns:a="http://schemas.openxmlformats.org/drawingml/2006/main"/>
            <a:p xmlns:a="http://schemas.openxmlformats.org/drawingml/2006/main">
              <a:pPr>
                <a:defRPr sz="1725">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DDE5E9"/>
              </a:solidFill>
            </a:ln>
          </c:spPr>
        </c:majorGridlines>
        <c:title>
          <c:tx>
            <c:rich>
              <a:bodyPr xmlns:a="http://schemas.openxmlformats.org/drawingml/2006/main"/>
              <a:lstStyle xmlns:a="http://schemas.openxmlformats.org/drawingml/2006/main"/>
              <a:p xmlns:a="http://schemas.openxmlformats.org/drawingml/2006/main">
                <a:r>
                  <a:rPr sz="1650">
                    <a:latin typeface="Arial"/>
                    <a:ea typeface="Arial"/>
                    <a:cs typeface="Arial"/>
                  </a:rPr>
                  <a:t>Extra issues versus E1 (%)</a:t>
                </a:r>
              </a:p>
            </c:rich>
          </c:tx>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Arial"/>
                <a:ea typeface="Arial"/>
                <a:cs typeface="Arial"/>
              </a:defRPr>
            </a:pPr>
          </a:p>
        </c:txPr>
        <c:crossAx val="48650112"/>
        <c:crossBetween val="between"/>
      </c:valAx>
      <c:spPr>
        <a:solidFill xmlns:a="http://schemas.openxmlformats.org/drawingml/2006/main">
          <a:srgbClr val="FAFBFC"/>
        </a:solidFill>
      </c:spPr>
    </c:plotArea>
    <c:plotVisOnly val="1"/>
  </c:chart>
  <c:spPr>
    <a:solidFill xmlns:a="http://schemas.openxmlformats.org/drawingml/2006/main">
      <a:srgbClr val="FAFBFC"/>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OTTT representative pJ/scalar</c:v>
          </c:tx>
          <c:spPr>
            <a:solidFill xmlns:a="http://schemas.openxmlformats.org/drawingml/2006/main">
              <a:srgbClr val="007E87"/>
            </a:solidFill>
          </c:spPr>
          <c:invertIfNegative val="0"/>
          <c:cat>
            <c:strRef>
              <c:f>'Chart Data'!$A$2:$A$4</c:f>
              <c:strCache>
                <c:ptCount val="3"/>
                <c:pt idx="0">
                  <c:v>OTTT half shift</c:v>
                </c:pt>
                <c:pt idx="1">
                  <c:v>OTTT E5</c:v>
                </c:pt>
                <c:pt idx="2">
                  <c:v>OTTT E1</c:v>
                </c:pt>
              </c:strCache>
            </c:strRef>
          </c:cat>
          <c:val>
            <c:numRef>
              <c:f>'Chart Data'!$B$2:$B$4</c:f>
              <c:numCache>
                <c:formatCode>0.0</c:formatCode>
                <c:ptCount val="3"/>
                <c:pt idx="0">
                  <c:v>13.658</c:v>
                </c:pt>
                <c:pt idx="1">
                  <c:v>26.58</c:v>
                </c:pt>
                <c:pt idx="2">
                  <c:v>36.808</c:v>
                </c:pt>
              </c:numCache>
            </c:numRef>
          </c:val>
        </c:ser>
        <c:dLbls>
          <c:txPr>
            <a:bodyPr xmlns:a="http://schemas.openxmlformats.org/drawingml/2006/main" anchorCtr="1"/>
            <a:lstStyle xmlns:a="http://schemas.openxmlformats.org/drawingml/2006/main"/>
            <a:p xmlns:a="http://schemas.openxmlformats.org/drawingml/2006/main">
              <a:pPr>
                <a:defRPr sz="1725">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DDE5E9"/>
              </a:solidFill>
            </a:ln>
          </c:spPr>
        </c:majorGridlines>
        <c:title>
          <c:tx>
            <c:rich>
              <a:bodyPr xmlns:a="http://schemas.openxmlformats.org/drawingml/2006/main"/>
              <a:lstStyle xmlns:a="http://schemas.openxmlformats.org/drawingml/2006/main"/>
              <a:p xmlns:a="http://schemas.openxmlformats.org/drawingml/2006/main">
                <a:r>
                  <a:rPr sz="1650">
                    <a:latin typeface="Arial"/>
                    <a:ea typeface="Arial"/>
                    <a:cs typeface="Arial"/>
                  </a:rPr>
                  <a:t>OTTT representative pJ/scalar</a:t>
                </a:r>
              </a:p>
            </c:rich>
          </c:tx>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Arial"/>
                <a:ea typeface="Arial"/>
                <a:cs typeface="Arial"/>
              </a:defRPr>
            </a:pPr>
          </a:p>
        </c:txPr>
        <c:crossAx val="48650112"/>
        <c:crossBetween val="between"/>
      </c:valAx>
      <c:spPr>
        <a:solidFill xmlns:a="http://schemas.openxmlformats.org/drawingml/2006/main">
          <a:srgbClr val="FAFBFC"/>
        </a:solidFill>
      </c:spPr>
    </c:plotArea>
    <c:plotVisOnly val="1"/>
  </c:chart>
  <c:spPr>
    <a:solidFill xmlns:a="http://schemas.openxmlformats.org/drawingml/2006/main">
      <a:srgbClr val="FAFBFC"/>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72C42"/>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7E0DDFD4-B211-4DAE-B4B0-1B88F82B4C44}"/>
              </a:ext>
            </a:extLst>
          </p:cNvPr>
          <p:cNvSpPr>
            <a:spLocks xmlns:a="http://schemas.openxmlformats.org/drawingml/2006/main" noGrp="1"/>
          </p:cNvSpPr>
          <p:nvPr/>
        </p:nvSpPr>
        <p:spPr>
          <a:xfrm xmlns:a="http://schemas.openxmlformats.org/drawingml/2006/main">
            <a:off x="704850" y="1657350"/>
            <a:ext cx="10572750" cy="186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4350" b="1">
                <a:solidFill>
                  <a:srgbClr val="FFFFFF"/>
                </a:solidFill>
                <a:latin typeface="Arial"/>
                <a:ea typeface="Arial"/>
                <a:cs typeface="Arial"/>
              </a:defRPr>
            </a:defPPr>
          </a:lstStyle>
          <a:p xmlns:a="http://schemas.openxmlformats.org/drawingml/2006/main">
            <a:pPr>
              <a:defRPr sz="4350" b="1">
                <a:solidFill>
                  <a:srgbClr val="FFFFFF"/>
                </a:solidFill>
                <a:latin typeface="Arial"/>
                <a:ea typeface="Arial"/>
                <a:cs typeface="Arial"/>
              </a:defRPr>
            </a:pPr>
            <a:r>
              <a:rPr sz="4350" b="1">
                <a:solidFill>
                  <a:srgbClr val="FFFFFF"/>
                </a:solidFill>
                <a:latin typeface="Arial"/>
                <a:ea typeface="Arial"/>
                <a:cs typeface="Arial"/>
              </a:rPr>
              <a:t>Exact adaptive DSP packing</a:t>
            </a:r>
          </a:p>
          <a:p xmlns:a="http://schemas.openxmlformats.org/drawingml/2006/main">
            <a:pPr>
              <a:defRPr sz="4350" b="1">
                <a:solidFill>
                  <a:srgbClr val="FFFFFF"/>
                </a:solidFill>
                <a:latin typeface="Arial"/>
                <a:ea typeface="Arial"/>
                <a:cs typeface="Arial"/>
              </a:defRPr>
            </a:pPr>
            <a:r>
              <a:rPr sz="4350" b="1">
                <a:solidFill>
                  <a:srgbClr val="FFFFFF"/>
                </a:solidFill>
                <a:latin typeface="Arial"/>
                <a:ea typeface="Arial"/>
                <a:cs typeface="Arial"/>
              </a:rPr>
              <a:t>for SNN membrane leakage</a:t>
            </a:r>
          </a:p>
        </p:txBody>
      </p:sp>
      <p:sp>
        <p:nvSpPr>
          <p:cNvPr id="2" name="">
            <a:extLst xmlns:a="http://schemas.openxmlformats.org/drawingml/2006/main">
              <a:ext uri="{FF2B5EF4-FFF2-40B4-BE49-F238E27FC236}">
                <a16:creationId xmlns:a16="http://schemas.microsoft.com/office/drawing/2014/main" id="{8FCAE710-C57D-4EF4-9F7C-AF17BC7B7695}"/>
              </a:ext>
            </a:extLst>
          </p:cNvPr>
          <p:cNvSpPr>
            <a:spLocks xmlns:a="http://schemas.openxmlformats.org/drawingml/2006/main" noGrp="1"/>
          </p:cNvSpPr>
          <p:nvPr/>
        </p:nvSpPr>
        <p:spPr>
          <a:xfrm xmlns:a="http://schemas.openxmlformats.org/drawingml/2006/main">
            <a:off x="742950" y="3829050"/>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250" b="0">
                <a:solidFill>
                  <a:srgbClr val="D7EBEE"/>
                </a:solidFill>
                <a:latin typeface="Arial"/>
                <a:ea typeface="Arial"/>
                <a:cs typeface="Arial"/>
              </a:defRPr>
            </a:defPPr>
          </a:lstStyle>
          <a:p xmlns:a="http://schemas.openxmlformats.org/drawingml/2006/main">
            <a:pPr>
              <a:defRPr sz="2250" b="0">
                <a:solidFill>
                  <a:srgbClr val="D7EBEE"/>
                </a:solidFill>
                <a:latin typeface="Arial"/>
                <a:ea typeface="Arial"/>
                <a:cs typeface="Arial"/>
              </a:defRPr>
            </a:pPr>
            <a:r>
              <a:rPr sz="2250" b="0">
                <a:solidFill>
                  <a:srgbClr val="D7EBEE"/>
                </a:solidFill>
                <a:latin typeface="Arial"/>
                <a:ea typeface="Arial"/>
                <a:cs typeface="Arial"/>
              </a:rPr>
              <a:t>Mechanism, worked examples and verified trade-offs</a:t>
            </a:r>
          </a:p>
        </p:txBody>
      </p:sp>
      <p:sp>
        <p:nvSpPr>
          <p:cNvPr id="3" name="">
            <a:extLst xmlns:a="http://schemas.openxmlformats.org/drawingml/2006/main">
              <a:ext uri="{FF2B5EF4-FFF2-40B4-BE49-F238E27FC236}">
                <a16:creationId xmlns:a16="http://schemas.microsoft.com/office/drawing/2014/main" id="{00D73BE3-ACA5-4D34-B5ED-8FA55A965508}"/>
              </a:ext>
            </a:extLst>
          </p:cNvPr>
          <p:cNvSpPr>
            <a:spLocks xmlns:a="http://schemas.openxmlformats.org/drawingml/2006/main" noGrp="1"/>
          </p:cNvSpPr>
          <p:nvPr/>
        </p:nvSpPr>
        <p:spPr>
          <a:xfrm xmlns:a="http://schemas.openxmlformats.org/drawingml/2006/main">
            <a:off x="742950" y="5524500"/>
            <a:ext cx="9525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00" b="0">
                <a:solidFill>
                  <a:srgbClr val="D7EBEE"/>
                </a:solidFill>
                <a:latin typeface="Arial"/>
                <a:ea typeface="Arial"/>
                <a:cs typeface="Arial"/>
              </a:defRPr>
            </a:defPPr>
          </a:lstStyle>
          <a:p xmlns:a="http://schemas.openxmlformats.org/drawingml/2006/main">
            <a:pPr>
              <a:defRPr sz="1800" b="0">
                <a:solidFill>
                  <a:srgbClr val="D7EBEE"/>
                </a:solidFill>
                <a:latin typeface="Arial"/>
                <a:ea typeface="Arial"/>
                <a:cs typeface="Arial"/>
              </a:defRPr>
            </a:pPr>
            <a:r>
              <a:rPr sz="1800" b="0">
                <a:solidFill>
                  <a:srgbClr val="D7EBEE"/>
                </a:solidFill>
                <a:latin typeface="Arial"/>
                <a:ea typeface="Arial"/>
                <a:cs typeface="Arial"/>
              </a:rPr>
              <a:t>Mentor briefing · X · 11 October 2026</a:t>
            </a:r>
          </a:p>
        </p:txBody>
      </p:sp>
    </p:spTree>
    <p:extLst>
      <p:ext uri="{BB962C8B-B14F-4D97-AF65-F5344CB8AC3E}">
        <p14:creationId xmlns:p14="http://schemas.microsoft.com/office/powerpoint/2010/main" val="1246506390"/>
      </p:ext>
    </p:extLst>
  </p:cSld>
</p:sld>
</file>

<file path=ppt/slides/slide2.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20ACA15C-9C5A-48D5-9DB1-72F757E072A8}"/>
              </a:ext>
            </a:extLst>
          </p:cNvPr>
          <p:cNvCxnSpPr>
            <a:stCxn xmlns:a="http://schemas.openxmlformats.org/drawingml/2006/main" id="10" idx="0"/>
            <a:endCxn xmlns:a="http://schemas.openxmlformats.org/drawingml/2006/main" id="5" idx="2"/>
          </p:cNvCxnSpPr>
          <p:nvPr/>
        </p:nvCxnSpPr>
        <p:spPr>
          <a:xfrm xmlns:a="http://schemas.openxmlformats.org/drawingml/2006/main" flipV="1">
            <a:off x="7829550" y="3143250"/>
            <a:ext cx="28575" cy="857250"/>
          </a:xfrm>
          <a:prstGeom xmlns:a="http://schemas.openxmlformats.org/drawingml/2006/main" prst="bentConnector4">
            <a:avLst>
              <a:gd name="adj1" fmla="val 0"/>
              <a:gd name="adj2" fmla="val 50000"/>
            </a:avLst>
          </a:prstGeom>
          <a:ln xmlns:a="http://schemas.openxmlformats.org/drawingml/2006/main" w="19050">
            <a:solidFill>
              <a:srgbClr val="007E87"/>
            </a:solidFill>
            <a:tailEnd type="triangle" w="sm" len="sm"/>
          </a:ln>
        </p:spPr>
      </p:cxnSp>
      <p:cxnSp>
        <p:nvCxnSpPr>
          <p:cNvPr id="9" name="">
            <a:extLst xmlns:a="http://schemas.openxmlformats.org/drawingml/2006/main">
              <a:ext uri="{FF2B5EF4-FFF2-40B4-BE49-F238E27FC236}">
                <a16:creationId xmlns:a16="http://schemas.microsoft.com/office/drawing/2014/main" id="{367878A3-4383-491B-BBA6-A84ED7E1533C}"/>
              </a:ext>
            </a:extLst>
          </p:cNvPr>
          <p:cNvCxnSpPr>
            <a:stCxn xmlns:a="http://schemas.openxmlformats.org/drawingml/2006/main" id="5" idx="3"/>
            <a:endCxn xmlns:a="http://schemas.openxmlformats.org/drawingml/2006/main" id="6" idx="1"/>
          </p:cNvCxnSpPr>
          <p:nvPr/>
        </p:nvCxnSpPr>
        <p:spPr>
          <a:xfrm xmlns:a="http://schemas.openxmlformats.org/drawingml/2006/main">
            <a:off x="8905875" y="2667000"/>
            <a:ext cx="676275" cy="0"/>
          </a:xfrm>
          <a:prstGeom xmlns:a="http://schemas.openxmlformats.org/drawingml/2006/main" prst="straightConnector1">
            <a:avLst/>
          </a:prstGeom>
          <a:ln xmlns:a="http://schemas.openxmlformats.org/drawingml/2006/main" w="19050">
            <a:solidFill>
              <a:srgbClr val="007E87"/>
            </a:solidFill>
            <a:tailEnd type="triangle" w="sm" len="sm"/>
          </a:ln>
        </p:spPr>
      </p:cxnSp>
      <p:cxnSp>
        <p:nvCxnSpPr>
          <p:cNvPr id="8" name="">
            <a:extLst xmlns:a="http://schemas.openxmlformats.org/drawingml/2006/main">
              <a:ext uri="{FF2B5EF4-FFF2-40B4-BE49-F238E27FC236}">
                <a16:creationId xmlns:a16="http://schemas.microsoft.com/office/drawing/2014/main" id="{B679C7DF-A7A1-4DC4-A607-06B3E9056608}"/>
              </a:ext>
            </a:extLst>
          </p:cNvPr>
          <p:cNvCxnSpPr>
            <a:stCxn xmlns:a="http://schemas.openxmlformats.org/drawingml/2006/main" id="4" idx="3"/>
            <a:endCxn xmlns:a="http://schemas.openxmlformats.org/drawingml/2006/main" id="5" idx="1"/>
          </p:cNvCxnSpPr>
          <p:nvPr/>
        </p:nvCxnSpPr>
        <p:spPr>
          <a:xfrm xmlns:a="http://schemas.openxmlformats.org/drawingml/2006/main">
            <a:off x="6000750" y="2667000"/>
            <a:ext cx="809625" cy="0"/>
          </a:xfrm>
          <a:prstGeom xmlns:a="http://schemas.openxmlformats.org/drawingml/2006/main" prst="straightConnector1">
            <a:avLst/>
          </a:prstGeom>
          <a:ln xmlns:a="http://schemas.openxmlformats.org/drawingml/2006/main" w="19050">
            <a:solidFill>
              <a:srgbClr val="007E87"/>
            </a:solidFill>
            <a:tailEnd type="triangle" w="sm" len="sm"/>
          </a:ln>
        </p:spPr>
      </p:cxnSp>
      <p:cxnSp>
        <p:nvCxnSpPr>
          <p:cNvPr id="7" name="">
            <a:extLst xmlns:a="http://schemas.openxmlformats.org/drawingml/2006/main">
              <a:ext uri="{FF2B5EF4-FFF2-40B4-BE49-F238E27FC236}">
                <a16:creationId xmlns:a16="http://schemas.microsoft.com/office/drawing/2014/main" id="{B511292F-BE91-4A68-B828-B4DB58C1B940}"/>
              </a:ext>
            </a:extLst>
          </p:cNvPr>
          <p:cNvCxnSpPr>
            <a:stCxn xmlns:a="http://schemas.openxmlformats.org/drawingml/2006/main" id="3" idx="3"/>
            <a:endCxn xmlns:a="http://schemas.openxmlformats.org/drawingml/2006/main" id="4" idx="1"/>
          </p:cNvCxnSpPr>
          <p:nvPr/>
        </p:nvCxnSpPr>
        <p:spPr>
          <a:xfrm xmlns:a="http://schemas.openxmlformats.org/drawingml/2006/main">
            <a:off x="3038475" y="2667000"/>
            <a:ext cx="819150" cy="0"/>
          </a:xfrm>
          <a:prstGeom xmlns:a="http://schemas.openxmlformats.org/drawingml/2006/main" prst="straightConnector1">
            <a:avLst/>
          </a:prstGeom>
          <a:ln xmlns:a="http://schemas.openxmlformats.org/drawingml/2006/main" w="19050">
            <a:solidFill>
              <a:srgbClr val="007E87"/>
            </a:solidFill>
            <a:tailEnd type="triangle" w="sm" len="sm"/>
          </a:ln>
        </p:spPr>
      </p:cxnSp>
      <p:sp>
        <p:nvSpPr>
          <p:cNvPr id="13" name="">
            <a:extLst xmlns:a="http://schemas.openxmlformats.org/drawingml/2006/main">
              <a:ext uri="{FF2B5EF4-FFF2-40B4-BE49-F238E27FC236}">
                <a16:creationId xmlns:a16="http://schemas.microsoft.com/office/drawing/2014/main" id="{58B46F88-0421-4611-9911-1125A5035C60}"/>
              </a:ext>
            </a:extLst>
          </p:cNvPr>
          <p:cNvSpPr>
            <a:spLocks xmlns:a="http://schemas.openxmlformats.org/drawingml/2006/main" noGrp="1"/>
          </p:cNvSpPr>
          <p:nvPr/>
        </p:nvSpPr>
        <p:spPr>
          <a:xfrm xmlns:a="http://schemas.openxmlformats.org/drawingml/2006/main">
            <a:off x="628650" y="438150"/>
            <a:ext cx="109347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3300" b="1">
                <a:solidFill>
                  <a:srgbClr val="172C42"/>
                </a:solidFill>
                <a:latin typeface="Arial"/>
                <a:ea typeface="Arial"/>
                <a:cs typeface="Arial"/>
              </a:defRPr>
            </a:defPPr>
          </a:lstStyle>
          <a:p xmlns:a="http://schemas.openxmlformats.org/drawingml/2006/main">
            <a:pPr>
              <a:defRPr sz="3300" b="1">
                <a:solidFill>
                  <a:srgbClr val="172C42"/>
                </a:solidFill>
                <a:latin typeface="Arial"/>
                <a:ea typeface="Arial"/>
                <a:cs typeface="Arial"/>
              </a:defRPr>
            </a:pPr>
            <a:r>
              <a:rPr sz="3300" b="1">
                <a:solidFill>
                  <a:srgbClr val="172C42"/>
                </a:solidFill>
                <a:latin typeface="Arial"/>
                <a:ea typeface="Arial"/>
                <a:cs typeface="Arial"/>
              </a:rPr>
              <a:t>Leakage inside a neuron update</a:t>
            </a:r>
          </a:p>
        </p:txBody>
      </p:sp>
      <p:sp>
        <p:nvSpPr>
          <p:cNvPr id="2" name="">
            <a:extLst xmlns:a="http://schemas.openxmlformats.org/drawingml/2006/main">
              <a:ext uri="{FF2B5EF4-FFF2-40B4-BE49-F238E27FC236}">
                <a16:creationId xmlns:a16="http://schemas.microsoft.com/office/drawing/2014/main" id="{F91EAEEA-9C3E-4BA3-8FF5-3755BB1DB7BE}"/>
              </a:ext>
            </a:extLst>
          </p:cNvPr>
          <p:cNvSpPr>
            <a:spLocks xmlns:a="http://schemas.openxmlformats.org/drawingml/2006/main" noGrp="1"/>
          </p:cNvSpPr>
          <p:nvPr/>
        </p:nvSpPr>
        <p:spPr>
          <a:xfrm xmlns:a="http://schemas.openxmlformats.org/drawingml/2006/main">
            <a:off x="11106150" y="63436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0">
                <a:solidFill>
                  <a:srgbClr val="536573"/>
                </a:solidFill>
                <a:latin typeface="Arial"/>
                <a:ea typeface="Arial"/>
                <a:cs typeface="Arial"/>
              </a:defRPr>
            </a:defPPr>
          </a:lstStyle>
          <a:p xmlns:a="http://schemas.openxmlformats.org/drawingml/2006/main">
            <a:pPr>
              <a:defRPr sz="1350" b="0">
                <a:solidFill>
                  <a:srgbClr val="536573"/>
                </a:solidFill>
                <a:latin typeface="Arial"/>
                <a:ea typeface="Arial"/>
                <a:cs typeface="Arial"/>
              </a:defRPr>
            </a:pPr>
            <a:r>
              <a:rPr sz="1350" b="0">
                <a:solidFill>
                  <a:srgbClr val="536573"/>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47483636-58C9-402E-9793-E621FD3187FD}"/>
              </a:ext>
            </a:extLst>
          </p:cNvPr>
          <p:cNvSpPr>
            <a:spLocks xmlns:a="http://schemas.openxmlformats.org/drawingml/2006/main" noGrp="1"/>
          </p:cNvSpPr>
          <p:nvPr/>
        </p:nvSpPr>
        <p:spPr>
          <a:xfrm xmlns:a="http://schemas.openxmlformats.org/drawingml/2006/main">
            <a:off x="704850" y="2190750"/>
            <a:ext cx="2333625" cy="952500"/>
          </a:xfrm>
          <a:prstGeom xmlns:a="http://schemas.openxmlformats.org/drawingml/2006/main" prst="rect">
            <a:avLst/>
          </a:prstGeom>
          <a:solidFill xmlns:a="http://schemas.openxmlformats.org/drawingml/2006/main">
            <a:srgbClr val="FFFFFF"/>
          </a:solidFill>
          <a:ln xmlns:a="http://schemas.openxmlformats.org/drawingml/2006/main" w="19050">
            <a:solidFill>
              <a:srgbClr val="172C42"/>
            </a:solidFill>
          </a:ln>
        </p:spPr>
        <p:txBody>
          <a:bodyPr xmlns:a="http://schemas.openxmlformats.org/drawingml/2006/main" anchor="ctr"/>
          <a:lstStyle xmlns:a="http://schemas.openxmlformats.org/drawingml/2006/main">
            <a:defPPr algn="ctr">
              <a:defRPr sz="1875" b="0">
                <a:solidFill>
                  <a:srgbClr val="172C42"/>
                </a:solidFill>
                <a:latin typeface="Arial"/>
                <a:ea typeface="Arial"/>
                <a:cs typeface="Arial"/>
              </a:defRPr>
            </a:defPPr>
          </a:lstStyle>
          <a:p xmlns:a="http://schemas.openxmlformats.org/drawingml/2006/main">
            <a:pPr algn="ctr">
              <a:defRPr sz="1875" b="0">
                <a:solidFill>
                  <a:srgbClr val="172C42"/>
                </a:solidFill>
                <a:latin typeface="Arial"/>
                <a:ea typeface="Arial"/>
                <a:cs typeface="Arial"/>
              </a:defRPr>
            </a:pPr>
            <a:r>
              <a:rPr sz="1875" b="0">
                <a:solidFill>
                  <a:srgbClr val="172C42"/>
                </a:solidFill>
                <a:latin typeface="Arial"/>
                <a:ea typeface="Arial"/>
                <a:cs typeface="Arial"/>
              </a:rPr>
              <a:t>Stored membrane U</a:t>
            </a:r>
          </a:p>
        </p:txBody>
      </p:sp>
      <p:sp>
        <p:nvSpPr>
          <p:cNvPr id="4" name="">
            <a:extLst xmlns:a="http://schemas.openxmlformats.org/drawingml/2006/main">
              <a:ext uri="{FF2B5EF4-FFF2-40B4-BE49-F238E27FC236}">
                <a16:creationId xmlns:a16="http://schemas.microsoft.com/office/drawing/2014/main" id="{4E8A6BE4-ABCD-4535-9643-AAB9E8BF90A8}"/>
              </a:ext>
            </a:extLst>
          </p:cNvPr>
          <p:cNvSpPr>
            <a:spLocks xmlns:a="http://schemas.openxmlformats.org/drawingml/2006/main" noGrp="1"/>
          </p:cNvSpPr>
          <p:nvPr/>
        </p:nvSpPr>
        <p:spPr>
          <a:xfrm xmlns:a="http://schemas.openxmlformats.org/drawingml/2006/main">
            <a:off x="3857625" y="2190750"/>
            <a:ext cx="2143125" cy="952500"/>
          </a:xfrm>
          <a:prstGeom xmlns:a="http://schemas.openxmlformats.org/drawingml/2006/main" prst="rect">
            <a:avLst/>
          </a:prstGeom>
          <a:solidFill xmlns:a="http://schemas.openxmlformats.org/drawingml/2006/main">
            <a:srgbClr val="FFFFFF"/>
          </a:solidFill>
          <a:ln xmlns:a="http://schemas.openxmlformats.org/drawingml/2006/main" w="19050">
            <a:solidFill>
              <a:srgbClr val="007E87"/>
            </a:solidFill>
          </a:ln>
        </p:spPr>
        <p:txBody>
          <a:bodyPr xmlns:a="http://schemas.openxmlformats.org/drawingml/2006/main" anchor="ctr"/>
          <a:lstStyle xmlns:a="http://schemas.openxmlformats.org/drawingml/2006/main">
            <a:defPPr algn="ctr">
              <a:defRPr sz="1875" b="0">
                <a:solidFill>
                  <a:srgbClr val="172C42"/>
                </a:solidFill>
                <a:latin typeface="Arial"/>
                <a:ea typeface="Arial"/>
                <a:cs typeface="Arial"/>
              </a:defRPr>
            </a:defPPr>
          </a:lstStyle>
          <a:p xmlns:a="http://schemas.openxmlformats.org/drawingml/2006/main">
            <a:pPr algn="ctr">
              <a:defRPr sz="1875" b="0">
                <a:solidFill>
                  <a:srgbClr val="172C42"/>
                </a:solidFill>
                <a:latin typeface="Arial"/>
                <a:ea typeface="Arial"/>
                <a:cs typeface="Arial"/>
              </a:defRPr>
            </a:pPr>
            <a:r>
              <a:rPr sz="1875" b="0">
                <a:solidFill>
                  <a:srgbClr val="172C42"/>
                </a:solidFill>
                <a:latin typeface="Arial"/>
                <a:ea typeface="Arial"/>
                <a:cs typeface="Arial"/>
              </a:rPr>
              <a:t>Leakage</a:t>
            </a:r>
          </a:p>
          <a:p xmlns:a="http://schemas.openxmlformats.org/drawingml/2006/main">
            <a:pPr algn="ctr">
              <a:defRPr sz="1875" b="0">
                <a:solidFill>
                  <a:srgbClr val="172C42"/>
                </a:solidFill>
                <a:latin typeface="Arial"/>
                <a:ea typeface="Arial"/>
                <a:cs typeface="Arial"/>
              </a:defRPr>
            </a:pPr>
            <a:r>
              <a:rPr sz="1875" b="0">
                <a:solidFill>
                  <a:srgbClr val="172C42"/>
                </a:solidFill>
                <a:latin typeface="Arial"/>
                <a:ea typeface="Arial"/>
                <a:cs typeface="Arial"/>
              </a:rPr>
              <a:t>L(U, β)</a:t>
            </a:r>
          </a:p>
        </p:txBody>
      </p:sp>
      <p:sp>
        <p:nvSpPr>
          <p:cNvPr id="5" name="">
            <a:extLst xmlns:a="http://schemas.openxmlformats.org/drawingml/2006/main">
              <a:ext uri="{FF2B5EF4-FFF2-40B4-BE49-F238E27FC236}">
                <a16:creationId xmlns:a16="http://schemas.microsoft.com/office/drawing/2014/main" id="{A769670B-A5D6-4B79-AE4C-486AAEF471A9}"/>
              </a:ext>
            </a:extLst>
          </p:cNvPr>
          <p:cNvSpPr>
            <a:spLocks xmlns:a="http://schemas.openxmlformats.org/drawingml/2006/main" noGrp="1"/>
          </p:cNvSpPr>
          <p:nvPr/>
        </p:nvSpPr>
        <p:spPr>
          <a:xfrm xmlns:a="http://schemas.openxmlformats.org/drawingml/2006/main">
            <a:off x="6810375" y="2190750"/>
            <a:ext cx="2095500" cy="952500"/>
          </a:xfrm>
          <a:prstGeom xmlns:a="http://schemas.openxmlformats.org/drawingml/2006/main" prst="rect">
            <a:avLst/>
          </a:prstGeom>
          <a:solidFill xmlns:a="http://schemas.openxmlformats.org/drawingml/2006/main">
            <a:srgbClr val="FFFFFF"/>
          </a:solidFill>
          <a:ln xmlns:a="http://schemas.openxmlformats.org/drawingml/2006/main" w="19050">
            <a:solidFill>
              <a:srgbClr val="172C42"/>
            </a:solidFill>
          </a:ln>
        </p:spPr>
        <p:txBody>
          <a:bodyPr xmlns:a="http://schemas.openxmlformats.org/drawingml/2006/main" anchor="ctr"/>
          <a:lstStyle xmlns:a="http://schemas.openxmlformats.org/drawingml/2006/main">
            <a:defPPr algn="ctr">
              <a:defRPr sz="1875" b="0">
                <a:solidFill>
                  <a:srgbClr val="172C42"/>
                </a:solidFill>
                <a:latin typeface="Arial"/>
                <a:ea typeface="Arial"/>
                <a:cs typeface="Arial"/>
              </a:defRPr>
            </a:defPPr>
          </a:lstStyle>
          <a:p xmlns:a="http://schemas.openxmlformats.org/drawingml/2006/main">
            <a:pPr algn="ctr">
              <a:defRPr sz="1875" b="0">
                <a:solidFill>
                  <a:srgbClr val="172C42"/>
                </a:solidFill>
                <a:latin typeface="Arial"/>
                <a:ea typeface="Arial"/>
                <a:cs typeface="Arial"/>
              </a:defRPr>
            </a:pPr>
            <a:r>
              <a:rPr sz="1875" b="0">
                <a:solidFill>
                  <a:srgbClr val="172C42"/>
                </a:solidFill>
                <a:latin typeface="Arial"/>
                <a:ea typeface="Arial"/>
                <a:cs typeface="Arial"/>
              </a:rPr>
              <a:t>Charge / current</a:t>
            </a:r>
          </a:p>
          <a:p xmlns:a="http://schemas.openxmlformats.org/drawingml/2006/main">
            <a:pPr algn="ctr">
              <a:defRPr sz="1875" b="0">
                <a:solidFill>
                  <a:srgbClr val="172C42"/>
                </a:solidFill>
                <a:latin typeface="Arial"/>
                <a:ea typeface="Arial"/>
                <a:cs typeface="Arial"/>
              </a:defRPr>
            </a:pPr>
            <a:r>
              <a:rPr sz="1875" b="0">
                <a:solidFill>
                  <a:srgbClr val="172C42"/>
                </a:solidFill>
                <a:latin typeface="Arial"/>
                <a:ea typeface="Arial"/>
                <a:cs typeface="Arial"/>
              </a:rPr>
              <a:t>combination</a:t>
            </a:r>
          </a:p>
        </p:txBody>
      </p:sp>
      <p:sp>
        <p:nvSpPr>
          <p:cNvPr id="6" name="">
            <a:extLst xmlns:a="http://schemas.openxmlformats.org/drawingml/2006/main">
              <a:ext uri="{FF2B5EF4-FFF2-40B4-BE49-F238E27FC236}">
                <a16:creationId xmlns:a16="http://schemas.microsoft.com/office/drawing/2014/main" id="{81614C4B-76C1-4A8C-9E8A-E8851CA86D9E}"/>
              </a:ext>
            </a:extLst>
          </p:cNvPr>
          <p:cNvSpPr>
            <a:spLocks xmlns:a="http://schemas.openxmlformats.org/drawingml/2006/main" noGrp="1"/>
          </p:cNvSpPr>
          <p:nvPr/>
        </p:nvSpPr>
        <p:spPr>
          <a:xfrm xmlns:a="http://schemas.openxmlformats.org/drawingml/2006/main">
            <a:off x="9582150" y="2190750"/>
            <a:ext cx="2000250" cy="952500"/>
          </a:xfrm>
          <a:prstGeom xmlns:a="http://schemas.openxmlformats.org/drawingml/2006/main" prst="rect">
            <a:avLst/>
          </a:prstGeom>
          <a:solidFill xmlns:a="http://schemas.openxmlformats.org/drawingml/2006/main">
            <a:srgbClr val="FFFFFF"/>
          </a:solidFill>
          <a:ln xmlns:a="http://schemas.openxmlformats.org/drawingml/2006/main" w="19050">
            <a:solidFill>
              <a:srgbClr val="172C42"/>
            </a:solidFill>
          </a:ln>
        </p:spPr>
        <p:txBody>
          <a:bodyPr xmlns:a="http://schemas.openxmlformats.org/drawingml/2006/main" anchor="ctr"/>
          <a:lstStyle xmlns:a="http://schemas.openxmlformats.org/drawingml/2006/main">
            <a:defPPr algn="ctr">
              <a:defRPr sz="1875" b="0">
                <a:solidFill>
                  <a:srgbClr val="172C42"/>
                </a:solidFill>
                <a:latin typeface="Arial"/>
                <a:ea typeface="Arial"/>
                <a:cs typeface="Arial"/>
              </a:defRPr>
            </a:defPPr>
          </a:lstStyle>
          <a:p xmlns:a="http://schemas.openxmlformats.org/drawingml/2006/main">
            <a:pPr algn="ctr">
              <a:defRPr sz="1875" b="0">
                <a:solidFill>
                  <a:srgbClr val="172C42"/>
                </a:solidFill>
                <a:latin typeface="Arial"/>
                <a:ea typeface="Arial"/>
                <a:cs typeface="Arial"/>
              </a:defRPr>
            </a:pPr>
            <a:r>
              <a:rPr sz="1875" b="0">
                <a:solidFill>
                  <a:srgbClr val="172C42"/>
                </a:solidFill>
                <a:latin typeface="Arial"/>
                <a:ea typeface="Arial"/>
                <a:cs typeface="Arial"/>
              </a:rPr>
              <a:t>Threshold</a:t>
            </a:r>
          </a:p>
          <a:p xmlns:a="http://schemas.openxmlformats.org/drawingml/2006/main">
            <a:pPr algn="ctr">
              <a:defRPr sz="1875" b="0">
                <a:solidFill>
                  <a:srgbClr val="172C42"/>
                </a:solidFill>
                <a:latin typeface="Arial"/>
                <a:ea typeface="Arial"/>
                <a:cs typeface="Arial"/>
              </a:defRPr>
            </a:pPr>
            <a:r>
              <a:rPr sz="1875" b="0">
                <a:solidFill>
                  <a:srgbClr val="172C42"/>
                </a:solidFill>
                <a:latin typeface="Arial"/>
                <a:ea typeface="Arial"/>
                <a:cs typeface="Arial"/>
              </a:rPr>
              <a:t>and reset</a:t>
            </a:r>
          </a:p>
        </p:txBody>
      </p:sp>
      <p:sp>
        <p:nvSpPr>
          <p:cNvPr id="10" name="">
            <a:extLst xmlns:a="http://schemas.openxmlformats.org/drawingml/2006/main">
              <a:ext uri="{FF2B5EF4-FFF2-40B4-BE49-F238E27FC236}">
                <a16:creationId xmlns:a16="http://schemas.microsoft.com/office/drawing/2014/main" id="{BD53A9EA-BE84-492F-BC38-BA9EDED81917}"/>
              </a:ext>
            </a:extLst>
          </p:cNvPr>
          <p:cNvSpPr>
            <a:spLocks xmlns:a="http://schemas.openxmlformats.org/drawingml/2006/main" noGrp="1"/>
          </p:cNvSpPr>
          <p:nvPr/>
        </p:nvSpPr>
        <p:spPr>
          <a:xfrm xmlns:a="http://schemas.openxmlformats.org/drawingml/2006/main">
            <a:off x="6496050" y="4000500"/>
            <a:ext cx="2667000" cy="857250"/>
          </a:xfrm>
          <a:prstGeom xmlns:a="http://schemas.openxmlformats.org/drawingml/2006/main" prst="rect">
            <a:avLst/>
          </a:prstGeom>
          <a:solidFill xmlns:a="http://schemas.openxmlformats.org/drawingml/2006/main">
            <a:srgbClr val="FFFFFF"/>
          </a:solidFill>
          <a:ln xmlns:a="http://schemas.openxmlformats.org/drawingml/2006/main" w="19050">
            <a:solidFill>
              <a:srgbClr val="172C42"/>
            </a:solidFill>
          </a:ln>
        </p:spPr>
        <p:txBody>
          <a:bodyPr xmlns:a="http://schemas.openxmlformats.org/drawingml/2006/main" anchor="ctr"/>
          <a:lstStyle xmlns:a="http://schemas.openxmlformats.org/drawingml/2006/main">
            <a:defPPr algn="ctr">
              <a:defRPr sz="1875" b="0">
                <a:solidFill>
                  <a:srgbClr val="172C42"/>
                </a:solidFill>
                <a:latin typeface="Arial"/>
                <a:ea typeface="Arial"/>
                <a:cs typeface="Arial"/>
              </a:defRPr>
            </a:defPPr>
          </a:lstStyle>
          <a:p xmlns:a="http://schemas.openxmlformats.org/drawingml/2006/main">
            <a:pPr algn="ctr">
              <a:defRPr sz="1875" b="0">
                <a:solidFill>
                  <a:srgbClr val="172C42"/>
                </a:solidFill>
                <a:latin typeface="Arial"/>
                <a:ea typeface="Arial"/>
                <a:cs typeface="Arial"/>
              </a:defRPr>
            </a:pPr>
            <a:r>
              <a:rPr sz="1875" b="0">
                <a:solidFill>
                  <a:srgbClr val="172C42"/>
                </a:solidFill>
                <a:latin typeface="Arial"/>
                <a:ea typeface="Arial"/>
                <a:cs typeface="Arial"/>
              </a:rPr>
              <a:t>Weighted input spikes</a:t>
            </a:r>
          </a:p>
        </p:txBody>
      </p:sp>
      <p:sp>
        <p:nvSpPr>
          <p:cNvPr id="12" name="">
            <a:extLst xmlns:a="http://schemas.openxmlformats.org/drawingml/2006/main">
              <a:ext uri="{FF2B5EF4-FFF2-40B4-BE49-F238E27FC236}">
                <a16:creationId xmlns:a16="http://schemas.microsoft.com/office/drawing/2014/main" id="{6DC3C86A-DAFD-4F79-A0DF-FF9286A7B8AA}"/>
              </a:ext>
            </a:extLst>
          </p:cNvPr>
          <p:cNvSpPr>
            <a:spLocks xmlns:a="http://schemas.openxmlformats.org/drawingml/2006/main" noGrp="1"/>
          </p:cNvSpPr>
          <p:nvPr/>
        </p:nvSpPr>
        <p:spPr>
          <a:xfrm xmlns:a="http://schemas.openxmlformats.org/drawingml/2006/main">
            <a:off x="704850" y="5962650"/>
            <a:ext cx="1028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00" b="0">
                <a:solidFill>
                  <a:srgbClr val="536573"/>
                </a:solidFill>
                <a:latin typeface="Arial"/>
                <a:ea typeface="Arial"/>
                <a:cs typeface="Arial"/>
              </a:defRPr>
            </a:defPPr>
          </a:lstStyle>
          <a:p xmlns:a="http://schemas.openxmlformats.org/drawingml/2006/main">
            <a:pPr>
              <a:defRPr sz="1500" b="0">
                <a:solidFill>
                  <a:srgbClr val="536573"/>
                </a:solidFill>
                <a:latin typeface="Arial"/>
                <a:ea typeface="Arial"/>
                <a:cs typeface="Arial"/>
              </a:defRPr>
            </a:pPr>
            <a:r>
              <a:rPr sz="1500" b="0">
                <a:solidFill>
                  <a:srgbClr val="536573"/>
                </a:solidFill>
                <a:latin typeface="Arial"/>
                <a:ea typeface="Arial"/>
                <a:cs typeface="Arial"/>
              </a:rPr>
              <a:t>The teal leakage block is the operation measured in this study</a:t>
            </a:r>
          </a:p>
        </p:txBody>
      </p:sp>
    </p:spTree>
    <p:extLst>
      <p:ext uri="{BB962C8B-B14F-4D97-AF65-F5344CB8AC3E}">
        <p14:creationId xmlns:p14="http://schemas.microsoft.com/office/powerpoint/2010/main" val="1708352158"/>
      </p:ext>
    </p:extLst>
  </p:cSld>
</p:sld>
</file>

<file path=ppt/slides/slide3.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A1388E2-B3ED-4255-AAE3-A0EF06420BF5}"/>
              </a:ext>
            </a:extLst>
          </p:cNvPr>
          <p:cNvSpPr>
            <a:spLocks xmlns:a="http://schemas.openxmlformats.org/drawingml/2006/main" noGrp="1"/>
          </p:cNvSpPr>
          <p:nvPr/>
        </p:nvSpPr>
        <p:spPr>
          <a:xfrm xmlns:a="http://schemas.openxmlformats.org/drawingml/2006/main">
            <a:off x="628650" y="438150"/>
            <a:ext cx="109347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3300" b="1">
                <a:solidFill>
                  <a:srgbClr val="172C42"/>
                </a:solidFill>
                <a:latin typeface="Arial"/>
                <a:ea typeface="Arial"/>
                <a:cs typeface="Arial"/>
              </a:defRPr>
            </a:defPPr>
          </a:lstStyle>
          <a:p xmlns:a="http://schemas.openxmlformats.org/drawingml/2006/main">
            <a:pPr>
              <a:defRPr sz="3300" b="1">
                <a:solidFill>
                  <a:srgbClr val="172C42"/>
                </a:solidFill>
                <a:latin typeface="Arial"/>
                <a:ea typeface="Arial"/>
                <a:cs typeface="Arial"/>
              </a:defRPr>
            </a:pPr>
            <a:r>
              <a:rPr sz="3300" b="1">
                <a:solidFill>
                  <a:srgbClr val="172C42"/>
                </a:solidFill>
                <a:latin typeface="Arial"/>
                <a:ea typeface="Arial"/>
                <a:cs typeface="Arial"/>
              </a:rPr>
              <a:t>The exact integer contract</a:t>
            </a:r>
          </a:p>
        </p:txBody>
      </p:sp>
      <p:sp>
        <p:nvSpPr>
          <p:cNvPr id="2" name="">
            <a:extLst xmlns:a="http://schemas.openxmlformats.org/drawingml/2006/main">
              <a:ext uri="{FF2B5EF4-FFF2-40B4-BE49-F238E27FC236}">
                <a16:creationId xmlns:a16="http://schemas.microsoft.com/office/drawing/2014/main" id="{B6CE09DC-ECE8-4DE3-8FF7-3D214E8AB025}"/>
              </a:ext>
            </a:extLst>
          </p:cNvPr>
          <p:cNvSpPr>
            <a:spLocks xmlns:a="http://schemas.openxmlformats.org/drawingml/2006/main" noGrp="1"/>
          </p:cNvSpPr>
          <p:nvPr/>
        </p:nvSpPr>
        <p:spPr>
          <a:xfrm xmlns:a="http://schemas.openxmlformats.org/drawingml/2006/main">
            <a:off x="11106150" y="63436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0">
                <a:solidFill>
                  <a:srgbClr val="536573"/>
                </a:solidFill>
                <a:latin typeface="Arial"/>
                <a:ea typeface="Arial"/>
                <a:cs typeface="Arial"/>
              </a:defRPr>
            </a:defPPr>
          </a:lstStyle>
          <a:p xmlns:a="http://schemas.openxmlformats.org/drawingml/2006/main">
            <a:pPr>
              <a:defRPr sz="1350" b="0">
                <a:solidFill>
                  <a:srgbClr val="536573"/>
                </a:solidFill>
                <a:latin typeface="Arial"/>
                <a:ea typeface="Arial"/>
                <a:cs typeface="Arial"/>
              </a:defRPr>
            </a:pPr>
            <a:r>
              <a:rPr sz="1350" b="0">
                <a:solidFill>
                  <a:srgbClr val="536573"/>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14215CB8-CC98-49A4-80F4-0F970C13BC20}"/>
              </a:ext>
            </a:extLst>
          </p:cNvPr>
          <p:cNvSpPr>
            <a:spLocks xmlns:a="http://schemas.openxmlformats.org/drawingml/2006/main" noGrp="1"/>
          </p:cNvSpPr>
          <p:nvPr/>
        </p:nvSpPr>
        <p:spPr>
          <a:xfrm xmlns:a="http://schemas.openxmlformats.org/drawingml/2006/main">
            <a:off x="704850" y="173355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3450" b="1">
                <a:solidFill>
                  <a:srgbClr val="007E87"/>
                </a:solidFill>
                <a:latin typeface="Arial"/>
                <a:ea typeface="Arial"/>
                <a:cs typeface="Arial"/>
              </a:defRPr>
            </a:defPPr>
          </a:lstStyle>
          <a:p xmlns:a="http://schemas.openxmlformats.org/drawingml/2006/main">
            <a:pPr>
              <a:defRPr sz="3450" b="1">
                <a:solidFill>
                  <a:srgbClr val="007E87"/>
                </a:solidFill>
                <a:latin typeface="Arial"/>
                <a:ea typeface="Arial"/>
                <a:cs typeface="Arial"/>
              </a:defRPr>
            </a:pPr>
            <a:r>
              <a:rPr sz="3450" b="1">
                <a:solidFill>
                  <a:srgbClr val="007E87"/>
                </a:solidFill>
                <a:latin typeface="Arial"/>
                <a:ea typeface="Arial"/>
                <a:cs typeface="Arial"/>
              </a:rPr>
              <a:t>L(U, β) = ceil(β × U / 256)</a:t>
            </a:r>
          </a:p>
        </p:txBody>
      </p:sp>
      <p:sp>
        <p:nvSpPr>
          <p:cNvPr id="4" name="">
            <a:extLst xmlns:a="http://schemas.openxmlformats.org/drawingml/2006/main">
              <a:ext uri="{FF2B5EF4-FFF2-40B4-BE49-F238E27FC236}">
                <a16:creationId xmlns:a16="http://schemas.microsoft.com/office/drawing/2014/main" id="{E5446A03-6F35-4CA1-A2A6-4FC2DD70664E}"/>
              </a:ext>
            </a:extLst>
          </p:cNvPr>
          <p:cNvSpPr>
            <a:spLocks xmlns:a="http://schemas.openxmlformats.org/drawingml/2006/main" noGrp="1"/>
          </p:cNvSpPr>
          <p:nvPr/>
        </p:nvSpPr>
        <p:spPr>
          <a:xfrm xmlns:a="http://schemas.openxmlformats.org/drawingml/2006/main">
            <a:off x="704850" y="3143250"/>
            <a:ext cx="106680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250" b="0">
                <a:solidFill>
                  <a:srgbClr val="172C42"/>
                </a:solidFill>
                <a:latin typeface="Arial"/>
                <a:ea typeface="Arial"/>
                <a:cs typeface="Arial"/>
              </a:defRPr>
            </a:defPPr>
          </a:lstStyle>
          <a:p xmlns:a="http://schemas.openxmlformats.org/drawingml/2006/main">
            <a:pPr>
              <a:defRPr sz="2250" b="0">
                <a:solidFill>
                  <a:srgbClr val="172C42"/>
                </a:solidFill>
                <a:latin typeface="Arial"/>
                <a:ea typeface="Arial"/>
                <a:cs typeface="Arial"/>
              </a:defRPr>
            </a:pPr>
            <a:r>
              <a:rPr sz="2250" b="0">
                <a:solidFill>
                  <a:srgbClr val="172C42"/>
                </a:solidFill>
                <a:latin typeface="Arial"/>
                <a:ea typeface="Arial"/>
                <a:cs typeface="Arial"/>
              </a:rPr>
              <a:t>Membrane U: signed16, −32768 to 32767</a:t>
            </a:r>
          </a:p>
          <a:p xmlns:a="http://schemas.openxmlformats.org/drawingml/2006/main">
            <a:pPr>
              <a:defRPr sz="2250" b="0">
                <a:solidFill>
                  <a:srgbClr val="172C42"/>
                </a:solidFill>
                <a:latin typeface="Arial"/>
                <a:ea typeface="Arial"/>
                <a:cs typeface="Arial"/>
              </a:defRPr>
            </a:pPr>
            <a:r>
              <a:rPr sz="2250" b="0">
                <a:solidFill>
                  <a:srgbClr val="172C42"/>
                </a:solidFill>
                <a:latin typeface="Arial"/>
                <a:ea typeface="Arial"/>
                <a:cs typeface="Arial"/>
              </a:rPr>
              <a:t>Coefficient code β: 0 to 256</a:t>
            </a:r>
          </a:p>
          <a:p xmlns:a="http://schemas.openxmlformats.org/drawingml/2006/main">
            <a:pPr>
              <a:defRPr sz="2250" b="0">
                <a:solidFill>
                  <a:srgbClr val="172C42"/>
                </a:solidFill>
                <a:latin typeface="Arial"/>
                <a:ea typeface="Arial"/>
                <a:cs typeface="Arial"/>
              </a:defRPr>
            </a:pPr>
            <a:r>
              <a:rPr sz="2250" b="0">
                <a:solidFill>
                  <a:srgbClr val="172C42"/>
                </a:solidFill>
                <a:latin typeface="Arial"/>
                <a:ea typeface="Arial"/>
                <a:cs typeface="Arial"/>
              </a:rPr>
              <a:t>Example: β = 128 means half leakage</a:t>
            </a:r>
          </a:p>
          <a:p xmlns:a="http://schemas.openxmlformats.org/drawingml/2006/main">
            <a:pPr>
              <a:defRPr sz="2250" b="0">
                <a:solidFill>
                  <a:srgbClr val="172C42"/>
                </a:solidFill>
                <a:latin typeface="Arial"/>
                <a:ea typeface="Arial"/>
                <a:cs typeface="Arial"/>
              </a:defRPr>
            </a:pPr>
            <a:r>
              <a:rPr sz="2250" b="0">
                <a:solidFill>
                  <a:srgbClr val="172C42"/>
                </a:solidFill>
                <a:latin typeface="Arial"/>
                <a:ea typeface="Arial"/>
                <a:cs typeface="Arial"/>
              </a:rPr>
              <a:t>Stored precision stays at 16 bits</a:t>
            </a:r>
          </a:p>
        </p:txBody>
      </p:sp>
    </p:spTree>
    <p:extLst>
      <p:ext uri="{BB962C8B-B14F-4D97-AF65-F5344CB8AC3E}">
        <p14:creationId xmlns:p14="http://schemas.microsoft.com/office/powerpoint/2010/main" val="721434376"/>
      </p:ext>
    </p:extLst>
  </p:cSld>
</p:sld>
</file>

<file path=ppt/slides/slide4.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EA2F5D4-7472-460A-A3E9-17FBA07F9FCA}"/>
              </a:ext>
            </a:extLst>
          </p:cNvPr>
          <p:cNvSpPr>
            <a:spLocks xmlns:a="http://schemas.openxmlformats.org/drawingml/2006/main" noGrp="1"/>
          </p:cNvSpPr>
          <p:nvPr/>
        </p:nvSpPr>
        <p:spPr>
          <a:xfrm xmlns:a="http://schemas.openxmlformats.org/drawingml/2006/main">
            <a:off x="628650" y="438150"/>
            <a:ext cx="109347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3300" b="1">
                <a:solidFill>
                  <a:srgbClr val="172C42"/>
                </a:solidFill>
                <a:latin typeface="Arial"/>
                <a:ea typeface="Arial"/>
                <a:cs typeface="Arial"/>
              </a:defRPr>
            </a:defPPr>
          </a:lstStyle>
          <a:p xmlns:a="http://schemas.openxmlformats.org/drawingml/2006/main">
            <a:pPr>
              <a:defRPr sz="3300" b="1">
                <a:solidFill>
                  <a:srgbClr val="172C42"/>
                </a:solidFill>
                <a:latin typeface="Arial"/>
                <a:ea typeface="Arial"/>
                <a:cs typeface="Arial"/>
              </a:defRPr>
            </a:pPr>
            <a:r>
              <a:rPr sz="3300" b="1">
                <a:solidFill>
                  <a:srgbClr val="172C42"/>
                </a:solidFill>
                <a:latin typeface="Arial"/>
                <a:ea typeface="Arial"/>
                <a:cs typeface="Arial"/>
              </a:rPr>
              <a:t>Runtime admission uses actual membranes</a:t>
            </a:r>
          </a:p>
        </p:txBody>
      </p:sp>
      <p:sp>
        <p:nvSpPr>
          <p:cNvPr id="2" name="">
            <a:extLst xmlns:a="http://schemas.openxmlformats.org/drawingml/2006/main">
              <a:ext uri="{FF2B5EF4-FFF2-40B4-BE49-F238E27FC236}">
                <a16:creationId xmlns:a16="http://schemas.microsoft.com/office/drawing/2014/main" id="{A2F131D5-8ECC-4A1B-897F-D3558F136119}"/>
              </a:ext>
            </a:extLst>
          </p:cNvPr>
          <p:cNvSpPr>
            <a:spLocks xmlns:a="http://schemas.openxmlformats.org/drawingml/2006/main" noGrp="1"/>
          </p:cNvSpPr>
          <p:nvPr/>
        </p:nvSpPr>
        <p:spPr>
          <a:xfrm xmlns:a="http://schemas.openxmlformats.org/drawingml/2006/main">
            <a:off x="11106150" y="63436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0">
                <a:solidFill>
                  <a:srgbClr val="536573"/>
                </a:solidFill>
                <a:latin typeface="Arial"/>
                <a:ea typeface="Arial"/>
                <a:cs typeface="Arial"/>
              </a:defRPr>
            </a:defPPr>
          </a:lstStyle>
          <a:p xmlns:a="http://schemas.openxmlformats.org/drawingml/2006/main">
            <a:pPr>
              <a:defRPr sz="1350" b="0">
                <a:solidFill>
                  <a:srgbClr val="536573"/>
                </a:solidFill>
                <a:latin typeface="Arial"/>
                <a:ea typeface="Arial"/>
                <a:cs typeface="Arial"/>
              </a:defRPr>
            </a:pPr>
            <a:r>
              <a:rPr sz="1350" b="0">
                <a:solidFill>
                  <a:srgbClr val="536573"/>
                </a:solidFill>
                <a:latin typeface="Arial"/>
                <a:ea typeface="Arial"/>
                <a:cs typeface="Arial"/>
              </a:rPr>
              <a:t>04</a:t>
            </a:r>
          </a:p>
        </p:txBody>
      </p:sp>
      <p:graphicFrame>
        <p:nvGraphicFramePr>
          <p:cNvPr id="3" name="">
            <a:extLst xmlns:a="http://schemas.openxmlformats.org/drawingml/2006/main">
              <a:ext uri="{FF2B5EF4-FFF2-40B4-BE49-F238E27FC236}">
                <a16:creationId xmlns:a16="http://schemas.microsoft.com/office/drawing/2014/main" id="{EAC3D644-96E4-441C-8B37-E560946B9ADE}"/>
              </a:ext>
            </a:extLst>
          </p:cNvPr>
          <p:cNvGraphicFramePr/>
          <p:nvPr/>
        </p:nvGraphicFramePr>
        <p:xfrm>
          <a:off xmlns:a="http://schemas.openxmlformats.org/drawingml/2006/main" x="685800" y="1733550"/>
          <a:ext xmlns:a="http://schemas.openxmlformats.org/drawingml/2006/main" cx="10820400" cy="2762250"/>
        </p:xfrm>
        <a:graphic xmlns:a="http://schemas.openxmlformats.org/drawingml/2006/main">
          <a:graphicData uri="http://schemas.openxmlformats.org/drawingml/2006/table">
            <a:tbl>
              <a:tblPr/>
              <a:tblGrid>
                <a:gridCol w="7334250"/>
                <a:gridCol w="3486150"/>
              </a:tblGrid>
              <a:tr h="690563">
                <a:tc>
                  <a:txBody>
                    <a:bodyPr/>
                    <a:lstStyle/>
                    <a:p>
                      <a:r>
                        <a:rPr sz="1800" b="1">
                          <a:solidFill>
                            <a:srgbClr val="FFFFFF"/>
                          </a:solidFill>
                          <a:latin typeface="Arial"/>
                          <a:ea typeface="Arial"/>
                          <a:cs typeface="Arial"/>
                        </a:rPr>
                        <a:t>Condition at this request</a:t>
                      </a:r>
                    </a:p>
                  </a:txBody>
                  <a:tcPr marL="114300" marR="114300" marT="76200" marB="76200">
                    <a:solidFill>
                      <a:srgbClr val="172C42"/>
                    </a:solidFill>
                  </a:tcPr>
                </a:tc>
                <a:tc>
                  <a:txBody>
                    <a:bodyPr/>
                    <a:lstStyle/>
                    <a:p>
                      <a:r>
                        <a:rPr sz="1800" b="1">
                          <a:solidFill>
                            <a:srgbClr val="FFFFFF"/>
                          </a:solidFill>
                          <a:latin typeface="Arial"/>
                          <a:ea typeface="Arial"/>
                          <a:cs typeface="Arial"/>
                        </a:rPr>
                        <a:t>Action</a:t>
                      </a:r>
                    </a:p>
                  </a:txBody>
                  <a:tcPr marL="114300" marR="114300" marT="76200" marB="76200">
                    <a:solidFill>
                      <a:srgbClr val="172C42"/>
                    </a:solidFill>
                  </a:tcPr>
                </a:tc>
              </a:tr>
              <a:tr h="690563">
                <a:tc>
                  <a:txBody>
                    <a:bodyPr/>
                    <a:lstStyle/>
                    <a:p>
                      <a:r>
                        <a:rPr sz="1800">
                          <a:solidFill>
                            <a:srgbClr val="172C42"/>
                          </a:solidFill>
                          <a:latin typeface="Arial"/>
                          <a:ea typeface="Arial"/>
                          <a:cs typeface="Arial"/>
                        </a:rPr>
                        <a:t>Both U values in [−256,255] and β equal</a:t>
                      </a:r>
                    </a:p>
                  </a:txBody>
                  <a:tcPr marL="114300" marR="114300" marT="76200" marB="76200">
                    <a:solidFill>
                      <a:srgbClr val="FFFFFF"/>
                    </a:solidFill>
                  </a:tcPr>
                </a:tc>
                <a:tc>
                  <a:txBody>
                    <a:bodyPr/>
                    <a:lstStyle/>
                    <a:p>
                      <a:r>
                        <a:rPr sz="1800">
                          <a:solidFill>
                            <a:srgbClr val="172C42"/>
                          </a:solidFill>
                          <a:latin typeface="Arial"/>
                          <a:ea typeface="Arial"/>
                          <a:cs typeface="Arial"/>
                        </a:rPr>
                        <a:t>Pack two operations</a:t>
                      </a:r>
                    </a:p>
                  </a:txBody>
                  <a:tcPr marL="114300" marR="114300" marT="76200" marB="76200">
                    <a:solidFill>
                      <a:srgbClr val="FFFFFF"/>
                    </a:solidFill>
                  </a:tcPr>
                </a:tc>
              </a:tr>
              <a:tr h="690563">
                <a:tc>
                  <a:txBody>
                    <a:bodyPr/>
                    <a:lstStyle/>
                    <a:p>
                      <a:r>
                        <a:rPr sz="1800">
                          <a:solidFill>
                            <a:srgbClr val="172C42"/>
                          </a:solidFill>
                          <a:latin typeface="Arial"/>
                          <a:ea typeface="Arial"/>
                          <a:cs typeface="Arial"/>
                        </a:rPr>
                        <a:t>A membrane is wider or coefficients differ</a:t>
                      </a:r>
                    </a:p>
                  </a:txBody>
                  <a:tcPr marL="114300" marR="114300" marT="76200" marB="76200">
                    <a:solidFill>
                      <a:srgbClr val="FFFFFF"/>
                    </a:solidFill>
                  </a:tcPr>
                </a:tc>
                <a:tc>
                  <a:txBody>
                    <a:bodyPr/>
                    <a:lstStyle/>
                    <a:p>
                      <a:r>
                        <a:rPr sz="1800">
                          <a:solidFill>
                            <a:srgbClr val="172C42"/>
                          </a:solidFill>
                          <a:latin typeface="Arial"/>
                          <a:ea typeface="Arial"/>
                          <a:cs typeface="Arial"/>
                        </a:rPr>
                        <a:t>Execute first as signed16 singleton</a:t>
                      </a:r>
                    </a:p>
                  </a:txBody>
                  <a:tcPr marL="114300" marR="114300" marT="76200" marB="76200">
                    <a:solidFill>
                      <a:srgbClr val="FFFFFF"/>
                    </a:solidFill>
                  </a:tcPr>
                </a:tc>
              </a:tr>
              <a:tr h="690563">
                <a:tc>
                  <a:txBody>
                    <a:bodyPr/>
                    <a:lstStyle/>
                    <a:p>
                      <a:r>
                        <a:rPr sz="1800">
                          <a:solidFill>
                            <a:srgbClr val="172C42"/>
                          </a:solidFill>
                          <a:latin typeface="Arial"/>
                          <a:ea typeface="Arial"/>
                          <a:cs typeface="Arial"/>
                        </a:rPr>
                        <a:t>Only one operand remains in the frame</a:t>
                      </a:r>
                    </a:p>
                  </a:txBody>
                  <a:tcPr marL="114300" marR="114300" marT="76200" marB="76200">
                    <a:solidFill>
                      <a:srgbClr val="FFFFFF"/>
                    </a:solidFill>
                  </a:tcPr>
                </a:tc>
                <a:tc>
                  <a:txBody>
                    <a:bodyPr/>
                    <a:lstStyle/>
                    <a:p>
                      <a:r>
                        <a:rPr sz="1800">
                          <a:solidFill>
                            <a:srgbClr val="172C42"/>
                          </a:solidFill>
                          <a:latin typeface="Arial"/>
                          <a:ea typeface="Arial"/>
                          <a:cs typeface="Arial"/>
                        </a:rPr>
                        <a:t>Execute that singleton</a:t>
                      </a:r>
                    </a:p>
                  </a:txBody>
                  <a:tcPr marL="114300" marR="114300" marT="76200" marB="7620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1F7603AC-89E9-4FA4-B958-04BB6B0A7B28}"/>
              </a:ext>
            </a:extLst>
          </p:cNvPr>
          <p:cNvSpPr>
            <a:spLocks xmlns:a="http://schemas.openxmlformats.org/drawingml/2006/main" noGrp="1"/>
          </p:cNvSpPr>
          <p:nvPr/>
        </p:nvSpPr>
        <p:spPr>
          <a:xfrm xmlns:a="http://schemas.openxmlformats.org/drawingml/2006/main">
            <a:off x="704850" y="493395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1">
                <a:solidFill>
                  <a:srgbClr val="007E87"/>
                </a:solidFill>
                <a:latin typeface="Arial"/>
                <a:ea typeface="Arial"/>
                <a:cs typeface="Arial"/>
              </a:defRPr>
            </a:defPPr>
          </a:lstStyle>
          <a:p xmlns:a="http://schemas.openxmlformats.org/drawingml/2006/main">
            <a:pPr>
              <a:defRPr sz="2400" b="1">
                <a:solidFill>
                  <a:srgbClr val="007E87"/>
                </a:solidFill>
                <a:latin typeface="Arial"/>
                <a:ea typeface="Arial"/>
                <a:cs typeface="Arial"/>
              </a:defRPr>
            </a:pPr>
            <a:r>
              <a:rPr sz="2400" b="1">
                <a:solidFill>
                  <a:srgbClr val="007E87"/>
                </a:solidFill>
                <a:latin typeface="Arial"/>
                <a:ea typeface="Arial"/>
                <a:cs typeface="Arial"/>
              </a:rPr>
              <a:t>Adaptation changes issue occupancy</a:t>
            </a:r>
          </a:p>
          <a:p xmlns:a="http://schemas.openxmlformats.org/drawingml/2006/main">
            <a:pPr>
              <a:defRPr sz="2400" b="1">
                <a:solidFill>
                  <a:srgbClr val="007E87"/>
                </a:solidFill>
                <a:latin typeface="Arial"/>
                <a:ea typeface="Arial"/>
                <a:cs typeface="Arial"/>
              </a:defRPr>
            </a:pPr>
            <a:r>
              <a:rPr sz="2400" b="1">
                <a:solidFill>
                  <a:srgbClr val="007E87"/>
                </a:solidFill>
                <a:latin typeface="Arial"/>
                <a:ea typeface="Arial"/>
                <a:cs typeface="Arial"/>
              </a:rPr>
              <a:t>It preserves values, units and stored width</a:t>
            </a:r>
          </a:p>
        </p:txBody>
      </p:sp>
    </p:spTree>
    <p:extLst>
      <p:ext uri="{BB962C8B-B14F-4D97-AF65-F5344CB8AC3E}">
        <p14:creationId xmlns:p14="http://schemas.microsoft.com/office/powerpoint/2010/main" val="675423436"/>
      </p:ext>
    </p:extLst>
  </p:cSld>
</p:sld>
</file>

<file path=ppt/slides/slide5.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028B203-9B0A-44E5-8A07-13CD05487434}"/>
              </a:ext>
            </a:extLst>
          </p:cNvPr>
          <p:cNvSpPr>
            <a:spLocks xmlns:a="http://schemas.openxmlformats.org/drawingml/2006/main" noGrp="1"/>
          </p:cNvSpPr>
          <p:nvPr/>
        </p:nvSpPr>
        <p:spPr>
          <a:xfrm xmlns:a="http://schemas.openxmlformats.org/drawingml/2006/main">
            <a:off x="628650" y="438150"/>
            <a:ext cx="109347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3300" b="1">
                <a:solidFill>
                  <a:srgbClr val="172C42"/>
                </a:solidFill>
                <a:latin typeface="Arial"/>
                <a:ea typeface="Arial"/>
                <a:cs typeface="Arial"/>
              </a:defRPr>
            </a:defPPr>
          </a:lstStyle>
          <a:p xmlns:a="http://schemas.openxmlformats.org/drawingml/2006/main">
            <a:pPr>
              <a:defRPr sz="3300" b="1">
                <a:solidFill>
                  <a:srgbClr val="172C42"/>
                </a:solidFill>
                <a:latin typeface="Arial"/>
                <a:ea typeface="Arial"/>
                <a:cs typeface="Arial"/>
              </a:defRPr>
            </a:pPr>
            <a:r>
              <a:rPr sz="3300" b="1">
                <a:solidFill>
                  <a:srgbClr val="172C42"/>
                </a:solidFill>
                <a:latin typeface="Arial"/>
                <a:ea typeface="Arial"/>
                <a:cs typeface="Arial"/>
              </a:rPr>
              <a:t>Worked stream and source advancement</a:t>
            </a:r>
          </a:p>
        </p:txBody>
      </p:sp>
      <p:sp>
        <p:nvSpPr>
          <p:cNvPr id="2" name="">
            <a:extLst xmlns:a="http://schemas.openxmlformats.org/drawingml/2006/main">
              <a:ext uri="{FF2B5EF4-FFF2-40B4-BE49-F238E27FC236}">
                <a16:creationId xmlns:a16="http://schemas.microsoft.com/office/drawing/2014/main" id="{1529F9E3-7D89-4835-89F3-3FCC3C5EED8B}"/>
              </a:ext>
            </a:extLst>
          </p:cNvPr>
          <p:cNvSpPr>
            <a:spLocks xmlns:a="http://schemas.openxmlformats.org/drawingml/2006/main" noGrp="1"/>
          </p:cNvSpPr>
          <p:nvPr/>
        </p:nvSpPr>
        <p:spPr>
          <a:xfrm xmlns:a="http://schemas.openxmlformats.org/drawingml/2006/main">
            <a:off x="11106150" y="63436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0">
                <a:solidFill>
                  <a:srgbClr val="536573"/>
                </a:solidFill>
                <a:latin typeface="Arial"/>
                <a:ea typeface="Arial"/>
                <a:cs typeface="Arial"/>
              </a:defRPr>
            </a:defPPr>
          </a:lstStyle>
          <a:p xmlns:a="http://schemas.openxmlformats.org/drawingml/2006/main">
            <a:pPr>
              <a:defRPr sz="1350" b="0">
                <a:solidFill>
                  <a:srgbClr val="536573"/>
                </a:solidFill>
                <a:latin typeface="Arial"/>
                <a:ea typeface="Arial"/>
                <a:cs typeface="Arial"/>
              </a:defRPr>
            </a:pPr>
            <a:r>
              <a:rPr sz="1350" b="0">
                <a:solidFill>
                  <a:srgbClr val="536573"/>
                </a:solidFill>
                <a:latin typeface="Arial"/>
                <a:ea typeface="Arial"/>
                <a:cs typeface="Arial"/>
              </a:rPr>
              <a:t>05</a:t>
            </a:r>
          </a:p>
        </p:txBody>
      </p:sp>
      <p:graphicFrame>
        <p:nvGraphicFramePr>
          <p:cNvPr id="3" name="">
            <a:extLst xmlns:a="http://schemas.openxmlformats.org/drawingml/2006/main">
              <a:ext uri="{FF2B5EF4-FFF2-40B4-BE49-F238E27FC236}">
                <a16:creationId xmlns:a16="http://schemas.microsoft.com/office/drawing/2014/main" id="{120311F9-9F79-4011-B156-3BFAE2B3F739}"/>
              </a:ext>
            </a:extLst>
          </p:cNvPr>
          <p:cNvGraphicFramePr/>
          <p:nvPr/>
        </p:nvGraphicFramePr>
        <p:xfrm>
          <a:off xmlns:a="http://schemas.openxmlformats.org/drawingml/2006/main" x="685800" y="1714500"/>
          <a:ext xmlns:a="http://schemas.openxmlformats.org/drawingml/2006/main" cx="10820400" cy="3048000"/>
        </p:xfrm>
        <a:graphic xmlns:a="http://schemas.openxmlformats.org/drawingml/2006/main">
          <a:graphicData uri="http://schemas.openxmlformats.org/drawingml/2006/table">
            <a:tbl>
              <a:tblPr/>
              <a:tblGrid>
                <a:gridCol w="2000250"/>
                <a:gridCol w="4629150"/>
                <a:gridCol w="1238250"/>
                <a:gridCol w="2952750"/>
              </a:tblGrid>
              <a:tr h="762000">
                <a:tc>
                  <a:txBody>
                    <a:bodyPr/>
                    <a:lstStyle/>
                    <a:p>
                      <a:r>
                        <a:rPr sz="1800" b="1">
                          <a:solidFill>
                            <a:srgbClr val="FFFFFF"/>
                          </a:solidFill>
                          <a:latin typeface="Arial"/>
                          <a:ea typeface="Arial"/>
                          <a:cs typeface="Arial"/>
                        </a:rPr>
                        <a:t>DSP issue</a:t>
                      </a:r>
                    </a:p>
                  </a:txBody>
                  <a:tcPr marL="114300" marR="114300" marT="76200" marB="76200">
                    <a:solidFill>
                      <a:srgbClr val="172C42"/>
                    </a:solidFill>
                  </a:tcPr>
                </a:tc>
                <a:tc>
                  <a:txBody>
                    <a:bodyPr/>
                    <a:lstStyle/>
                    <a:p>
                      <a:r>
                        <a:rPr sz="1800" b="1">
                          <a:solidFill>
                            <a:srgbClr val="FFFFFF"/>
                          </a:solidFill>
                          <a:latin typeface="Arial"/>
                          <a:ea typeface="Arial"/>
                          <a:cs typeface="Arial"/>
                        </a:rPr>
                        <a:t>Input(s), β</a:t>
                      </a:r>
                    </a:p>
                  </a:txBody>
                  <a:tcPr marL="114300" marR="114300" marT="76200" marB="76200">
                    <a:solidFill>
                      <a:srgbClr val="172C42"/>
                    </a:solidFill>
                  </a:tcPr>
                </a:tc>
                <a:tc>
                  <a:txBody>
                    <a:bodyPr/>
                    <a:lstStyle/>
                    <a:p>
                      <a:r>
                        <a:rPr sz="1800" b="1">
                          <a:solidFill>
                            <a:srgbClr val="FFFFFF"/>
                          </a:solidFill>
                          <a:latin typeface="Arial"/>
                          <a:ea typeface="Arial"/>
                          <a:cs typeface="Arial"/>
                        </a:rPr>
                        <a:t>Count</a:t>
                      </a:r>
                    </a:p>
                  </a:txBody>
                  <a:tcPr marL="114300" marR="114300" marT="76200" marB="76200">
                    <a:solidFill>
                      <a:srgbClr val="172C42"/>
                    </a:solidFill>
                  </a:tcPr>
                </a:tc>
                <a:tc>
                  <a:txBody>
                    <a:bodyPr/>
                    <a:lstStyle/>
                    <a:p>
                      <a:r>
                        <a:rPr sz="1800" b="1">
                          <a:solidFill>
                            <a:srgbClr val="FFFFFF"/>
                          </a:solidFill>
                          <a:latin typeface="Arial"/>
                          <a:ea typeface="Arial"/>
                          <a:cs typeface="Arial"/>
                        </a:rPr>
                        <a:t>Exact output(s)</a:t>
                      </a:r>
                    </a:p>
                  </a:txBody>
                  <a:tcPr marL="114300" marR="114300" marT="76200" marB="76200">
                    <a:solidFill>
                      <a:srgbClr val="172C42"/>
                    </a:solidFill>
                  </a:tcPr>
                </a:tc>
              </a:tr>
              <a:tr h="762000">
                <a:tc>
                  <a:txBody>
                    <a:bodyPr/>
                    <a:lstStyle/>
                    <a:p>
                      <a:r>
                        <a:rPr sz="1800">
                          <a:solidFill>
                            <a:srgbClr val="172C42"/>
                          </a:solidFill>
                          <a:latin typeface="Arial"/>
                          <a:ea typeface="Arial"/>
                          <a:cs typeface="Arial"/>
                        </a:rPr>
                        <a:t>1</a:t>
                      </a:r>
                    </a:p>
                  </a:txBody>
                  <a:tcPr marL="114300" marR="114300" marT="76200" marB="76200">
                    <a:solidFill>
                      <a:srgbClr val="FFFFFF"/>
                    </a:solidFill>
                  </a:tcPr>
                </a:tc>
                <a:tc>
                  <a:txBody>
                    <a:bodyPr/>
                    <a:lstStyle/>
                    <a:p>
                      <a:r>
                        <a:rPr sz="1800">
                          <a:solidFill>
                            <a:srgbClr val="172C42"/>
                          </a:solidFill>
                          <a:latin typeface="Arial"/>
                          <a:ea typeface="Arial"/>
                          <a:cs typeface="Arial"/>
                        </a:rPr>
                        <a:t>−3 and 5, β=128</a:t>
                      </a:r>
                    </a:p>
                  </a:txBody>
                  <a:tcPr marL="114300" marR="114300" marT="76200" marB="76200">
                    <a:solidFill>
                      <a:srgbClr val="FFFFFF"/>
                    </a:solidFill>
                  </a:tcPr>
                </a:tc>
                <a:tc>
                  <a:txBody>
                    <a:bodyPr/>
                    <a:lstStyle/>
                    <a:p>
                      <a:r>
                        <a:rPr sz="1800">
                          <a:solidFill>
                            <a:srgbClr val="172C42"/>
                          </a:solidFill>
                          <a:latin typeface="Arial"/>
                          <a:ea typeface="Arial"/>
                          <a:cs typeface="Arial"/>
                        </a:rPr>
                        <a:t>2</a:t>
                      </a:r>
                    </a:p>
                  </a:txBody>
                  <a:tcPr marL="114300" marR="114300" marT="76200" marB="76200">
                    <a:solidFill>
                      <a:srgbClr val="FFFFFF"/>
                    </a:solidFill>
                  </a:tcPr>
                </a:tc>
                <a:tc>
                  <a:txBody>
                    <a:bodyPr/>
                    <a:lstStyle/>
                    <a:p>
                      <a:r>
                        <a:rPr sz="1800">
                          <a:solidFill>
                            <a:srgbClr val="172C42"/>
                          </a:solidFill>
                          <a:latin typeface="Arial"/>
                          <a:ea typeface="Arial"/>
                          <a:cs typeface="Arial"/>
                        </a:rPr>
                        <a:t>−1 and 3</a:t>
                      </a:r>
                    </a:p>
                  </a:txBody>
                  <a:tcPr marL="114300" marR="114300" marT="76200" marB="76200">
                    <a:solidFill>
                      <a:srgbClr val="FFFFFF"/>
                    </a:solidFill>
                  </a:tcPr>
                </a:tc>
              </a:tr>
              <a:tr h="762000">
                <a:tc>
                  <a:txBody>
                    <a:bodyPr/>
                    <a:lstStyle/>
                    <a:p>
                      <a:r>
                        <a:rPr sz="1800">
                          <a:solidFill>
                            <a:srgbClr val="172C42"/>
                          </a:solidFill>
                          <a:latin typeface="Arial"/>
                          <a:ea typeface="Arial"/>
                          <a:cs typeface="Arial"/>
                        </a:rPr>
                        <a:t>2</a:t>
                      </a:r>
                    </a:p>
                  </a:txBody>
                  <a:tcPr marL="114300" marR="114300" marT="76200" marB="76200">
                    <a:solidFill>
                      <a:srgbClr val="FFFFFF"/>
                    </a:solidFill>
                  </a:tcPr>
                </a:tc>
                <a:tc>
                  <a:txBody>
                    <a:bodyPr/>
                    <a:lstStyle/>
                    <a:p>
                      <a:r>
                        <a:rPr sz="1800">
                          <a:solidFill>
                            <a:srgbClr val="172C42"/>
                          </a:solidFill>
                          <a:latin typeface="Arial"/>
                          <a:ea typeface="Arial"/>
                          <a:cs typeface="Arial"/>
                        </a:rPr>
                        <a:t>381, β=78</a:t>
                      </a:r>
                    </a:p>
                  </a:txBody>
                  <a:tcPr marL="114300" marR="114300" marT="76200" marB="76200">
                    <a:solidFill>
                      <a:srgbClr val="FFFFFF"/>
                    </a:solidFill>
                  </a:tcPr>
                </a:tc>
                <a:tc>
                  <a:txBody>
                    <a:bodyPr/>
                    <a:lstStyle/>
                    <a:p>
                      <a:r>
                        <a:rPr sz="1800">
                          <a:solidFill>
                            <a:srgbClr val="172C42"/>
                          </a:solidFill>
                          <a:latin typeface="Arial"/>
                          <a:ea typeface="Arial"/>
                          <a:cs typeface="Arial"/>
                        </a:rPr>
                        <a:t>1</a:t>
                      </a:r>
                    </a:p>
                  </a:txBody>
                  <a:tcPr marL="114300" marR="114300" marT="76200" marB="76200">
                    <a:solidFill>
                      <a:srgbClr val="FFFFFF"/>
                    </a:solidFill>
                  </a:tcPr>
                </a:tc>
                <a:tc>
                  <a:txBody>
                    <a:bodyPr/>
                    <a:lstStyle/>
                    <a:p>
                      <a:r>
                        <a:rPr sz="1800">
                          <a:solidFill>
                            <a:srgbClr val="172C42"/>
                          </a:solidFill>
                          <a:latin typeface="Arial"/>
                          <a:ea typeface="Arial"/>
                          <a:cs typeface="Arial"/>
                        </a:rPr>
                        <a:t>117</a:t>
                      </a:r>
                    </a:p>
                  </a:txBody>
                  <a:tcPr marL="114300" marR="114300" marT="76200" marB="76200">
                    <a:solidFill>
                      <a:srgbClr val="FFFFFF"/>
                    </a:solidFill>
                  </a:tcPr>
                </a:tc>
              </a:tr>
              <a:tr h="762000">
                <a:tc>
                  <a:txBody>
                    <a:bodyPr/>
                    <a:lstStyle/>
                    <a:p>
                      <a:r>
                        <a:rPr sz="1800">
                          <a:solidFill>
                            <a:srgbClr val="172C42"/>
                          </a:solidFill>
                          <a:latin typeface="Arial"/>
                          <a:ea typeface="Arial"/>
                          <a:cs typeface="Arial"/>
                        </a:rPr>
                        <a:t>3</a:t>
                      </a:r>
                    </a:p>
                  </a:txBody>
                  <a:tcPr marL="114300" marR="114300" marT="76200" marB="76200">
                    <a:solidFill>
                      <a:srgbClr val="FFFFFF"/>
                    </a:solidFill>
                  </a:tcPr>
                </a:tc>
                <a:tc>
                  <a:txBody>
                    <a:bodyPr/>
                    <a:lstStyle/>
                    <a:p>
                      <a:r>
                        <a:rPr sz="1800">
                          <a:solidFill>
                            <a:srgbClr val="172C42"/>
                          </a:solidFill>
                          <a:latin typeface="Arial"/>
                          <a:ea typeface="Arial"/>
                          <a:cs typeface="Arial"/>
                        </a:rPr>
                        <a:t>−2 and 7, β=128</a:t>
                      </a:r>
                    </a:p>
                  </a:txBody>
                  <a:tcPr marL="114300" marR="114300" marT="76200" marB="76200">
                    <a:solidFill>
                      <a:srgbClr val="FFFFFF"/>
                    </a:solidFill>
                  </a:tcPr>
                </a:tc>
                <a:tc>
                  <a:txBody>
                    <a:bodyPr/>
                    <a:lstStyle/>
                    <a:p>
                      <a:r>
                        <a:rPr sz="1800">
                          <a:solidFill>
                            <a:srgbClr val="172C42"/>
                          </a:solidFill>
                          <a:latin typeface="Arial"/>
                          <a:ea typeface="Arial"/>
                          <a:cs typeface="Arial"/>
                        </a:rPr>
                        <a:t>2</a:t>
                      </a:r>
                    </a:p>
                  </a:txBody>
                  <a:tcPr marL="114300" marR="114300" marT="76200" marB="76200">
                    <a:solidFill>
                      <a:srgbClr val="FFFFFF"/>
                    </a:solidFill>
                  </a:tcPr>
                </a:tc>
                <a:tc>
                  <a:txBody>
                    <a:bodyPr/>
                    <a:lstStyle/>
                    <a:p>
                      <a:r>
                        <a:rPr sz="1800">
                          <a:solidFill>
                            <a:srgbClr val="172C42"/>
                          </a:solidFill>
                          <a:latin typeface="Arial"/>
                          <a:ea typeface="Arial"/>
                          <a:cs typeface="Arial"/>
                        </a:rPr>
                        <a:t>−1 and 4</a:t>
                      </a:r>
                    </a:p>
                  </a:txBody>
                  <a:tcPr marL="114300" marR="114300" marT="76200" marB="7620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507CECC9-7C7C-4373-B9D5-AD7B80BE68A8}"/>
              </a:ext>
            </a:extLst>
          </p:cNvPr>
          <p:cNvSpPr>
            <a:spLocks xmlns:a="http://schemas.openxmlformats.org/drawingml/2006/main" noGrp="1"/>
          </p:cNvSpPr>
          <p:nvPr/>
        </p:nvSpPr>
        <p:spPr>
          <a:xfrm xmlns:a="http://schemas.openxmlformats.org/drawingml/2006/main">
            <a:off x="704850" y="5105400"/>
            <a:ext cx="1047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250" b="1">
                <a:solidFill>
                  <a:srgbClr val="007E87"/>
                </a:solidFill>
                <a:latin typeface="Arial"/>
                <a:ea typeface="Arial"/>
                <a:cs typeface="Arial"/>
              </a:defRPr>
            </a:defPPr>
          </a:lstStyle>
          <a:p xmlns:a="http://schemas.openxmlformats.org/drawingml/2006/main">
            <a:pPr>
              <a:defRPr sz="2250" b="1">
                <a:solidFill>
                  <a:srgbClr val="007E87"/>
                </a:solidFill>
                <a:latin typeface="Arial"/>
                <a:ea typeface="Arial"/>
                <a:cs typeface="Arial"/>
              </a:defRPr>
            </a:pPr>
            <a:r>
              <a:rPr sz="2250" b="1">
                <a:solidFill>
                  <a:srgbClr val="007E87"/>
                </a:solidFill>
                <a:latin typeface="Arial"/>
                <a:ea typeface="Arial"/>
                <a:cs typeface="Arial"/>
              </a:rPr>
              <a:t>The source retains unconsumed operands</a:t>
            </a:r>
          </a:p>
          <a:p xmlns:a="http://schemas.openxmlformats.org/drawingml/2006/main">
            <a:pPr>
              <a:defRPr sz="2250" b="1">
                <a:solidFill>
                  <a:srgbClr val="007E87"/>
                </a:solidFill>
                <a:latin typeface="Arial"/>
                <a:ea typeface="Arial"/>
                <a:cs typeface="Arial"/>
              </a:defRPr>
            </a:pPr>
            <a:r>
              <a:rPr sz="2250" b="1">
                <a:solidFill>
                  <a:srgbClr val="007E87"/>
                </a:solidFill>
                <a:latin typeface="Arial"/>
                <a:ea typeface="Arial"/>
                <a:cs typeface="Arial"/>
              </a:rPr>
              <a:t>Five scalar updates use three DSP issues in this example</a:t>
            </a:r>
          </a:p>
        </p:txBody>
      </p:sp>
    </p:spTree>
    <p:extLst>
      <p:ext uri="{BB962C8B-B14F-4D97-AF65-F5344CB8AC3E}">
        <p14:creationId xmlns:p14="http://schemas.microsoft.com/office/powerpoint/2010/main" val="1869567191"/>
      </p:ext>
    </p:extLst>
  </p:cSld>
</p:sld>
</file>

<file path=ppt/slides/slide6.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F84A492-50D3-451B-A94F-3EDB67B7B2A0}"/>
              </a:ext>
            </a:extLst>
          </p:cNvPr>
          <p:cNvSpPr>
            <a:spLocks xmlns:a="http://schemas.openxmlformats.org/drawingml/2006/main" noGrp="1"/>
          </p:cNvSpPr>
          <p:nvPr/>
        </p:nvSpPr>
        <p:spPr>
          <a:xfrm xmlns:a="http://schemas.openxmlformats.org/drawingml/2006/main">
            <a:off x="628650" y="438150"/>
            <a:ext cx="109347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3300" b="1">
                <a:solidFill>
                  <a:srgbClr val="172C42"/>
                </a:solidFill>
                <a:latin typeface="Arial"/>
                <a:ea typeface="Arial"/>
                <a:cs typeface="Arial"/>
              </a:defRPr>
            </a:defPPr>
          </a:lstStyle>
          <a:p xmlns:a="http://schemas.openxmlformats.org/drawingml/2006/main">
            <a:pPr>
              <a:defRPr sz="3300" b="1">
                <a:solidFill>
                  <a:srgbClr val="172C42"/>
                </a:solidFill>
                <a:latin typeface="Arial"/>
                <a:ea typeface="Arial"/>
                <a:cs typeface="Arial"/>
              </a:defRPr>
            </a:pPr>
            <a:r>
              <a:rPr sz="3300" b="1">
                <a:solidFill>
                  <a:srgbClr val="172C42"/>
                </a:solidFill>
                <a:latin typeface="Arial"/>
                <a:ea typeface="Arial"/>
                <a:cs typeface="Arial"/>
              </a:rPr>
              <a:t>A compact multiplicand layout</a:t>
            </a:r>
          </a:p>
        </p:txBody>
      </p:sp>
      <p:sp>
        <p:nvSpPr>
          <p:cNvPr id="2" name="">
            <a:extLst xmlns:a="http://schemas.openxmlformats.org/drawingml/2006/main">
              <a:ext uri="{FF2B5EF4-FFF2-40B4-BE49-F238E27FC236}">
                <a16:creationId xmlns:a16="http://schemas.microsoft.com/office/drawing/2014/main" id="{E9DD3721-A463-4951-83D9-E23EEBDAAEC9}"/>
              </a:ext>
            </a:extLst>
          </p:cNvPr>
          <p:cNvSpPr>
            <a:spLocks xmlns:a="http://schemas.openxmlformats.org/drawingml/2006/main" noGrp="1"/>
          </p:cNvSpPr>
          <p:nvPr/>
        </p:nvSpPr>
        <p:spPr>
          <a:xfrm xmlns:a="http://schemas.openxmlformats.org/drawingml/2006/main">
            <a:off x="11106150" y="63436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0">
                <a:solidFill>
                  <a:srgbClr val="536573"/>
                </a:solidFill>
                <a:latin typeface="Arial"/>
                <a:ea typeface="Arial"/>
                <a:cs typeface="Arial"/>
              </a:defRPr>
            </a:defPPr>
          </a:lstStyle>
          <a:p xmlns:a="http://schemas.openxmlformats.org/drawingml/2006/main">
            <a:pPr>
              <a:defRPr sz="1350" b="0">
                <a:solidFill>
                  <a:srgbClr val="536573"/>
                </a:solidFill>
                <a:latin typeface="Arial"/>
                <a:ea typeface="Arial"/>
                <a:cs typeface="Arial"/>
              </a:defRPr>
            </a:pPr>
            <a:r>
              <a:rPr sz="1350" b="0">
                <a:solidFill>
                  <a:srgbClr val="536573"/>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12E9FB43-A7F8-4AB3-83EE-C927081B52C5}"/>
              </a:ext>
            </a:extLst>
          </p:cNvPr>
          <p:cNvSpPr>
            <a:spLocks xmlns:a="http://schemas.openxmlformats.org/drawingml/2006/main" noGrp="1"/>
          </p:cNvSpPr>
          <p:nvPr/>
        </p:nvSpPr>
        <p:spPr>
          <a:xfrm xmlns:a="http://schemas.openxmlformats.org/drawingml/2006/main">
            <a:off x="704850" y="1619250"/>
            <a:ext cx="10572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925" b="1">
                <a:solidFill>
                  <a:srgbClr val="007E87"/>
                </a:solidFill>
                <a:latin typeface="Arial"/>
                <a:ea typeface="Arial"/>
                <a:cs typeface="Arial"/>
              </a:defRPr>
            </a:defPPr>
          </a:lstStyle>
          <a:p xmlns:a="http://schemas.openxmlformats.org/drawingml/2006/main">
            <a:pPr>
              <a:defRPr sz="2925" b="1">
                <a:solidFill>
                  <a:srgbClr val="007E87"/>
                </a:solidFill>
                <a:latin typeface="Arial"/>
                <a:ea typeface="Arial"/>
                <a:cs typeface="Arial"/>
              </a:defRPr>
            </a:pPr>
            <a:r>
              <a:rPr sz="2925" b="1">
                <a:solidFill>
                  <a:srgbClr val="007E87"/>
                </a:solidFill>
                <a:latin typeface="Arial"/>
                <a:ea typeface="Arial"/>
                <a:cs typeface="Arial"/>
              </a:rPr>
              <a:t>A = (u₀ + 256) + (u₁ &lt;&lt; 16)</a:t>
            </a:r>
          </a:p>
        </p:txBody>
      </p:sp>
      <p:sp>
        <p:nvSpPr>
          <p:cNvPr id="4" name="">
            <a:extLst xmlns:a="http://schemas.openxmlformats.org/drawingml/2006/main">
              <a:ext uri="{FF2B5EF4-FFF2-40B4-BE49-F238E27FC236}">
                <a16:creationId xmlns:a16="http://schemas.microsoft.com/office/drawing/2014/main" id="{346DDB7E-7193-4E64-8F6A-3BABA80CA77C}"/>
              </a:ext>
            </a:extLst>
          </p:cNvPr>
          <p:cNvSpPr>
            <a:spLocks xmlns:a="http://schemas.openxmlformats.org/drawingml/2006/main" noGrp="1"/>
          </p:cNvSpPr>
          <p:nvPr/>
        </p:nvSpPr>
        <p:spPr>
          <a:xfrm xmlns:a="http://schemas.openxmlformats.org/drawingml/2006/main">
            <a:off x="819150" y="2686050"/>
            <a:ext cx="3771900" cy="1104900"/>
          </a:xfrm>
          <a:prstGeom xmlns:a="http://schemas.openxmlformats.org/drawingml/2006/main" prst="rect">
            <a:avLst/>
          </a:prstGeom>
          <a:solidFill xmlns:a="http://schemas.openxmlformats.org/drawingml/2006/main">
            <a:srgbClr val="FFFFFF"/>
          </a:solidFill>
          <a:ln xmlns:a="http://schemas.openxmlformats.org/drawingml/2006/main" w="19050">
            <a:solidFill>
              <a:srgbClr val="007E87"/>
            </a:solidFill>
          </a:ln>
        </p:spPr>
        <p:txBody>
          <a:bodyPr xmlns:a="http://schemas.openxmlformats.org/drawingml/2006/main" anchor="ctr"/>
          <a:lstStyle xmlns:a="http://schemas.openxmlformats.org/drawingml/2006/main">
            <a:defPPr algn="ctr">
              <a:defRPr sz="1875" b="0">
                <a:solidFill>
                  <a:srgbClr val="172C42"/>
                </a:solidFill>
                <a:latin typeface="Arial"/>
                <a:ea typeface="Arial"/>
                <a:cs typeface="Arial"/>
              </a:defRPr>
            </a:defPPr>
          </a:lstStyle>
          <a:p xmlns:a="http://schemas.openxmlformats.org/drawingml/2006/main">
            <a:pPr algn="ctr">
              <a:defRPr sz="1875" b="0">
                <a:solidFill>
                  <a:srgbClr val="172C42"/>
                </a:solidFill>
                <a:latin typeface="Arial"/>
                <a:ea typeface="Arial"/>
                <a:cs typeface="Arial"/>
              </a:defRPr>
            </a:pPr>
            <a:r>
              <a:rPr sz="1875" b="0">
                <a:solidFill>
                  <a:srgbClr val="172C42"/>
                </a:solidFill>
                <a:latin typeface="Arial"/>
                <a:ea typeface="Arial"/>
                <a:cs typeface="Arial"/>
              </a:rPr>
              <a:t>signed9 u₁</a:t>
            </a:r>
          </a:p>
          <a:p xmlns:a="http://schemas.openxmlformats.org/drawingml/2006/main">
            <a:pPr algn="ctr">
              <a:defRPr sz="1875" b="0">
                <a:solidFill>
                  <a:srgbClr val="172C42"/>
                </a:solidFill>
                <a:latin typeface="Arial"/>
                <a:ea typeface="Arial"/>
                <a:cs typeface="Arial"/>
              </a:defRPr>
            </a:pPr>
            <a:r>
              <a:rPr sz="1875" b="0">
                <a:solidFill>
                  <a:srgbClr val="172C42"/>
                </a:solidFill>
                <a:latin typeface="Arial"/>
                <a:ea typeface="Arial"/>
                <a:cs typeface="Arial"/>
              </a:rPr>
              <a:t>bits24:16</a:t>
            </a:r>
          </a:p>
        </p:txBody>
      </p:sp>
      <p:sp>
        <p:nvSpPr>
          <p:cNvPr id="5" name="">
            <a:extLst xmlns:a="http://schemas.openxmlformats.org/drawingml/2006/main">
              <a:ext uri="{FF2B5EF4-FFF2-40B4-BE49-F238E27FC236}">
                <a16:creationId xmlns:a16="http://schemas.microsoft.com/office/drawing/2014/main" id="{BF8B0239-74FF-46FB-85E7-52206AE7CD81}"/>
              </a:ext>
            </a:extLst>
          </p:cNvPr>
          <p:cNvSpPr>
            <a:spLocks xmlns:a="http://schemas.openxmlformats.org/drawingml/2006/main" noGrp="1"/>
          </p:cNvSpPr>
          <p:nvPr/>
        </p:nvSpPr>
        <p:spPr>
          <a:xfrm xmlns:a="http://schemas.openxmlformats.org/drawingml/2006/main">
            <a:off x="4591050" y="2686050"/>
            <a:ext cx="2933700" cy="1104900"/>
          </a:xfrm>
          <a:prstGeom xmlns:a="http://schemas.openxmlformats.org/drawingml/2006/main" prst="rect">
            <a:avLst/>
          </a:prstGeom>
          <a:solidFill xmlns:a="http://schemas.openxmlformats.org/drawingml/2006/main">
            <a:srgbClr val="FFFFFF"/>
          </a:solidFill>
          <a:ln xmlns:a="http://schemas.openxmlformats.org/drawingml/2006/main" w="19050">
            <a:solidFill>
              <a:srgbClr val="536573"/>
            </a:solidFill>
          </a:ln>
        </p:spPr>
        <p:txBody>
          <a:bodyPr xmlns:a="http://schemas.openxmlformats.org/drawingml/2006/main" anchor="ctr"/>
          <a:lstStyle xmlns:a="http://schemas.openxmlformats.org/drawingml/2006/main">
            <a:defPPr algn="ctr">
              <a:defRPr sz="1875" b="0">
                <a:solidFill>
                  <a:srgbClr val="172C42"/>
                </a:solidFill>
                <a:latin typeface="Arial"/>
                <a:ea typeface="Arial"/>
                <a:cs typeface="Arial"/>
              </a:defRPr>
            </a:defPPr>
          </a:lstStyle>
          <a:p xmlns:a="http://schemas.openxmlformats.org/drawingml/2006/main">
            <a:pPr algn="ctr">
              <a:defRPr sz="1875" b="0">
                <a:solidFill>
                  <a:srgbClr val="172C42"/>
                </a:solidFill>
                <a:latin typeface="Arial"/>
                <a:ea typeface="Arial"/>
                <a:cs typeface="Arial"/>
              </a:defRPr>
            </a:pPr>
            <a:r>
              <a:rPr sz="1875" b="0">
                <a:solidFill>
                  <a:srgbClr val="172C42"/>
                </a:solidFill>
                <a:latin typeface="Arial"/>
                <a:ea typeface="Arial"/>
                <a:cs typeface="Arial"/>
              </a:rPr>
              <a:t>seven zeros</a:t>
            </a:r>
          </a:p>
          <a:p xmlns:a="http://schemas.openxmlformats.org/drawingml/2006/main">
            <a:pPr algn="ctr">
              <a:defRPr sz="1875" b="0">
                <a:solidFill>
                  <a:srgbClr val="172C42"/>
                </a:solidFill>
                <a:latin typeface="Arial"/>
                <a:ea typeface="Arial"/>
                <a:cs typeface="Arial"/>
              </a:defRPr>
            </a:pPr>
            <a:r>
              <a:rPr sz="1875" b="0">
                <a:solidFill>
                  <a:srgbClr val="172C42"/>
                </a:solidFill>
                <a:latin typeface="Arial"/>
                <a:ea typeface="Arial"/>
                <a:cs typeface="Arial"/>
              </a:rPr>
              <a:t>bits15:9</a:t>
            </a:r>
          </a:p>
        </p:txBody>
      </p:sp>
      <p:sp>
        <p:nvSpPr>
          <p:cNvPr id="6" name="">
            <a:extLst xmlns:a="http://schemas.openxmlformats.org/drawingml/2006/main">
              <a:ext uri="{FF2B5EF4-FFF2-40B4-BE49-F238E27FC236}">
                <a16:creationId xmlns:a16="http://schemas.microsoft.com/office/drawing/2014/main" id="{CB0027FF-0E06-4EEE-9D18-7BA22858CB9A}"/>
              </a:ext>
            </a:extLst>
          </p:cNvPr>
          <p:cNvSpPr>
            <a:spLocks xmlns:a="http://schemas.openxmlformats.org/drawingml/2006/main" noGrp="1"/>
          </p:cNvSpPr>
          <p:nvPr/>
        </p:nvSpPr>
        <p:spPr>
          <a:xfrm xmlns:a="http://schemas.openxmlformats.org/drawingml/2006/main">
            <a:off x="7524750" y="2686050"/>
            <a:ext cx="3771900" cy="1104900"/>
          </a:xfrm>
          <a:prstGeom xmlns:a="http://schemas.openxmlformats.org/drawingml/2006/main" prst="rect">
            <a:avLst/>
          </a:prstGeom>
          <a:solidFill xmlns:a="http://schemas.openxmlformats.org/drawingml/2006/main">
            <a:srgbClr val="FFFFFF"/>
          </a:solidFill>
          <a:ln xmlns:a="http://schemas.openxmlformats.org/drawingml/2006/main" w="19050">
            <a:solidFill>
              <a:srgbClr val="007E87"/>
            </a:solidFill>
          </a:ln>
        </p:spPr>
        <p:txBody>
          <a:bodyPr xmlns:a="http://schemas.openxmlformats.org/drawingml/2006/main" anchor="ctr"/>
          <a:lstStyle xmlns:a="http://schemas.openxmlformats.org/drawingml/2006/main">
            <a:defPPr algn="ctr">
              <a:defRPr sz="1875" b="0">
                <a:solidFill>
                  <a:srgbClr val="172C42"/>
                </a:solidFill>
                <a:latin typeface="Arial"/>
                <a:ea typeface="Arial"/>
                <a:cs typeface="Arial"/>
              </a:defRPr>
            </a:defPPr>
          </a:lstStyle>
          <a:p xmlns:a="http://schemas.openxmlformats.org/drawingml/2006/main">
            <a:pPr algn="ctr">
              <a:defRPr sz="1875" b="0">
                <a:solidFill>
                  <a:srgbClr val="172C42"/>
                </a:solidFill>
                <a:latin typeface="Arial"/>
                <a:ea typeface="Arial"/>
                <a:cs typeface="Arial"/>
              </a:defRPr>
            </a:pPr>
            <a:r>
              <a:rPr sz="1875" b="0">
                <a:solidFill>
                  <a:srgbClr val="172C42"/>
                </a:solidFill>
                <a:latin typeface="Arial"/>
                <a:ea typeface="Arial"/>
                <a:cs typeface="Arial"/>
              </a:rPr>
              <a:t>u₀ + 256</a:t>
            </a:r>
          </a:p>
          <a:p xmlns:a="http://schemas.openxmlformats.org/drawingml/2006/main">
            <a:pPr algn="ctr">
              <a:defRPr sz="1875" b="0">
                <a:solidFill>
                  <a:srgbClr val="172C42"/>
                </a:solidFill>
                <a:latin typeface="Arial"/>
                <a:ea typeface="Arial"/>
                <a:cs typeface="Arial"/>
              </a:defRPr>
            </a:pPr>
            <a:r>
              <a:rPr sz="1875" b="0">
                <a:solidFill>
                  <a:srgbClr val="172C42"/>
                </a:solidFill>
                <a:latin typeface="Arial"/>
                <a:ea typeface="Arial"/>
                <a:cs typeface="Arial"/>
              </a:rPr>
              <a:t>bits8:0</a:t>
            </a:r>
          </a:p>
        </p:txBody>
      </p:sp>
      <p:sp>
        <p:nvSpPr>
          <p:cNvPr id="7" name="">
            <a:extLst xmlns:a="http://schemas.openxmlformats.org/drawingml/2006/main">
              <a:ext uri="{FF2B5EF4-FFF2-40B4-BE49-F238E27FC236}">
                <a16:creationId xmlns:a16="http://schemas.microsoft.com/office/drawing/2014/main" id="{6EE4A808-9F79-487C-BC35-21357855EE8A}"/>
              </a:ext>
            </a:extLst>
          </p:cNvPr>
          <p:cNvSpPr>
            <a:spLocks xmlns:a="http://schemas.openxmlformats.org/drawingml/2006/main" noGrp="1"/>
          </p:cNvSpPr>
          <p:nvPr/>
        </p:nvSpPr>
        <p:spPr>
          <a:xfrm xmlns:a="http://schemas.openxmlformats.org/drawingml/2006/main">
            <a:off x="704850" y="4305300"/>
            <a:ext cx="10668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250" b="0">
                <a:solidFill>
                  <a:srgbClr val="172C42"/>
                </a:solidFill>
                <a:latin typeface="Arial"/>
                <a:ea typeface="Arial"/>
                <a:cs typeface="Arial"/>
              </a:defRPr>
            </a:defPPr>
          </a:lstStyle>
          <a:p xmlns:a="http://schemas.openxmlformats.org/drawingml/2006/main">
            <a:pPr>
              <a:defRPr sz="2250" b="0">
                <a:solidFill>
                  <a:srgbClr val="172C42"/>
                </a:solidFill>
                <a:latin typeface="Arial"/>
                <a:ea typeface="Arial"/>
                <a:cs typeface="Arial"/>
              </a:defRPr>
            </a:pPr>
            <a:r>
              <a:rPr sz="2250" b="0">
                <a:solidFill>
                  <a:srgbClr val="172C42"/>
                </a:solidFill>
                <a:latin typeface="Arial"/>
                <a:ea typeface="Arial"/>
                <a:cs typeface="Arial"/>
              </a:rPr>
              <a:t>One coefficient multiplies both lanes</a:t>
            </a:r>
          </a:p>
          <a:p xmlns:a="http://schemas.openxmlformats.org/drawingml/2006/main">
            <a:pPr>
              <a:defRPr sz="2250" b="0">
                <a:solidFill>
                  <a:srgbClr val="172C42"/>
                </a:solidFill>
                <a:latin typeface="Arial"/>
                <a:ea typeface="Arial"/>
                <a:cs typeface="Arial"/>
              </a:defRPr>
            </a:pPr>
            <a:r>
              <a:rPr sz="2250" b="0">
                <a:solidFill>
                  <a:srgbClr val="172C42"/>
                </a:solidFill>
                <a:latin typeface="Arial"/>
                <a:ea typeface="Arial"/>
                <a:cs typeface="Arial"/>
              </a:rPr>
              <a:t>The products overlap through a possible signed borrow</a:t>
            </a:r>
          </a:p>
        </p:txBody>
      </p:sp>
      <p:sp>
        <p:nvSpPr>
          <p:cNvPr id="8" name="">
            <a:extLst xmlns:a="http://schemas.openxmlformats.org/drawingml/2006/main">
              <a:ext uri="{FF2B5EF4-FFF2-40B4-BE49-F238E27FC236}">
                <a16:creationId xmlns:a16="http://schemas.microsoft.com/office/drawing/2014/main" id="{7A0DE4DB-2D92-437A-8ADE-BBA0287D0909}"/>
              </a:ext>
            </a:extLst>
          </p:cNvPr>
          <p:cNvSpPr>
            <a:spLocks xmlns:a="http://schemas.openxmlformats.org/drawingml/2006/main" noGrp="1"/>
          </p:cNvSpPr>
          <p:nvPr/>
        </p:nvSpPr>
        <p:spPr>
          <a:xfrm xmlns:a="http://schemas.openxmlformats.org/drawingml/2006/main">
            <a:off x="704850" y="5962650"/>
            <a:ext cx="1028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00" b="0">
                <a:solidFill>
                  <a:srgbClr val="536573"/>
                </a:solidFill>
                <a:latin typeface="Arial"/>
                <a:ea typeface="Arial"/>
                <a:cs typeface="Arial"/>
              </a:defRPr>
            </a:defPPr>
          </a:lstStyle>
          <a:p xmlns:a="http://schemas.openxmlformats.org/drawingml/2006/main">
            <a:pPr>
              <a:defRPr sz="1500" b="0">
                <a:solidFill>
                  <a:srgbClr val="536573"/>
                </a:solidFill>
                <a:latin typeface="Arial"/>
                <a:ea typeface="Arial"/>
                <a:cs typeface="Arial"/>
              </a:defRPr>
            </a:pPr>
            <a:r>
              <a:rPr sz="1500" b="0">
                <a:solidFill>
                  <a:srgbClr val="536573"/>
                </a:solidFill>
                <a:latin typeface="Arial"/>
                <a:ea typeface="Arial"/>
                <a:cs typeface="Arial"/>
              </a:rPr>
              <a:t>C = 255 − 256β + 255 × 2¹⁶ supplies exact ceiling offsets</a:t>
            </a:r>
          </a:p>
        </p:txBody>
      </p:sp>
    </p:spTree>
    <p:extLst>
      <p:ext uri="{BB962C8B-B14F-4D97-AF65-F5344CB8AC3E}">
        <p14:creationId xmlns:p14="http://schemas.microsoft.com/office/powerpoint/2010/main" val="3698574"/>
      </p:ext>
    </p:extLst>
  </p:cSld>
</p:sld>
</file>

<file path=ppt/slides/slide7.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1B1A083-E91D-46E2-9BBF-1C58885059F8}"/>
              </a:ext>
            </a:extLst>
          </p:cNvPr>
          <p:cNvSpPr>
            <a:spLocks xmlns:a="http://schemas.openxmlformats.org/drawingml/2006/main" noGrp="1"/>
          </p:cNvSpPr>
          <p:nvPr/>
        </p:nvSpPr>
        <p:spPr>
          <a:xfrm xmlns:a="http://schemas.openxmlformats.org/drawingml/2006/main">
            <a:off x="628650" y="438150"/>
            <a:ext cx="109347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3300" b="1">
                <a:solidFill>
                  <a:srgbClr val="172C42"/>
                </a:solidFill>
                <a:latin typeface="Arial"/>
                <a:ea typeface="Arial"/>
                <a:cs typeface="Arial"/>
              </a:defRPr>
            </a:defPPr>
          </a:lstStyle>
          <a:p xmlns:a="http://schemas.openxmlformats.org/drawingml/2006/main">
            <a:pPr>
              <a:defRPr sz="3300" b="1">
                <a:solidFill>
                  <a:srgbClr val="172C42"/>
                </a:solidFill>
                <a:latin typeface="Arial"/>
                <a:ea typeface="Arial"/>
                <a:cs typeface="Arial"/>
              </a:defRPr>
            </a:pPr>
            <a:r>
              <a:rPr sz="3300" b="1">
                <a:solidFill>
                  <a:srgbClr val="172C42"/>
                </a:solidFill>
                <a:latin typeface="Arial"/>
                <a:ea typeface="Arial"/>
                <a:cs typeface="Arial"/>
              </a:rPr>
              <a:t>The low product can borrow one bit</a:t>
            </a:r>
          </a:p>
        </p:txBody>
      </p:sp>
      <p:sp>
        <p:nvSpPr>
          <p:cNvPr id="2" name="">
            <a:extLst xmlns:a="http://schemas.openxmlformats.org/drawingml/2006/main">
              <a:ext uri="{FF2B5EF4-FFF2-40B4-BE49-F238E27FC236}">
                <a16:creationId xmlns:a16="http://schemas.microsoft.com/office/drawing/2014/main" id="{C6B3F66B-8E6C-4A6C-9B4D-EB558D3C3D61}"/>
              </a:ext>
            </a:extLst>
          </p:cNvPr>
          <p:cNvSpPr>
            <a:spLocks xmlns:a="http://schemas.openxmlformats.org/drawingml/2006/main" noGrp="1"/>
          </p:cNvSpPr>
          <p:nvPr/>
        </p:nvSpPr>
        <p:spPr>
          <a:xfrm xmlns:a="http://schemas.openxmlformats.org/drawingml/2006/main">
            <a:off x="11106150" y="63436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0">
                <a:solidFill>
                  <a:srgbClr val="536573"/>
                </a:solidFill>
                <a:latin typeface="Arial"/>
                <a:ea typeface="Arial"/>
                <a:cs typeface="Arial"/>
              </a:defRPr>
            </a:defPPr>
          </a:lstStyle>
          <a:p xmlns:a="http://schemas.openxmlformats.org/drawingml/2006/main">
            <a:pPr>
              <a:defRPr sz="1350" b="0">
                <a:solidFill>
                  <a:srgbClr val="536573"/>
                </a:solidFill>
                <a:latin typeface="Arial"/>
                <a:ea typeface="Arial"/>
                <a:cs typeface="Arial"/>
              </a:defRPr>
            </a:pPr>
            <a:r>
              <a:rPr sz="1350" b="0">
                <a:solidFill>
                  <a:srgbClr val="536573"/>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4F067A2C-6ABB-4DCA-92E6-4D506D2C3B5D}"/>
              </a:ext>
            </a:extLst>
          </p:cNvPr>
          <p:cNvSpPr>
            <a:spLocks xmlns:a="http://schemas.openxmlformats.org/drawingml/2006/main" noGrp="1"/>
          </p:cNvSpPr>
          <p:nvPr/>
        </p:nvSpPr>
        <p:spPr>
          <a:xfrm xmlns:a="http://schemas.openxmlformats.org/drawingml/2006/main">
            <a:off x="704850" y="1676400"/>
            <a:ext cx="10287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3450" b="1">
                <a:solidFill>
                  <a:srgbClr val="007E87"/>
                </a:solidFill>
                <a:latin typeface="Arial"/>
                <a:ea typeface="Arial"/>
                <a:cs typeface="Arial"/>
              </a:defRPr>
            </a:defPPr>
          </a:lstStyle>
          <a:p xmlns:a="http://schemas.openxmlformats.org/drawingml/2006/main">
            <a:pPr>
              <a:defRPr sz="3450" b="1">
                <a:solidFill>
                  <a:srgbClr val="007E87"/>
                </a:solidFill>
                <a:latin typeface="Arial"/>
                <a:ea typeface="Arial"/>
                <a:cs typeface="Arial"/>
              </a:defRPr>
            </a:pPr>
            <a:r>
              <a:rPr sz="3450" b="1">
                <a:solidFill>
                  <a:srgbClr val="007E87"/>
                </a:solidFill>
                <a:latin typeface="Arial"/>
                <a:ea typeface="Arial"/>
                <a:cs typeface="Arial"/>
              </a:rPr>
              <a:t>P = x + 2¹⁶ y</a:t>
            </a:r>
          </a:p>
        </p:txBody>
      </p:sp>
      <p:sp>
        <p:nvSpPr>
          <p:cNvPr id="4" name="">
            <a:extLst xmlns:a="http://schemas.openxmlformats.org/drawingml/2006/main">
              <a:ext uri="{FF2B5EF4-FFF2-40B4-BE49-F238E27FC236}">
                <a16:creationId xmlns:a16="http://schemas.microsoft.com/office/drawing/2014/main" id="{E432C42F-0898-4F83-8178-EB71F21E5C83}"/>
              </a:ext>
            </a:extLst>
          </p:cNvPr>
          <p:cNvSpPr>
            <a:spLocks xmlns:a="http://schemas.openxmlformats.org/drawingml/2006/main" noGrp="1"/>
          </p:cNvSpPr>
          <p:nvPr/>
        </p:nvSpPr>
        <p:spPr>
          <a:xfrm xmlns:a="http://schemas.openxmlformats.org/drawingml/2006/main">
            <a:off x="704850" y="3048000"/>
            <a:ext cx="1066800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250" b="0">
                <a:solidFill>
                  <a:srgbClr val="172C42"/>
                </a:solidFill>
                <a:latin typeface="Arial"/>
                <a:ea typeface="Arial"/>
                <a:cs typeface="Arial"/>
              </a:defRPr>
            </a:defPPr>
          </a:lstStyle>
          <a:p xmlns:a="http://schemas.openxmlformats.org/drawingml/2006/main">
            <a:pPr>
              <a:defRPr sz="2250" b="0">
                <a:solidFill>
                  <a:srgbClr val="172C42"/>
                </a:solidFill>
                <a:latin typeface="Arial"/>
                <a:ea typeface="Arial"/>
                <a:cs typeface="Arial"/>
              </a:defRPr>
            </a:pPr>
            <a:r>
              <a:rPr sz="2250" b="0">
                <a:solidFill>
                  <a:srgbClr val="172C42"/>
                </a:solidFill>
                <a:latin typeface="Arial"/>
                <a:ea typeface="Arial"/>
                <a:cs typeface="Arial"/>
              </a:rPr>
              <a:t>x = βu₀ + 255 can be negative</a:t>
            </a:r>
          </a:p>
          <a:p xmlns:a="http://schemas.openxmlformats.org/drawingml/2006/main">
            <a:pPr>
              <a:defRPr sz="2250" b="0">
                <a:solidFill>
                  <a:srgbClr val="172C42"/>
                </a:solidFill>
                <a:latin typeface="Arial"/>
                <a:ea typeface="Arial"/>
                <a:cs typeface="Arial"/>
              </a:defRPr>
            </a:pPr>
            <a:r>
              <a:rPr sz="2250" b="0">
                <a:solidFill>
                  <a:srgbClr val="172C42"/>
                </a:solidFill>
                <a:latin typeface="Arial"/>
                <a:ea typeface="Arial"/>
                <a:cs typeface="Arial"/>
              </a:rPr>
              <a:t>The upper field becomes y − n, where n is 0 or 1</a:t>
            </a:r>
          </a:p>
          <a:p xmlns:a="http://schemas.openxmlformats.org/drawingml/2006/main">
            <a:pPr>
              <a:defRPr sz="2250" b="0">
                <a:solidFill>
                  <a:srgbClr val="172C42"/>
                </a:solidFill>
                <a:latin typeface="Arial"/>
                <a:ea typeface="Arial"/>
                <a:cs typeface="Arial"/>
              </a:defRPr>
            </a:pPr>
            <a:r>
              <a:rPr sz="2250" b="0">
                <a:solidFill>
                  <a:srgbClr val="172C42"/>
                </a:solidFill>
                <a:latin typeface="Arial"/>
                <a:ea typeface="Arial"/>
                <a:cs typeface="Arial"/>
              </a:rPr>
              <a:t>Known parity of y recovers that borrow n</a:t>
            </a:r>
          </a:p>
          <a:p xmlns:a="http://schemas.openxmlformats.org/drawingml/2006/main">
            <a:pPr>
              <a:defRPr sz="2250" b="0">
                <a:solidFill>
                  <a:srgbClr val="172C42"/>
                </a:solidFill>
                <a:latin typeface="Arial"/>
                <a:ea typeface="Arial"/>
                <a:cs typeface="Arial"/>
              </a:defRPr>
            </a:pPr>
            <a:r>
              <a:rPr sz="2250" b="0">
                <a:solidFill>
                  <a:srgbClr val="172C42"/>
                </a:solidFill>
                <a:latin typeface="Arial"/>
                <a:ea typeface="Arial"/>
                <a:cs typeface="Arial"/>
              </a:rPr>
              <a:t>Only the rounded output needs correction</a:t>
            </a:r>
          </a:p>
        </p:txBody>
      </p:sp>
    </p:spTree>
    <p:extLst>
      <p:ext uri="{BB962C8B-B14F-4D97-AF65-F5344CB8AC3E}">
        <p14:creationId xmlns:p14="http://schemas.microsoft.com/office/powerpoint/2010/main" val="115631315"/>
      </p:ext>
    </p:extLst>
  </p:cSld>
</p:sld>
</file>

<file path=ppt/slides/slide8.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E4569C7-2A16-450C-AE09-A94A278644C5}"/>
              </a:ext>
            </a:extLst>
          </p:cNvPr>
          <p:cNvSpPr>
            <a:spLocks xmlns:a="http://schemas.openxmlformats.org/drawingml/2006/main" noGrp="1"/>
          </p:cNvSpPr>
          <p:nvPr/>
        </p:nvSpPr>
        <p:spPr>
          <a:xfrm xmlns:a="http://schemas.openxmlformats.org/drawingml/2006/main">
            <a:off x="628650" y="438150"/>
            <a:ext cx="109347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3300" b="1">
                <a:solidFill>
                  <a:srgbClr val="172C42"/>
                </a:solidFill>
                <a:latin typeface="Arial"/>
                <a:ea typeface="Arial"/>
                <a:cs typeface="Arial"/>
              </a:defRPr>
            </a:defPPr>
          </a:lstStyle>
          <a:p xmlns:a="http://schemas.openxmlformats.org/drawingml/2006/main">
            <a:pPr>
              <a:defRPr sz="3300" b="1">
                <a:solidFill>
                  <a:srgbClr val="172C42"/>
                </a:solidFill>
                <a:latin typeface="Arial"/>
                <a:ea typeface="Arial"/>
                <a:cs typeface="Arial"/>
              </a:defRPr>
            </a:pPr>
            <a:r>
              <a:rPr sz="3300" b="1">
                <a:solidFill>
                  <a:srgbClr val="172C42"/>
                </a:solidFill>
                <a:latin typeface="Arial"/>
                <a:ea typeface="Arial"/>
                <a:cs typeface="Arial"/>
              </a:rPr>
              <a:t>Negative-borrow example</a:t>
            </a:r>
          </a:p>
        </p:txBody>
      </p:sp>
      <p:sp>
        <p:nvSpPr>
          <p:cNvPr id="2" name="">
            <a:extLst xmlns:a="http://schemas.openxmlformats.org/drawingml/2006/main">
              <a:ext uri="{FF2B5EF4-FFF2-40B4-BE49-F238E27FC236}">
                <a16:creationId xmlns:a16="http://schemas.microsoft.com/office/drawing/2014/main" id="{82C1CC2B-EEF2-4213-B04F-5E36AFD0D911}"/>
              </a:ext>
            </a:extLst>
          </p:cNvPr>
          <p:cNvSpPr>
            <a:spLocks xmlns:a="http://schemas.openxmlformats.org/drawingml/2006/main" noGrp="1"/>
          </p:cNvSpPr>
          <p:nvPr/>
        </p:nvSpPr>
        <p:spPr>
          <a:xfrm xmlns:a="http://schemas.openxmlformats.org/drawingml/2006/main">
            <a:off x="11106150" y="63436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0">
                <a:solidFill>
                  <a:srgbClr val="536573"/>
                </a:solidFill>
                <a:latin typeface="Arial"/>
                <a:ea typeface="Arial"/>
                <a:cs typeface="Arial"/>
              </a:defRPr>
            </a:defPPr>
          </a:lstStyle>
          <a:p xmlns:a="http://schemas.openxmlformats.org/drawingml/2006/main">
            <a:pPr>
              <a:defRPr sz="1350" b="0">
                <a:solidFill>
                  <a:srgbClr val="536573"/>
                </a:solidFill>
                <a:latin typeface="Arial"/>
                <a:ea typeface="Arial"/>
                <a:cs typeface="Arial"/>
              </a:defRPr>
            </a:pPr>
            <a:r>
              <a:rPr sz="1350" b="0">
                <a:solidFill>
                  <a:srgbClr val="536573"/>
                </a:solidFill>
                <a:latin typeface="Arial"/>
                <a:ea typeface="Arial"/>
                <a:cs typeface="Arial"/>
              </a:rPr>
              <a:t>08</a:t>
            </a:r>
          </a:p>
        </p:txBody>
      </p:sp>
      <p:graphicFrame>
        <p:nvGraphicFramePr>
          <p:cNvPr id="3" name="">
            <a:extLst xmlns:a="http://schemas.openxmlformats.org/drawingml/2006/main">
              <a:ext uri="{FF2B5EF4-FFF2-40B4-BE49-F238E27FC236}">
                <a16:creationId xmlns:a16="http://schemas.microsoft.com/office/drawing/2014/main" id="{614EF8F4-3390-4A02-9735-34A70D06F39A}"/>
              </a:ext>
            </a:extLst>
          </p:cNvPr>
          <p:cNvGraphicFramePr/>
          <p:nvPr/>
        </p:nvGraphicFramePr>
        <p:xfrm>
          <a:off xmlns:a="http://schemas.openxmlformats.org/drawingml/2006/main" x="685800" y="1714500"/>
          <a:ext xmlns:a="http://schemas.openxmlformats.org/drawingml/2006/main" cx="10820400" cy="3714750"/>
        </p:xfrm>
        <a:graphic xmlns:a="http://schemas.openxmlformats.org/drawingml/2006/main">
          <a:graphicData uri="http://schemas.openxmlformats.org/drawingml/2006/table">
            <a:tbl>
              <a:tblPr/>
              <a:tblGrid>
                <a:gridCol w="3810000"/>
                <a:gridCol w="3476625"/>
                <a:gridCol w="3533775"/>
              </a:tblGrid>
              <a:tr h="742950">
                <a:tc>
                  <a:txBody>
                    <a:bodyPr/>
                    <a:lstStyle/>
                    <a:p>
                      <a:r>
                        <a:rPr sz="1800" b="1">
                          <a:solidFill>
                            <a:srgbClr val="FFFFFF"/>
                          </a:solidFill>
                          <a:latin typeface="Arial"/>
                          <a:ea typeface="Arial"/>
                          <a:cs typeface="Arial"/>
                        </a:rPr>
                        <a:t>Step</a:t>
                      </a:r>
                    </a:p>
                  </a:txBody>
                  <a:tcPr marL="114300" marR="114300" marT="76200" marB="76200">
                    <a:solidFill>
                      <a:srgbClr val="172C42"/>
                    </a:solidFill>
                  </a:tcPr>
                </a:tc>
                <a:tc>
                  <a:txBody>
                    <a:bodyPr/>
                    <a:lstStyle/>
                    <a:p>
                      <a:r>
                        <a:rPr sz="1800" b="1">
                          <a:solidFill>
                            <a:srgbClr val="FFFFFF"/>
                          </a:solidFill>
                          <a:latin typeface="Arial"/>
                          <a:ea typeface="Arial"/>
                          <a:cs typeface="Arial"/>
                        </a:rPr>
                        <a:t>u₀ = −3</a:t>
                      </a:r>
                    </a:p>
                  </a:txBody>
                  <a:tcPr marL="114300" marR="114300" marT="76200" marB="76200">
                    <a:solidFill>
                      <a:srgbClr val="172C42"/>
                    </a:solidFill>
                  </a:tcPr>
                </a:tc>
                <a:tc>
                  <a:txBody>
                    <a:bodyPr/>
                    <a:lstStyle/>
                    <a:p>
                      <a:r>
                        <a:rPr sz="1800" b="1">
                          <a:solidFill>
                            <a:srgbClr val="FFFFFF"/>
                          </a:solidFill>
                          <a:latin typeface="Arial"/>
                          <a:ea typeface="Arial"/>
                          <a:cs typeface="Arial"/>
                        </a:rPr>
                        <a:t>u₁ = 5</a:t>
                      </a:r>
                    </a:p>
                  </a:txBody>
                  <a:tcPr marL="114300" marR="114300" marT="76200" marB="76200">
                    <a:solidFill>
                      <a:srgbClr val="172C42"/>
                    </a:solidFill>
                  </a:tcPr>
                </a:tc>
              </a:tr>
              <a:tr h="742950">
                <a:tc>
                  <a:txBody>
                    <a:bodyPr/>
                    <a:lstStyle/>
                    <a:p>
                      <a:r>
                        <a:rPr sz="1800">
                          <a:solidFill>
                            <a:srgbClr val="172C42"/>
                          </a:solidFill>
                          <a:latin typeface="Arial"/>
                          <a:ea typeface="Arial"/>
                          <a:cs typeface="Arial"/>
                        </a:rPr>
                        <a:t>β = 128, multiply and add 255</a:t>
                      </a:r>
                    </a:p>
                  </a:txBody>
                  <a:tcPr marL="114300" marR="114300" marT="76200" marB="76200">
                    <a:solidFill>
                      <a:srgbClr val="FFFFFF"/>
                    </a:solidFill>
                  </a:tcPr>
                </a:tc>
                <a:tc>
                  <a:txBody>
                    <a:bodyPr/>
                    <a:lstStyle/>
                    <a:p>
                      <a:r>
                        <a:rPr sz="1800">
                          <a:solidFill>
                            <a:srgbClr val="172C42"/>
                          </a:solidFill>
                          <a:latin typeface="Arial"/>
                          <a:ea typeface="Arial"/>
                          <a:cs typeface="Arial"/>
                        </a:rPr>
                        <a:t>x = −129</a:t>
                      </a:r>
                    </a:p>
                  </a:txBody>
                  <a:tcPr marL="114300" marR="114300" marT="76200" marB="76200">
                    <a:solidFill>
                      <a:srgbClr val="FFFFFF"/>
                    </a:solidFill>
                  </a:tcPr>
                </a:tc>
                <a:tc>
                  <a:txBody>
                    <a:bodyPr/>
                    <a:lstStyle/>
                    <a:p>
                      <a:r>
                        <a:rPr sz="1800">
                          <a:solidFill>
                            <a:srgbClr val="172C42"/>
                          </a:solidFill>
                          <a:latin typeface="Arial"/>
                          <a:ea typeface="Arial"/>
                          <a:cs typeface="Arial"/>
                        </a:rPr>
                        <a:t>y = 895</a:t>
                      </a:r>
                    </a:p>
                  </a:txBody>
                  <a:tcPr marL="114300" marR="114300" marT="76200" marB="76200">
                    <a:solidFill>
                      <a:srgbClr val="FFFFFF"/>
                    </a:solidFill>
                  </a:tcPr>
                </a:tc>
              </a:tr>
              <a:tr h="742950">
                <a:tc>
                  <a:txBody>
                    <a:bodyPr/>
                    <a:lstStyle/>
                    <a:p>
                      <a:r>
                        <a:rPr sz="1800">
                          <a:solidFill>
                            <a:srgbClr val="172C42"/>
                          </a:solidFill>
                          <a:latin typeface="Arial"/>
                          <a:ea typeface="Arial"/>
                          <a:cs typeface="Arial"/>
                        </a:rPr>
                        <a:t>Overlapping packed field</a:t>
                      </a:r>
                    </a:p>
                  </a:txBody>
                  <a:tcPr marL="114300" marR="114300" marT="76200" marB="76200">
                    <a:solidFill>
                      <a:srgbClr val="FFFFFF"/>
                    </a:solidFill>
                  </a:tcPr>
                </a:tc>
                <a:tc>
                  <a:txBody>
                    <a:bodyPr/>
                    <a:lstStyle/>
                    <a:p>
                      <a:r>
                        <a:rPr sz="1800">
                          <a:solidFill>
                            <a:srgbClr val="172C42"/>
                          </a:solidFill>
                          <a:latin typeface="Arial"/>
                          <a:ea typeface="Arial"/>
                          <a:cs typeface="Arial"/>
                        </a:rPr>
                        <a:t>quotient byte 255</a:t>
                      </a:r>
                    </a:p>
                  </a:txBody>
                  <a:tcPr marL="114300" marR="114300" marT="76200" marB="76200">
                    <a:solidFill>
                      <a:srgbClr val="FFFFFF"/>
                    </a:solidFill>
                  </a:tcPr>
                </a:tc>
                <a:tc>
                  <a:txBody>
                    <a:bodyPr/>
                    <a:lstStyle/>
                    <a:p>
                      <a:r>
                        <a:rPr sz="1800">
                          <a:solidFill>
                            <a:srgbClr val="172C42"/>
                          </a:solidFill>
                          <a:latin typeface="Arial"/>
                          <a:ea typeface="Arial"/>
                          <a:cs typeface="Arial"/>
                        </a:rPr>
                        <a:t>upper field 894</a:t>
                      </a:r>
                    </a:p>
                  </a:txBody>
                  <a:tcPr marL="114300" marR="114300" marT="76200" marB="76200">
                    <a:solidFill>
                      <a:srgbClr val="FFFFFF"/>
                    </a:solidFill>
                  </a:tcPr>
                </a:tc>
              </a:tr>
              <a:tr h="742950">
                <a:tc>
                  <a:txBody>
                    <a:bodyPr/>
                    <a:lstStyle/>
                    <a:p>
                      <a:r>
                        <a:rPr sz="1800">
                          <a:solidFill>
                            <a:srgbClr val="172C42"/>
                          </a:solidFill>
                          <a:latin typeface="Arial"/>
                          <a:ea typeface="Arial"/>
                          <a:cs typeface="Arial"/>
                        </a:rPr>
                        <a:t>Exact correction</a:t>
                      </a:r>
                    </a:p>
                  </a:txBody>
                  <a:tcPr marL="114300" marR="114300" marT="76200" marB="76200">
                    <a:solidFill>
                      <a:srgbClr val="FFFFFF"/>
                    </a:solidFill>
                  </a:tcPr>
                </a:tc>
                <a:tc>
                  <a:txBody>
                    <a:bodyPr/>
                    <a:lstStyle/>
                    <a:p>
                      <a:r>
                        <a:rPr sz="1800">
                          <a:solidFill>
                            <a:srgbClr val="172C42"/>
                          </a:solidFill>
                          <a:latin typeface="Arial"/>
                          <a:ea typeface="Arial"/>
                          <a:cs typeface="Arial"/>
                        </a:rPr>
                        <a:t>255 − 256 = −1</a:t>
                      </a:r>
                    </a:p>
                  </a:txBody>
                  <a:tcPr marL="114300" marR="114300" marT="76200" marB="76200">
                    <a:solidFill>
                      <a:srgbClr val="FFFFFF"/>
                    </a:solidFill>
                  </a:tcPr>
                </a:tc>
                <a:tc>
                  <a:txBody>
                    <a:bodyPr/>
                    <a:lstStyle/>
                    <a:p>
                      <a:r>
                        <a:rPr sz="1800">
                          <a:solidFill>
                            <a:srgbClr val="172C42"/>
                          </a:solidFill>
                          <a:latin typeface="Arial"/>
                          <a:ea typeface="Arial"/>
                          <a:cs typeface="Arial"/>
                        </a:rPr>
                        <a:t>no byte crossing, result 3</a:t>
                      </a:r>
                    </a:p>
                  </a:txBody>
                  <a:tcPr marL="114300" marR="114300" marT="76200" marB="76200">
                    <a:solidFill>
                      <a:srgbClr val="FFFFFF"/>
                    </a:solidFill>
                  </a:tcPr>
                </a:tc>
              </a:tr>
              <a:tr h="742950">
                <a:tc>
                  <a:txBody>
                    <a:bodyPr/>
                    <a:lstStyle/>
                    <a:p>
                      <a:r>
                        <a:rPr sz="1800">
                          <a:solidFill>
                            <a:srgbClr val="172C42"/>
                          </a:solidFill>
                          <a:latin typeface="Arial"/>
                          <a:ea typeface="Arial"/>
                          <a:cs typeface="Arial"/>
                        </a:rPr>
                        <a:t>Independent integer reference</a:t>
                      </a:r>
                    </a:p>
                  </a:txBody>
                  <a:tcPr marL="114300" marR="114300" marT="76200" marB="76200">
                    <a:solidFill>
                      <a:srgbClr val="FFFFFF"/>
                    </a:solidFill>
                  </a:tcPr>
                </a:tc>
                <a:tc>
                  <a:txBody>
                    <a:bodyPr/>
                    <a:lstStyle/>
                    <a:p>
                      <a:r>
                        <a:rPr sz="1800">
                          <a:solidFill>
                            <a:srgbClr val="172C42"/>
                          </a:solidFill>
                          <a:latin typeface="Arial"/>
                          <a:ea typeface="Arial"/>
                          <a:cs typeface="Arial"/>
                        </a:rPr>
                        <a:t>ceil(−384/256) = −1</a:t>
                      </a:r>
                    </a:p>
                  </a:txBody>
                  <a:tcPr marL="114300" marR="114300" marT="76200" marB="76200">
                    <a:solidFill>
                      <a:srgbClr val="FFFFFF"/>
                    </a:solidFill>
                  </a:tcPr>
                </a:tc>
                <a:tc>
                  <a:txBody>
                    <a:bodyPr/>
                    <a:lstStyle/>
                    <a:p>
                      <a:r>
                        <a:rPr sz="1800">
                          <a:solidFill>
                            <a:srgbClr val="172C42"/>
                          </a:solidFill>
                          <a:latin typeface="Arial"/>
                          <a:ea typeface="Arial"/>
                          <a:cs typeface="Arial"/>
                        </a:rPr>
                        <a:t>ceil(640/256) = 3</a:t>
                      </a:r>
                    </a:p>
                  </a:txBody>
                  <a:tcPr marL="114300" marR="114300" marT="76200" marB="7620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5EFA2EC4-1A89-40ED-86AD-4EF8F134B59D}"/>
              </a:ext>
            </a:extLst>
          </p:cNvPr>
          <p:cNvSpPr>
            <a:spLocks xmlns:a="http://schemas.openxmlformats.org/drawingml/2006/main" noGrp="1"/>
          </p:cNvSpPr>
          <p:nvPr/>
        </p:nvSpPr>
        <p:spPr>
          <a:xfrm xmlns:a="http://schemas.openxmlformats.org/drawingml/2006/main">
            <a:off x="704850" y="5962650"/>
            <a:ext cx="1028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00" b="0">
                <a:solidFill>
                  <a:srgbClr val="536573"/>
                </a:solidFill>
                <a:latin typeface="Arial"/>
                <a:ea typeface="Arial"/>
                <a:cs typeface="Arial"/>
              </a:defRPr>
            </a:defPPr>
          </a:lstStyle>
          <a:p xmlns:a="http://schemas.openxmlformats.org/drawingml/2006/main">
            <a:pPr>
              <a:defRPr sz="1500" b="0">
                <a:solidFill>
                  <a:srgbClr val="536573"/>
                </a:solidFill>
                <a:latin typeface="Arial"/>
                <a:ea typeface="Arial"/>
                <a:cs typeface="Arial"/>
              </a:defRPr>
            </a:pPr>
            <a:r>
              <a:rPr sz="1500" b="0">
                <a:solidFill>
                  <a:srgbClr val="536573"/>
                </a:solidFill>
                <a:latin typeface="Arial"/>
                <a:ea typeface="Arial"/>
                <a:cs typeface="Arial"/>
              </a:rPr>
              <a:t>The recovered borrow corrects the signed lower lane exactly</a:t>
            </a:r>
          </a:p>
        </p:txBody>
      </p:sp>
    </p:spTree>
    <p:extLst>
      <p:ext uri="{BB962C8B-B14F-4D97-AF65-F5344CB8AC3E}">
        <p14:creationId xmlns:p14="http://schemas.microsoft.com/office/powerpoint/2010/main" val="284736556"/>
      </p:ext>
    </p:extLst>
  </p:cSld>
</p:sld>
</file>

<file path=ppt/slides/slide9.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6E57D08-38BF-424F-A1F1-69EA5AA8B009}"/>
              </a:ext>
            </a:extLst>
          </p:cNvPr>
          <p:cNvSpPr>
            <a:spLocks xmlns:a="http://schemas.openxmlformats.org/drawingml/2006/main" noGrp="1"/>
          </p:cNvSpPr>
          <p:nvPr/>
        </p:nvSpPr>
        <p:spPr>
          <a:xfrm xmlns:a="http://schemas.openxmlformats.org/drawingml/2006/main">
            <a:off x="628650" y="438150"/>
            <a:ext cx="109347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3300" b="1">
                <a:solidFill>
                  <a:srgbClr val="172C42"/>
                </a:solidFill>
                <a:latin typeface="Arial"/>
                <a:ea typeface="Arial"/>
                <a:cs typeface="Arial"/>
              </a:defRPr>
            </a:defPPr>
          </a:lstStyle>
          <a:p xmlns:a="http://schemas.openxmlformats.org/drawingml/2006/main">
            <a:pPr>
              <a:defRPr sz="3300" b="1">
                <a:solidFill>
                  <a:srgbClr val="172C42"/>
                </a:solidFill>
                <a:latin typeface="Arial"/>
                <a:ea typeface="Arial"/>
                <a:cs typeface="Arial"/>
              </a:defRPr>
            </a:pPr>
            <a:r>
              <a:rPr sz="3300" b="1">
                <a:solidFill>
                  <a:srgbClr val="172C42"/>
                </a:solidFill>
                <a:latin typeface="Arial"/>
                <a:ea typeface="Arial"/>
                <a:cs typeface="Arial"/>
              </a:rPr>
              <a:t>A byte-boundary correction and wide fallback</a:t>
            </a:r>
          </a:p>
        </p:txBody>
      </p:sp>
      <p:sp>
        <p:nvSpPr>
          <p:cNvPr id="2" name="">
            <a:extLst xmlns:a="http://schemas.openxmlformats.org/drawingml/2006/main">
              <a:ext uri="{FF2B5EF4-FFF2-40B4-BE49-F238E27FC236}">
                <a16:creationId xmlns:a16="http://schemas.microsoft.com/office/drawing/2014/main" id="{660C857C-78D3-46CD-907E-D27978DA66A3}"/>
              </a:ext>
            </a:extLst>
          </p:cNvPr>
          <p:cNvSpPr>
            <a:spLocks xmlns:a="http://schemas.openxmlformats.org/drawingml/2006/main" noGrp="1"/>
          </p:cNvSpPr>
          <p:nvPr/>
        </p:nvSpPr>
        <p:spPr>
          <a:xfrm xmlns:a="http://schemas.openxmlformats.org/drawingml/2006/main">
            <a:off x="11106150" y="63436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0">
                <a:solidFill>
                  <a:srgbClr val="536573"/>
                </a:solidFill>
                <a:latin typeface="Arial"/>
                <a:ea typeface="Arial"/>
                <a:cs typeface="Arial"/>
              </a:defRPr>
            </a:defPPr>
          </a:lstStyle>
          <a:p xmlns:a="http://schemas.openxmlformats.org/drawingml/2006/main">
            <a:pPr>
              <a:defRPr sz="1350" b="0">
                <a:solidFill>
                  <a:srgbClr val="536573"/>
                </a:solidFill>
                <a:latin typeface="Arial"/>
                <a:ea typeface="Arial"/>
                <a:cs typeface="Arial"/>
              </a:defRPr>
            </a:pPr>
            <a:r>
              <a:rPr sz="1350" b="0">
                <a:solidFill>
                  <a:srgbClr val="536573"/>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AE7F2CFD-E0A6-4789-85FA-FBE4B0AD6F18}"/>
              </a:ext>
            </a:extLst>
          </p:cNvPr>
          <p:cNvSpPr>
            <a:spLocks xmlns:a="http://schemas.openxmlformats.org/drawingml/2006/main" noGrp="1"/>
          </p:cNvSpPr>
          <p:nvPr/>
        </p:nvSpPr>
        <p:spPr>
          <a:xfrm xmlns:a="http://schemas.openxmlformats.org/drawingml/2006/main">
            <a:off x="704850" y="17335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775" b="1">
                <a:solidFill>
                  <a:srgbClr val="007E87"/>
                </a:solidFill>
                <a:latin typeface="Arial"/>
                <a:ea typeface="Arial"/>
                <a:cs typeface="Arial"/>
              </a:defRPr>
            </a:defPPr>
          </a:lstStyle>
          <a:p xmlns:a="http://schemas.openxmlformats.org/drawingml/2006/main">
            <a:pPr>
              <a:defRPr sz="2775" b="1">
                <a:solidFill>
                  <a:srgbClr val="007E87"/>
                </a:solidFill>
                <a:latin typeface="Arial"/>
                <a:ea typeface="Arial"/>
                <a:cs typeface="Arial"/>
              </a:defRPr>
            </a:pPr>
            <a:r>
              <a:rPr sz="2775" b="1">
                <a:solidFill>
                  <a:srgbClr val="007E87"/>
                </a:solidFill>
                <a:latin typeface="Arial"/>
                <a:ea typeface="Arial"/>
                <a:cs typeface="Arial"/>
              </a:rPr>
              <a:t>Pair: u₀ = −256, u₁ = 1, β = 1</a:t>
            </a:r>
          </a:p>
        </p:txBody>
      </p:sp>
      <p:sp>
        <p:nvSpPr>
          <p:cNvPr id="4" name="">
            <a:extLst xmlns:a="http://schemas.openxmlformats.org/drawingml/2006/main">
              <a:ext uri="{FF2B5EF4-FFF2-40B4-BE49-F238E27FC236}">
                <a16:creationId xmlns:a16="http://schemas.microsoft.com/office/drawing/2014/main" id="{D9E869B1-6DA1-43B2-AF24-DC5BE4E3ACB4}"/>
              </a:ext>
            </a:extLst>
          </p:cNvPr>
          <p:cNvSpPr>
            <a:spLocks xmlns:a="http://schemas.openxmlformats.org/drawingml/2006/main" noGrp="1"/>
          </p:cNvSpPr>
          <p:nvPr/>
        </p:nvSpPr>
        <p:spPr>
          <a:xfrm xmlns:a="http://schemas.openxmlformats.org/drawingml/2006/main">
            <a:off x="704850" y="2686050"/>
            <a:ext cx="10668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250" b="0">
                <a:solidFill>
                  <a:srgbClr val="172C42"/>
                </a:solidFill>
                <a:latin typeface="Arial"/>
                <a:ea typeface="Arial"/>
                <a:cs typeface="Arial"/>
              </a:defRPr>
            </a:defPPr>
          </a:lstStyle>
          <a:p xmlns:a="http://schemas.openxmlformats.org/drawingml/2006/main">
            <a:pPr>
              <a:defRPr sz="2250" b="0">
                <a:solidFill>
                  <a:srgbClr val="172C42"/>
                </a:solidFill>
                <a:latin typeface="Arial"/>
                <a:ea typeface="Arial"/>
                <a:cs typeface="Arial"/>
              </a:defRPr>
            </a:pPr>
            <a:r>
              <a:rPr sz="2250" b="0">
                <a:solidFill>
                  <a:srgbClr val="172C42"/>
                </a:solidFill>
                <a:latin typeface="Arial"/>
                <a:ea typeface="Arial"/>
                <a:cs typeface="Arial"/>
              </a:rPr>
              <a:t>The borrow turns upper field 256 into 255</a:t>
            </a:r>
          </a:p>
          <a:p xmlns:a="http://schemas.openxmlformats.org/drawingml/2006/main">
            <a:pPr>
              <a:defRPr sz="2250" b="0">
                <a:solidFill>
                  <a:srgbClr val="172C42"/>
                </a:solidFill>
                <a:latin typeface="Arial"/>
                <a:ea typeface="Arial"/>
                <a:cs typeface="Arial"/>
              </a:defRPr>
            </a:pPr>
            <a:r>
              <a:rPr sz="2250" b="0">
                <a:solidFill>
                  <a:srgbClr val="172C42"/>
                </a:solidFill>
                <a:latin typeface="Arial"/>
                <a:ea typeface="Arial"/>
                <a:cs typeface="Arial"/>
              </a:rPr>
              <a:t>Restoring it changes the upper quotient 0 into 1</a:t>
            </a:r>
          </a:p>
          <a:p xmlns:a="http://schemas.openxmlformats.org/drawingml/2006/main">
            <a:pPr>
              <a:defRPr sz="2250" b="0">
                <a:solidFill>
                  <a:srgbClr val="172C42"/>
                </a:solidFill>
                <a:latin typeface="Arial"/>
                <a:ea typeface="Arial"/>
                <a:cs typeface="Arial"/>
              </a:defRPr>
            </a:pPr>
            <a:r>
              <a:rPr sz="2250" b="0">
                <a:solidFill>
                  <a:srgbClr val="172C42"/>
                </a:solidFill>
                <a:latin typeface="Arial"/>
                <a:ea typeface="Arial"/>
                <a:cs typeface="Arial"/>
              </a:rPr>
              <a:t>Exact pair output: (−1, 1)</a:t>
            </a:r>
          </a:p>
        </p:txBody>
      </p:sp>
      <p:sp>
        <p:nvSpPr>
          <p:cNvPr id="5" name="">
            <a:extLst xmlns:a="http://schemas.openxmlformats.org/drawingml/2006/main">
              <a:ext uri="{FF2B5EF4-FFF2-40B4-BE49-F238E27FC236}">
                <a16:creationId xmlns:a16="http://schemas.microsoft.com/office/drawing/2014/main" id="{0407C526-BA76-4178-A07F-6E5F7240F841}"/>
              </a:ext>
            </a:extLst>
          </p:cNvPr>
          <p:cNvSpPr>
            <a:spLocks xmlns:a="http://schemas.openxmlformats.org/drawingml/2006/main" noGrp="1"/>
          </p:cNvSpPr>
          <p:nvPr/>
        </p:nvSpPr>
        <p:spPr>
          <a:xfrm xmlns:a="http://schemas.openxmlformats.org/drawingml/2006/main">
            <a:off x="704850" y="5162550"/>
            <a:ext cx="10572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250" b="1">
                <a:solidFill>
                  <a:srgbClr val="B06018"/>
                </a:solidFill>
                <a:latin typeface="Arial"/>
                <a:ea typeface="Arial"/>
                <a:cs typeface="Arial"/>
              </a:defRPr>
            </a:defPPr>
          </a:lstStyle>
          <a:p xmlns:a="http://schemas.openxmlformats.org/drawingml/2006/main">
            <a:pPr>
              <a:defRPr sz="2250" b="1">
                <a:solidFill>
                  <a:srgbClr val="B06018"/>
                </a:solidFill>
                <a:latin typeface="Arial"/>
                <a:ea typeface="Arial"/>
                <a:cs typeface="Arial"/>
              </a:defRPr>
            </a:pPr>
            <a:r>
              <a:rPr sz="2250" b="1">
                <a:solidFill>
                  <a:srgbClr val="B06018"/>
                </a:solidFill>
                <a:latin typeface="Arial"/>
                <a:ea typeface="Arial"/>
                <a:cs typeface="Arial"/>
              </a:rPr>
              <a:t>Wide singleton: U = 381, β = 78 gives 117</a:t>
            </a:r>
          </a:p>
          <a:p xmlns:a="http://schemas.openxmlformats.org/drawingml/2006/main">
            <a:pPr>
              <a:defRPr sz="2250" b="1">
                <a:solidFill>
                  <a:srgbClr val="B06018"/>
                </a:solidFill>
                <a:latin typeface="Arial"/>
                <a:ea typeface="Arial"/>
                <a:cs typeface="Arial"/>
              </a:defRPr>
            </a:pPr>
            <a:r>
              <a:rPr sz="2250" b="1">
                <a:solidFill>
                  <a:srgbClr val="B06018"/>
                </a:solidFill>
                <a:latin typeface="Arial"/>
                <a:ea typeface="Arial"/>
                <a:cs typeface="Arial"/>
              </a:rPr>
              <a:t>Unsafe signed9 wrapping would give −39</a:t>
            </a:r>
          </a:p>
        </p:txBody>
      </p:sp>
    </p:spTree>
    <p:extLst>
      <p:ext uri="{BB962C8B-B14F-4D97-AF65-F5344CB8AC3E}">
        <p14:creationId xmlns:p14="http://schemas.microsoft.com/office/powerpoint/2010/main" val="427459870"/>
      </p:ext>
    </p:extLst>
  </p:cSld>
</p:sld>
</file>

<file path=ppt/slides/slide10.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cxnSp>
        <p:nvCxnSpPr>
          <p:cNvPr id="12" name="">
            <a:extLst xmlns:a="http://schemas.openxmlformats.org/drawingml/2006/main">
              <a:ext uri="{FF2B5EF4-FFF2-40B4-BE49-F238E27FC236}">
                <a16:creationId xmlns:a16="http://schemas.microsoft.com/office/drawing/2014/main" id="{42E6E163-872F-451B-959D-019AEFF0235E}"/>
              </a:ext>
            </a:extLst>
          </p:cNvPr>
          <p:cNvCxnSpPr>
            <a:stCxn xmlns:a="http://schemas.openxmlformats.org/drawingml/2006/main" id="4" idx="1"/>
            <a:endCxn xmlns:a="http://schemas.openxmlformats.org/drawingml/2006/main" id="3" idx="3"/>
          </p:cNvCxnSpPr>
          <p:nvPr/>
        </p:nvCxnSpPr>
        <p:spPr>
          <a:xfrm xmlns:a="http://schemas.openxmlformats.org/drawingml/2006/main" flipH="1">
            <a:off x="2971800" y="2476500"/>
            <a:ext cx="666750" cy="0"/>
          </a:xfrm>
          <a:prstGeom xmlns:a="http://schemas.openxmlformats.org/drawingml/2006/main" prst="straightConnector1">
            <a:avLst/>
          </a:prstGeom>
          <a:ln xmlns:a="http://schemas.openxmlformats.org/drawingml/2006/main" w="19050">
            <a:solidFill>
              <a:srgbClr val="007E87"/>
            </a:solidFill>
            <a:tailEnd type="triangle" w="sm" len="sm"/>
          </a:ln>
        </p:spPr>
      </p:cxnSp>
      <p:cxnSp>
        <p:nvCxnSpPr>
          <p:cNvPr id="11" name="">
            <a:extLst xmlns:a="http://schemas.openxmlformats.org/drawingml/2006/main">
              <a:ext uri="{FF2B5EF4-FFF2-40B4-BE49-F238E27FC236}">
                <a16:creationId xmlns:a16="http://schemas.microsoft.com/office/drawing/2014/main" id="{2ECB7657-E8B3-4726-BE44-3314D5575F78}"/>
              </a:ext>
            </a:extLst>
          </p:cNvPr>
          <p:cNvCxnSpPr>
            <a:stCxn xmlns:a="http://schemas.openxmlformats.org/drawingml/2006/main" id="6" idx="1"/>
            <a:endCxn xmlns:a="http://schemas.openxmlformats.org/drawingml/2006/main" id="7" idx="3"/>
          </p:cNvCxnSpPr>
          <p:nvPr/>
        </p:nvCxnSpPr>
        <p:spPr>
          <a:xfrm xmlns:a="http://schemas.openxmlformats.org/drawingml/2006/main" flipH="1">
            <a:off x="6057900" y="4591050"/>
            <a:ext cx="800100" cy="0"/>
          </a:xfrm>
          <a:prstGeom xmlns:a="http://schemas.openxmlformats.org/drawingml/2006/main" prst="straightConnector1">
            <a:avLst/>
          </a:prstGeom>
          <a:ln xmlns:a="http://schemas.openxmlformats.org/drawingml/2006/main" w="19050">
            <a:solidFill>
              <a:srgbClr val="007E87"/>
            </a:solidFill>
            <a:tailEnd type="triangle" w="sm" len="sm"/>
          </a:ln>
        </p:spPr>
      </p:cxnSp>
      <p:cxnSp>
        <p:nvCxnSpPr>
          <p:cNvPr id="10" name="">
            <a:extLst xmlns:a="http://schemas.openxmlformats.org/drawingml/2006/main">
              <a:ext uri="{FF2B5EF4-FFF2-40B4-BE49-F238E27FC236}">
                <a16:creationId xmlns:a16="http://schemas.microsoft.com/office/drawing/2014/main" id="{2E480FAC-B4F0-4BBC-9610-D518802CFB8F}"/>
              </a:ext>
            </a:extLst>
          </p:cNvPr>
          <p:cNvCxnSpPr>
            <a:stCxn xmlns:a="http://schemas.openxmlformats.org/drawingml/2006/main" id="5" idx="2"/>
            <a:endCxn xmlns:a="http://schemas.openxmlformats.org/drawingml/2006/main" id="6" idx="0"/>
          </p:cNvCxnSpPr>
          <p:nvPr/>
        </p:nvCxnSpPr>
        <p:spPr>
          <a:xfrm xmlns:a="http://schemas.openxmlformats.org/drawingml/2006/main">
            <a:off x="8096250" y="2952750"/>
            <a:ext cx="0" cy="1162050"/>
          </a:xfrm>
          <a:prstGeom xmlns:a="http://schemas.openxmlformats.org/drawingml/2006/main" prst="straightConnector1">
            <a:avLst/>
          </a:prstGeom>
          <a:ln xmlns:a="http://schemas.openxmlformats.org/drawingml/2006/main" w="19050">
            <a:solidFill>
              <a:srgbClr val="007E87"/>
            </a:solidFill>
            <a:tailEnd type="triangle" w="sm" len="sm"/>
          </a:ln>
        </p:spPr>
      </p:cxnSp>
      <p:cxnSp>
        <p:nvCxnSpPr>
          <p:cNvPr id="9" name="">
            <a:extLst xmlns:a="http://schemas.openxmlformats.org/drawingml/2006/main">
              <a:ext uri="{FF2B5EF4-FFF2-40B4-BE49-F238E27FC236}">
                <a16:creationId xmlns:a16="http://schemas.microsoft.com/office/drawing/2014/main" id="{E128BFA2-BC62-48BB-9F7A-1578372D2DAC}"/>
              </a:ext>
            </a:extLst>
          </p:cNvPr>
          <p:cNvCxnSpPr>
            <a:stCxn xmlns:a="http://schemas.openxmlformats.org/drawingml/2006/main" id="4" idx="3"/>
            <a:endCxn xmlns:a="http://schemas.openxmlformats.org/drawingml/2006/main" id="5" idx="1"/>
          </p:cNvCxnSpPr>
          <p:nvPr/>
        </p:nvCxnSpPr>
        <p:spPr>
          <a:xfrm xmlns:a="http://schemas.openxmlformats.org/drawingml/2006/main">
            <a:off x="6057900" y="2476500"/>
            <a:ext cx="800100" cy="0"/>
          </a:xfrm>
          <a:prstGeom xmlns:a="http://schemas.openxmlformats.org/drawingml/2006/main" prst="straightConnector1">
            <a:avLst/>
          </a:prstGeom>
          <a:ln xmlns:a="http://schemas.openxmlformats.org/drawingml/2006/main" w="19050">
            <a:solidFill>
              <a:srgbClr val="007E87"/>
            </a:solidFill>
            <a:tailEnd type="triangle" w="sm" len="sm"/>
          </a:ln>
        </p:spPr>
      </p:cxnSp>
      <p:cxnSp>
        <p:nvCxnSpPr>
          <p:cNvPr id="8" name="">
            <a:extLst xmlns:a="http://schemas.openxmlformats.org/drawingml/2006/main">
              <a:ext uri="{FF2B5EF4-FFF2-40B4-BE49-F238E27FC236}">
                <a16:creationId xmlns:a16="http://schemas.microsoft.com/office/drawing/2014/main" id="{CB41EB60-DDEF-45B7-A2DD-1D6509736CB0}"/>
              </a:ext>
            </a:extLst>
          </p:cNvPr>
          <p:cNvCxnSpPr>
            <a:stCxn xmlns:a="http://schemas.openxmlformats.org/drawingml/2006/main" id="3" idx="3"/>
            <a:endCxn xmlns:a="http://schemas.openxmlformats.org/drawingml/2006/main" id="4" idx="1"/>
          </p:cNvCxnSpPr>
          <p:nvPr/>
        </p:nvCxnSpPr>
        <p:spPr>
          <a:xfrm xmlns:a="http://schemas.openxmlformats.org/drawingml/2006/main">
            <a:off x="2971800" y="2476500"/>
            <a:ext cx="666750" cy="0"/>
          </a:xfrm>
          <a:prstGeom xmlns:a="http://schemas.openxmlformats.org/drawingml/2006/main" prst="straightConnector1">
            <a:avLst/>
          </a:prstGeom>
          <a:ln xmlns:a="http://schemas.openxmlformats.org/drawingml/2006/main" w="19050">
            <a:solidFill>
              <a:srgbClr val="007E87"/>
            </a:solidFill>
            <a:tailEnd type="triangle" w="sm" len="sm"/>
          </a:ln>
        </p:spPr>
      </p:cxnSp>
      <p:sp>
        <p:nvSpPr>
          <p:cNvPr id="15" name="">
            <a:extLst xmlns:a="http://schemas.openxmlformats.org/drawingml/2006/main">
              <a:ext uri="{FF2B5EF4-FFF2-40B4-BE49-F238E27FC236}">
                <a16:creationId xmlns:a16="http://schemas.microsoft.com/office/drawing/2014/main" id="{389D4D41-DDA8-412C-946D-F4DC61C238B8}"/>
              </a:ext>
            </a:extLst>
          </p:cNvPr>
          <p:cNvSpPr>
            <a:spLocks xmlns:a="http://schemas.openxmlformats.org/drawingml/2006/main" noGrp="1"/>
          </p:cNvSpPr>
          <p:nvPr/>
        </p:nvSpPr>
        <p:spPr>
          <a:xfrm xmlns:a="http://schemas.openxmlformats.org/drawingml/2006/main">
            <a:off x="628650" y="438150"/>
            <a:ext cx="109347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3300" b="1">
                <a:solidFill>
                  <a:srgbClr val="172C42"/>
                </a:solidFill>
                <a:latin typeface="Arial"/>
                <a:ea typeface="Arial"/>
                <a:cs typeface="Arial"/>
              </a:defRPr>
            </a:defPPr>
          </a:lstStyle>
          <a:p xmlns:a="http://schemas.openxmlformats.org/drawingml/2006/main">
            <a:pPr>
              <a:defRPr sz="3300" b="1">
                <a:solidFill>
                  <a:srgbClr val="172C42"/>
                </a:solidFill>
                <a:latin typeface="Arial"/>
                <a:ea typeface="Arial"/>
                <a:cs typeface="Arial"/>
              </a:defRPr>
            </a:pPr>
            <a:r>
              <a:rPr sz="3300" b="1">
                <a:solidFill>
                  <a:srgbClr val="172C42"/>
                </a:solidFill>
                <a:latin typeface="Arial"/>
                <a:ea typeface="Arial"/>
                <a:cs typeface="Arial"/>
              </a:rPr>
              <a:t>Counted core and external source</a:t>
            </a:r>
          </a:p>
        </p:txBody>
      </p:sp>
      <p:sp>
        <p:nvSpPr>
          <p:cNvPr id="2" name="">
            <a:extLst xmlns:a="http://schemas.openxmlformats.org/drawingml/2006/main">
              <a:ext uri="{FF2B5EF4-FFF2-40B4-BE49-F238E27FC236}">
                <a16:creationId xmlns:a16="http://schemas.microsoft.com/office/drawing/2014/main" id="{E376F7F0-A15B-484C-855C-C97AF163A620}"/>
              </a:ext>
            </a:extLst>
          </p:cNvPr>
          <p:cNvSpPr>
            <a:spLocks xmlns:a="http://schemas.openxmlformats.org/drawingml/2006/main" noGrp="1"/>
          </p:cNvSpPr>
          <p:nvPr/>
        </p:nvSpPr>
        <p:spPr>
          <a:xfrm xmlns:a="http://schemas.openxmlformats.org/drawingml/2006/main">
            <a:off x="11106150" y="63436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0">
                <a:solidFill>
                  <a:srgbClr val="536573"/>
                </a:solidFill>
                <a:latin typeface="Arial"/>
                <a:ea typeface="Arial"/>
                <a:cs typeface="Arial"/>
              </a:defRPr>
            </a:defPPr>
          </a:lstStyle>
          <a:p xmlns:a="http://schemas.openxmlformats.org/drawingml/2006/main">
            <a:pPr>
              <a:defRPr sz="1350" b="0">
                <a:solidFill>
                  <a:srgbClr val="536573"/>
                </a:solidFill>
                <a:latin typeface="Arial"/>
                <a:ea typeface="Arial"/>
                <a:cs typeface="Arial"/>
              </a:defRPr>
            </a:pPr>
            <a:r>
              <a:rPr sz="1350" b="0">
                <a:solidFill>
                  <a:srgbClr val="536573"/>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6B4C8FD3-433A-47CD-AC3F-C4353671104E}"/>
              </a:ext>
            </a:extLst>
          </p:cNvPr>
          <p:cNvSpPr>
            <a:spLocks xmlns:a="http://schemas.openxmlformats.org/drawingml/2006/main" noGrp="1"/>
          </p:cNvSpPr>
          <p:nvPr/>
        </p:nvSpPr>
        <p:spPr>
          <a:xfrm xmlns:a="http://schemas.openxmlformats.org/drawingml/2006/main">
            <a:off x="685800" y="2000250"/>
            <a:ext cx="2286000" cy="952500"/>
          </a:xfrm>
          <a:prstGeom xmlns:a="http://schemas.openxmlformats.org/drawingml/2006/main" prst="rect">
            <a:avLst/>
          </a:prstGeom>
          <a:solidFill xmlns:a="http://schemas.openxmlformats.org/drawingml/2006/main">
            <a:srgbClr val="FFFFFF"/>
          </a:solidFill>
          <a:ln xmlns:a="http://schemas.openxmlformats.org/drawingml/2006/main" w="19050">
            <a:solidFill>
              <a:srgbClr val="536573"/>
            </a:solidFill>
          </a:ln>
        </p:spPr>
        <p:txBody>
          <a:bodyPr xmlns:a="http://schemas.openxmlformats.org/drawingml/2006/main" anchor="ctr"/>
          <a:lstStyle xmlns:a="http://schemas.openxmlformats.org/drawingml/2006/main">
            <a:defPPr algn="ctr">
              <a:defRPr sz="1875" b="0">
                <a:solidFill>
                  <a:srgbClr val="172C42"/>
                </a:solidFill>
                <a:latin typeface="Arial"/>
                <a:ea typeface="Arial"/>
                <a:cs typeface="Arial"/>
              </a:defRPr>
            </a:defPPr>
          </a:lstStyle>
          <a:p xmlns:a="http://schemas.openxmlformats.org/drawingml/2006/main">
            <a:pPr algn="ctr">
              <a:defRPr sz="1875" b="0">
                <a:solidFill>
                  <a:srgbClr val="172C42"/>
                </a:solidFill>
                <a:latin typeface="Arial"/>
                <a:ea typeface="Arial"/>
                <a:cs typeface="Arial"/>
              </a:defRPr>
            </a:pPr>
            <a:r>
              <a:rPr sz="1875" b="0">
                <a:solidFill>
                  <a:srgbClr val="172C42"/>
                </a:solidFill>
                <a:latin typeface="Arial"/>
                <a:ea typeface="Arial"/>
                <a:cs typeface="Arial"/>
              </a:rPr>
              <a:t>External source</a:t>
            </a:r>
          </a:p>
          <a:p xmlns:a="http://schemas.openxmlformats.org/drawingml/2006/main">
            <a:pPr algn="ctr">
              <a:defRPr sz="1875" b="0">
                <a:solidFill>
                  <a:srgbClr val="172C42"/>
                </a:solidFill>
                <a:latin typeface="Arial"/>
                <a:ea typeface="Arial"/>
                <a:cs typeface="Arial"/>
              </a:defRPr>
            </a:pPr>
            <a:r>
              <a:rPr sz="1875" b="0">
                <a:solidFill>
                  <a:srgbClr val="172C42"/>
                </a:solidFill>
                <a:latin typeface="Arial"/>
                <a:ea typeface="Arial"/>
                <a:cs typeface="Arial"/>
              </a:rPr>
              <a:t>and zero filter</a:t>
            </a:r>
          </a:p>
        </p:txBody>
      </p:sp>
      <p:sp>
        <p:nvSpPr>
          <p:cNvPr id="4" name="">
            <a:extLst xmlns:a="http://schemas.openxmlformats.org/drawingml/2006/main">
              <a:ext uri="{FF2B5EF4-FFF2-40B4-BE49-F238E27FC236}">
                <a16:creationId xmlns:a16="http://schemas.microsoft.com/office/drawing/2014/main" id="{9733A192-2AA4-46AE-AC50-EC78E88D8ABE}"/>
              </a:ext>
            </a:extLst>
          </p:cNvPr>
          <p:cNvSpPr>
            <a:spLocks xmlns:a="http://schemas.openxmlformats.org/drawingml/2006/main" noGrp="1"/>
          </p:cNvSpPr>
          <p:nvPr/>
        </p:nvSpPr>
        <p:spPr>
          <a:xfrm xmlns:a="http://schemas.openxmlformats.org/drawingml/2006/main">
            <a:off x="3638550" y="2000250"/>
            <a:ext cx="2419350" cy="952500"/>
          </a:xfrm>
          <a:prstGeom xmlns:a="http://schemas.openxmlformats.org/drawingml/2006/main" prst="rect">
            <a:avLst/>
          </a:prstGeom>
          <a:solidFill xmlns:a="http://schemas.openxmlformats.org/drawingml/2006/main">
            <a:srgbClr val="FFFFFF"/>
          </a:solidFill>
          <a:ln xmlns:a="http://schemas.openxmlformats.org/drawingml/2006/main" w="19050">
            <a:solidFill>
              <a:srgbClr val="007E87"/>
            </a:solidFill>
          </a:ln>
        </p:spPr>
        <p:txBody>
          <a:bodyPr xmlns:a="http://schemas.openxmlformats.org/drawingml/2006/main" anchor="ctr"/>
          <a:lstStyle xmlns:a="http://schemas.openxmlformats.org/drawingml/2006/main">
            <a:defPPr algn="ctr">
              <a:defRPr sz="1875" b="0">
                <a:solidFill>
                  <a:srgbClr val="172C42"/>
                </a:solidFill>
                <a:latin typeface="Arial"/>
                <a:ea typeface="Arial"/>
                <a:cs typeface="Arial"/>
              </a:defRPr>
            </a:defPPr>
          </a:lstStyle>
          <a:p xmlns:a="http://schemas.openxmlformats.org/drawingml/2006/main">
            <a:pPr algn="ctr">
              <a:defRPr sz="1875" b="0">
                <a:solidFill>
                  <a:srgbClr val="172C42"/>
                </a:solidFill>
                <a:latin typeface="Arial"/>
                <a:ea typeface="Arial"/>
                <a:cs typeface="Arial"/>
              </a:defRPr>
            </a:pPr>
            <a:r>
              <a:rPr sz="1875" b="0">
                <a:solidFill>
                  <a:srgbClr val="172C42"/>
                </a:solidFill>
                <a:latin typeface="Arial"/>
                <a:ea typeface="Arial"/>
                <a:cs typeface="Arial"/>
              </a:rPr>
              <a:t>Range + β tests</a:t>
            </a:r>
          </a:p>
          <a:p xmlns:a="http://schemas.openxmlformats.org/drawingml/2006/main">
            <a:pPr algn="ctr">
              <a:defRPr sz="1875" b="0">
                <a:solidFill>
                  <a:srgbClr val="172C42"/>
                </a:solidFill>
                <a:latin typeface="Arial"/>
                <a:ea typeface="Arial"/>
                <a:cs typeface="Arial"/>
              </a:defRPr>
            </a:pPr>
            <a:r>
              <a:rPr sz="1875" b="0">
                <a:solidFill>
                  <a:srgbClr val="172C42"/>
                </a:solidFill>
                <a:latin typeface="Arial"/>
                <a:ea typeface="Arial"/>
                <a:cs typeface="Arial"/>
              </a:rPr>
              <a:t>Pair / singleton</a:t>
            </a:r>
          </a:p>
        </p:txBody>
      </p:sp>
      <p:sp>
        <p:nvSpPr>
          <p:cNvPr id="5" name="">
            <a:extLst xmlns:a="http://schemas.openxmlformats.org/drawingml/2006/main">
              <a:ext uri="{FF2B5EF4-FFF2-40B4-BE49-F238E27FC236}">
                <a16:creationId xmlns:a16="http://schemas.microsoft.com/office/drawing/2014/main" id="{0780352A-432B-49D2-9154-654D0FAB360C}"/>
              </a:ext>
            </a:extLst>
          </p:cNvPr>
          <p:cNvSpPr>
            <a:spLocks xmlns:a="http://schemas.openxmlformats.org/drawingml/2006/main" noGrp="1"/>
          </p:cNvSpPr>
          <p:nvPr/>
        </p:nvSpPr>
        <p:spPr>
          <a:xfrm xmlns:a="http://schemas.openxmlformats.org/drawingml/2006/main">
            <a:off x="6858000" y="2000250"/>
            <a:ext cx="2476500" cy="952500"/>
          </a:xfrm>
          <a:prstGeom xmlns:a="http://schemas.openxmlformats.org/drawingml/2006/main" prst="rect">
            <a:avLst/>
          </a:prstGeom>
          <a:solidFill xmlns:a="http://schemas.openxmlformats.org/drawingml/2006/main">
            <a:srgbClr val="FFFFFF"/>
          </a:solidFill>
          <a:ln xmlns:a="http://schemas.openxmlformats.org/drawingml/2006/main" w="19050">
            <a:solidFill>
              <a:srgbClr val="007E87"/>
            </a:solidFill>
          </a:ln>
        </p:spPr>
        <p:txBody>
          <a:bodyPr xmlns:a="http://schemas.openxmlformats.org/drawingml/2006/main" anchor="ctr"/>
          <a:lstStyle xmlns:a="http://schemas.openxmlformats.org/drawingml/2006/main">
            <a:defPPr algn="ctr">
              <a:defRPr sz="1875" b="0">
                <a:solidFill>
                  <a:srgbClr val="172C42"/>
                </a:solidFill>
                <a:latin typeface="Arial"/>
                <a:ea typeface="Arial"/>
                <a:cs typeface="Arial"/>
              </a:defRPr>
            </a:defPPr>
          </a:lstStyle>
          <a:p xmlns:a="http://schemas.openxmlformats.org/drawingml/2006/main">
            <a:pPr algn="ctr">
              <a:defRPr sz="1875" b="0">
                <a:solidFill>
                  <a:srgbClr val="172C42"/>
                </a:solidFill>
                <a:latin typeface="Arial"/>
                <a:ea typeface="Arial"/>
                <a:cs typeface="Arial"/>
              </a:defRPr>
            </a:pPr>
            <a:r>
              <a:rPr sz="1875" b="0">
                <a:solidFill>
                  <a:srgbClr val="172C42"/>
                </a:solidFill>
                <a:latin typeface="Arial"/>
                <a:ea typeface="Arial"/>
                <a:cs typeface="Arial"/>
              </a:rPr>
              <a:t>One DSP48E1</a:t>
            </a:r>
          </a:p>
          <a:p xmlns:a="http://schemas.openxmlformats.org/drawingml/2006/main">
            <a:pPr algn="ctr">
              <a:defRPr sz="1875" b="0">
                <a:solidFill>
                  <a:srgbClr val="172C42"/>
                </a:solidFill>
                <a:latin typeface="Arial"/>
                <a:ea typeface="Arial"/>
                <a:cs typeface="Arial"/>
              </a:defRPr>
            </a:pPr>
            <a:r>
              <a:rPr sz="1875" b="0">
                <a:solidFill>
                  <a:srgbClr val="172C42"/>
                </a:solidFill>
                <a:latin typeface="Arial"/>
                <a:ea typeface="Arial"/>
                <a:cs typeface="Arial"/>
              </a:rPr>
              <a:t>registered result</a:t>
            </a:r>
          </a:p>
        </p:txBody>
      </p:sp>
      <p:sp>
        <p:nvSpPr>
          <p:cNvPr id="6" name="">
            <a:extLst xmlns:a="http://schemas.openxmlformats.org/drawingml/2006/main">
              <a:ext uri="{FF2B5EF4-FFF2-40B4-BE49-F238E27FC236}">
                <a16:creationId xmlns:a16="http://schemas.microsoft.com/office/drawing/2014/main" id="{B5614CB9-2F37-481F-81AF-B2572F603AD3}"/>
              </a:ext>
            </a:extLst>
          </p:cNvPr>
          <p:cNvSpPr>
            <a:spLocks xmlns:a="http://schemas.openxmlformats.org/drawingml/2006/main" noGrp="1"/>
          </p:cNvSpPr>
          <p:nvPr/>
        </p:nvSpPr>
        <p:spPr>
          <a:xfrm xmlns:a="http://schemas.openxmlformats.org/drawingml/2006/main">
            <a:off x="6858000" y="4114800"/>
            <a:ext cx="2476500" cy="952500"/>
          </a:xfrm>
          <a:prstGeom xmlns:a="http://schemas.openxmlformats.org/drawingml/2006/main" prst="rect">
            <a:avLst/>
          </a:prstGeom>
          <a:solidFill xmlns:a="http://schemas.openxmlformats.org/drawingml/2006/main">
            <a:srgbClr val="FFFFFF"/>
          </a:solidFill>
          <a:ln xmlns:a="http://schemas.openxmlformats.org/drawingml/2006/main" w="19050">
            <a:solidFill>
              <a:srgbClr val="007E87"/>
            </a:solidFill>
          </a:ln>
        </p:spPr>
        <p:txBody>
          <a:bodyPr xmlns:a="http://schemas.openxmlformats.org/drawingml/2006/main" anchor="ctr"/>
          <a:lstStyle xmlns:a="http://schemas.openxmlformats.org/drawingml/2006/main">
            <a:defPPr algn="ctr">
              <a:defRPr sz="1875" b="0">
                <a:solidFill>
                  <a:srgbClr val="172C42"/>
                </a:solidFill>
                <a:latin typeface="Arial"/>
                <a:ea typeface="Arial"/>
                <a:cs typeface="Arial"/>
              </a:defRPr>
            </a:defPPr>
          </a:lstStyle>
          <a:p xmlns:a="http://schemas.openxmlformats.org/drawingml/2006/main">
            <a:pPr algn="ctr">
              <a:defRPr sz="1875" b="0">
                <a:solidFill>
                  <a:srgbClr val="172C42"/>
                </a:solidFill>
                <a:latin typeface="Arial"/>
                <a:ea typeface="Arial"/>
                <a:cs typeface="Arial"/>
              </a:defRPr>
            </a:pPr>
            <a:r>
              <a:rPr sz="1875" b="0">
                <a:solidFill>
                  <a:srgbClr val="172C42"/>
                </a:solidFill>
                <a:latin typeface="Arial"/>
                <a:ea typeface="Arial"/>
                <a:cs typeface="Arial"/>
              </a:rPr>
              <a:t>Borrow recovery</a:t>
            </a:r>
          </a:p>
          <a:p xmlns:a="http://schemas.openxmlformats.org/drawingml/2006/main">
            <a:pPr algn="ctr">
              <a:defRPr sz="1875" b="0">
                <a:solidFill>
                  <a:srgbClr val="172C42"/>
                </a:solidFill>
                <a:latin typeface="Arial"/>
                <a:ea typeface="Arial"/>
                <a:cs typeface="Arial"/>
              </a:defRPr>
            </a:pPr>
            <a:r>
              <a:rPr sz="1875" b="0">
                <a:solidFill>
                  <a:srgbClr val="172C42"/>
                </a:solidFill>
                <a:latin typeface="Arial"/>
                <a:ea typeface="Arial"/>
                <a:cs typeface="Arial"/>
              </a:rPr>
              <a:t>Quotient correction</a:t>
            </a:r>
          </a:p>
        </p:txBody>
      </p:sp>
      <p:sp>
        <p:nvSpPr>
          <p:cNvPr id="7" name="">
            <a:extLst xmlns:a="http://schemas.openxmlformats.org/drawingml/2006/main">
              <a:ext uri="{FF2B5EF4-FFF2-40B4-BE49-F238E27FC236}">
                <a16:creationId xmlns:a16="http://schemas.microsoft.com/office/drawing/2014/main" id="{3F0348C5-DED9-46BF-9B34-C5242A9282BA}"/>
              </a:ext>
            </a:extLst>
          </p:cNvPr>
          <p:cNvSpPr>
            <a:spLocks xmlns:a="http://schemas.openxmlformats.org/drawingml/2006/main" noGrp="1"/>
          </p:cNvSpPr>
          <p:nvPr/>
        </p:nvSpPr>
        <p:spPr>
          <a:xfrm xmlns:a="http://schemas.openxmlformats.org/drawingml/2006/main">
            <a:off x="3638550" y="4114800"/>
            <a:ext cx="2419350" cy="952500"/>
          </a:xfrm>
          <a:prstGeom xmlns:a="http://schemas.openxmlformats.org/drawingml/2006/main" prst="rect">
            <a:avLst/>
          </a:prstGeom>
          <a:solidFill xmlns:a="http://schemas.openxmlformats.org/drawingml/2006/main">
            <a:srgbClr val="FFFFFF"/>
          </a:solidFill>
          <a:ln xmlns:a="http://schemas.openxmlformats.org/drawingml/2006/main" w="19050">
            <a:solidFill>
              <a:srgbClr val="007E87"/>
            </a:solidFill>
          </a:ln>
        </p:spPr>
        <p:txBody>
          <a:bodyPr xmlns:a="http://schemas.openxmlformats.org/drawingml/2006/main" anchor="ctr"/>
          <a:lstStyle xmlns:a="http://schemas.openxmlformats.org/drawingml/2006/main">
            <a:defPPr algn="ctr">
              <a:defRPr sz="1875" b="0">
                <a:solidFill>
                  <a:srgbClr val="172C42"/>
                </a:solidFill>
                <a:latin typeface="Arial"/>
                <a:ea typeface="Arial"/>
                <a:cs typeface="Arial"/>
              </a:defRPr>
            </a:defPPr>
          </a:lstStyle>
          <a:p xmlns:a="http://schemas.openxmlformats.org/drawingml/2006/main">
            <a:pPr algn="ctr">
              <a:defRPr sz="1875" b="0">
                <a:solidFill>
                  <a:srgbClr val="172C42"/>
                </a:solidFill>
                <a:latin typeface="Arial"/>
                <a:ea typeface="Arial"/>
                <a:cs typeface="Arial"/>
              </a:defRPr>
            </a:pPr>
            <a:r>
              <a:rPr sz="1875" b="0">
                <a:solidFill>
                  <a:srgbClr val="172C42"/>
                </a:solidFill>
                <a:latin typeface="Arial"/>
                <a:ea typeface="Arial"/>
                <a:cs typeface="Arial"/>
              </a:rPr>
              <a:t>Ordered signed16</a:t>
            </a:r>
          </a:p>
          <a:p xmlns:a="http://schemas.openxmlformats.org/drawingml/2006/main">
            <a:pPr algn="ctr">
              <a:defRPr sz="1875" b="0">
                <a:solidFill>
                  <a:srgbClr val="172C42"/>
                </a:solidFill>
                <a:latin typeface="Arial"/>
                <a:ea typeface="Arial"/>
                <a:cs typeface="Arial"/>
              </a:defRPr>
            </a:pPr>
            <a:r>
              <a:rPr sz="1875" b="0">
                <a:solidFill>
                  <a:srgbClr val="172C42"/>
                </a:solidFill>
                <a:latin typeface="Arial"/>
                <a:ea typeface="Arial"/>
                <a:cs typeface="Arial"/>
              </a:rPr>
              <a:t>results and count</a:t>
            </a:r>
          </a:p>
        </p:txBody>
      </p:sp>
      <p:sp>
        <p:nvSpPr>
          <p:cNvPr id="13" name="">
            <a:extLst xmlns:a="http://schemas.openxmlformats.org/drawingml/2006/main">
              <a:ext uri="{FF2B5EF4-FFF2-40B4-BE49-F238E27FC236}">
                <a16:creationId xmlns:a16="http://schemas.microsoft.com/office/drawing/2014/main" id="{FE2CF89E-5A1F-4687-B784-6DCB965BFD22}"/>
              </a:ext>
            </a:extLst>
          </p:cNvPr>
          <p:cNvSpPr>
            <a:spLocks xmlns:a="http://schemas.openxmlformats.org/drawingml/2006/main" noGrp="1"/>
          </p:cNvSpPr>
          <p:nvPr/>
        </p:nvSpPr>
        <p:spPr>
          <a:xfrm xmlns:a="http://schemas.openxmlformats.org/drawingml/2006/main">
            <a:off x="685800" y="3143250"/>
            <a:ext cx="5476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00" b="0">
                <a:solidFill>
                  <a:srgbClr val="536573"/>
                </a:solidFill>
                <a:latin typeface="Arial"/>
                <a:ea typeface="Arial"/>
                <a:cs typeface="Arial"/>
              </a:defRPr>
            </a:defPPr>
          </a:lstStyle>
          <a:p xmlns:a="http://schemas.openxmlformats.org/drawingml/2006/main">
            <a:pPr>
              <a:defRPr sz="1800" b="0">
                <a:solidFill>
                  <a:srgbClr val="536573"/>
                </a:solidFill>
                <a:latin typeface="Arial"/>
                <a:ea typeface="Arial"/>
                <a:cs typeface="Arial"/>
              </a:defRPr>
            </a:pPr>
            <a:r>
              <a:rPr sz="1800" b="0">
                <a:solidFill>
                  <a:srgbClr val="536573"/>
                </a:solidFill>
                <a:latin typeface="Arial"/>
                <a:ea typeface="Arial"/>
                <a:cs typeface="Arial"/>
              </a:rPr>
              <a:t>consume 1 or 2 after acceptance</a:t>
            </a:r>
          </a:p>
        </p:txBody>
      </p:sp>
      <p:sp>
        <p:nvSpPr>
          <p:cNvPr id="14" name="">
            <a:extLst xmlns:a="http://schemas.openxmlformats.org/drawingml/2006/main">
              <a:ext uri="{FF2B5EF4-FFF2-40B4-BE49-F238E27FC236}">
                <a16:creationId xmlns:a16="http://schemas.microsoft.com/office/drawing/2014/main" id="{050F48E0-6849-4BB6-97F9-369DF41B5887}"/>
              </a:ext>
            </a:extLst>
          </p:cNvPr>
          <p:cNvSpPr>
            <a:spLocks xmlns:a="http://schemas.openxmlformats.org/drawingml/2006/main" noGrp="1"/>
          </p:cNvSpPr>
          <p:nvPr/>
        </p:nvSpPr>
        <p:spPr>
          <a:xfrm xmlns:a="http://schemas.openxmlformats.org/drawingml/2006/main">
            <a:off x="704850" y="5962650"/>
            <a:ext cx="1028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00" b="0">
                <a:solidFill>
                  <a:srgbClr val="536573"/>
                </a:solidFill>
                <a:latin typeface="Arial"/>
                <a:ea typeface="Arial"/>
                <a:cs typeface="Arial"/>
              </a:defRPr>
            </a:defPPr>
          </a:lstStyle>
          <a:p xmlns:a="http://schemas.openxmlformats.org/drawingml/2006/main">
            <a:pPr>
              <a:defRPr sz="1500" b="0">
                <a:solidFill>
                  <a:srgbClr val="536573"/>
                </a:solidFill>
                <a:latin typeface="Arial"/>
                <a:ea typeface="Arial"/>
                <a:cs typeface="Arial"/>
              </a:defRPr>
            </a:pPr>
            <a:r>
              <a:rPr sz="1500" b="0">
                <a:solidFill>
                  <a:srgbClr val="536573"/>
                </a:solidFill>
                <a:latin typeface="Arial"/>
                <a:ea typeface="Arial"/>
                <a:cs typeface="Arial"/>
              </a:rPr>
              <a:t>Two advancing edges without stalls. Source memory and complete-neuron scheduling remain external</a:t>
            </a:r>
          </a:p>
        </p:txBody>
      </p:sp>
    </p:spTree>
    <p:extLst>
      <p:ext uri="{BB962C8B-B14F-4D97-AF65-F5344CB8AC3E}">
        <p14:creationId xmlns:p14="http://schemas.microsoft.com/office/powerpoint/2010/main" val="1622799057"/>
      </p:ext>
    </p:extLst>
  </p:cSld>
</p:sld>
</file>

<file path=ppt/slides/slide11.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42F4FD4-B3A1-4F90-9F42-2719DE18EA4E}"/>
              </a:ext>
            </a:extLst>
          </p:cNvPr>
          <p:cNvSpPr>
            <a:spLocks xmlns:a="http://schemas.openxmlformats.org/drawingml/2006/main" noGrp="1"/>
          </p:cNvSpPr>
          <p:nvPr/>
        </p:nvSpPr>
        <p:spPr>
          <a:xfrm xmlns:a="http://schemas.openxmlformats.org/drawingml/2006/main">
            <a:off x="628650" y="438150"/>
            <a:ext cx="109347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3300" b="1">
                <a:solidFill>
                  <a:srgbClr val="172C42"/>
                </a:solidFill>
                <a:latin typeface="Arial"/>
                <a:ea typeface="Arial"/>
                <a:cs typeface="Arial"/>
              </a:defRPr>
            </a:defPPr>
          </a:lstStyle>
          <a:p xmlns:a="http://schemas.openxmlformats.org/drawingml/2006/main">
            <a:pPr>
              <a:defRPr sz="3300" b="1">
                <a:solidFill>
                  <a:srgbClr val="172C42"/>
                </a:solidFill>
                <a:latin typeface="Arial"/>
                <a:ea typeface="Arial"/>
                <a:cs typeface="Arial"/>
              </a:defRPr>
            </a:pPr>
            <a:r>
              <a:rPr sz="3300" b="1">
                <a:solidFill>
                  <a:srgbClr val="172C42"/>
                </a:solidFill>
                <a:latin typeface="Arial"/>
                <a:ea typeface="Arial"/>
                <a:cs typeface="Arial"/>
              </a:rPr>
              <a:t>Strong controls execute the same operation</a:t>
            </a:r>
          </a:p>
        </p:txBody>
      </p:sp>
      <p:sp>
        <p:nvSpPr>
          <p:cNvPr id="2" name="">
            <a:extLst xmlns:a="http://schemas.openxmlformats.org/drawingml/2006/main">
              <a:ext uri="{FF2B5EF4-FFF2-40B4-BE49-F238E27FC236}">
                <a16:creationId xmlns:a16="http://schemas.microsoft.com/office/drawing/2014/main" id="{7CDDE029-2496-45E5-BBC2-5A9512D465C3}"/>
              </a:ext>
            </a:extLst>
          </p:cNvPr>
          <p:cNvSpPr>
            <a:spLocks xmlns:a="http://schemas.openxmlformats.org/drawingml/2006/main" noGrp="1"/>
          </p:cNvSpPr>
          <p:nvPr/>
        </p:nvSpPr>
        <p:spPr>
          <a:xfrm xmlns:a="http://schemas.openxmlformats.org/drawingml/2006/main">
            <a:off x="11106150" y="63436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0">
                <a:solidFill>
                  <a:srgbClr val="536573"/>
                </a:solidFill>
                <a:latin typeface="Arial"/>
                <a:ea typeface="Arial"/>
                <a:cs typeface="Arial"/>
              </a:defRPr>
            </a:defPPr>
          </a:lstStyle>
          <a:p xmlns:a="http://schemas.openxmlformats.org/drawingml/2006/main">
            <a:pPr>
              <a:defRPr sz="1350" b="0">
                <a:solidFill>
                  <a:srgbClr val="536573"/>
                </a:solidFill>
                <a:latin typeface="Arial"/>
                <a:ea typeface="Arial"/>
                <a:cs typeface="Arial"/>
              </a:defRPr>
            </a:pPr>
            <a:r>
              <a:rPr sz="1350" b="0">
                <a:solidFill>
                  <a:srgbClr val="536573"/>
                </a:solidFill>
                <a:latin typeface="Arial"/>
                <a:ea typeface="Arial"/>
                <a:cs typeface="Arial"/>
              </a:rPr>
              <a:t>11</a:t>
            </a:r>
          </a:p>
        </p:txBody>
      </p:sp>
      <p:graphicFrame>
        <p:nvGraphicFramePr>
          <p:cNvPr id="3" name="">
            <a:extLst xmlns:a="http://schemas.openxmlformats.org/drawingml/2006/main">
              <a:ext uri="{FF2B5EF4-FFF2-40B4-BE49-F238E27FC236}">
                <a16:creationId xmlns:a16="http://schemas.microsoft.com/office/drawing/2014/main" id="{E96181C6-26F6-4588-8F47-96894E8B33E5}"/>
              </a:ext>
            </a:extLst>
          </p:cNvPr>
          <p:cNvGraphicFramePr/>
          <p:nvPr/>
        </p:nvGraphicFramePr>
        <p:xfrm>
          <a:off xmlns:a="http://schemas.openxmlformats.org/drawingml/2006/main" x="685800" y="1685925"/>
          <a:ext xmlns:a="http://schemas.openxmlformats.org/drawingml/2006/main" cx="10820400" cy="3714750"/>
        </p:xfrm>
        <a:graphic xmlns:a="http://schemas.openxmlformats.org/drawingml/2006/main">
          <a:graphicData uri="http://schemas.openxmlformats.org/drawingml/2006/table">
            <a:tbl>
              <a:tblPr/>
              <a:tblGrid>
                <a:gridCol w="3695700"/>
                <a:gridCol w="7124700"/>
              </a:tblGrid>
              <a:tr h="619125">
                <a:tc>
                  <a:txBody>
                    <a:bodyPr/>
                    <a:lstStyle/>
                    <a:p>
                      <a:r>
                        <a:rPr sz="1800" b="1">
                          <a:solidFill>
                            <a:srgbClr val="FFFFFF"/>
                          </a:solidFill>
                          <a:latin typeface="Arial"/>
                          <a:ea typeface="Arial"/>
                          <a:cs typeface="Arial"/>
                        </a:rPr>
                        <a:t>Control</a:t>
                      </a:r>
                    </a:p>
                  </a:txBody>
                  <a:tcPr marL="114300" marR="114300" marT="76200" marB="76200">
                    <a:solidFill>
                      <a:srgbClr val="172C42"/>
                    </a:solidFill>
                  </a:tcPr>
                </a:tc>
                <a:tc>
                  <a:txBody>
                    <a:bodyPr/>
                    <a:lstStyle/>
                    <a:p>
                      <a:r>
                        <a:rPr sz="1800" b="1">
                          <a:solidFill>
                            <a:srgbClr val="FFFFFF"/>
                          </a:solidFill>
                          <a:latin typeface="Arial"/>
                          <a:ea typeface="Arial"/>
                          <a:cs typeface="Arial"/>
                        </a:rPr>
                        <a:t>Purpose</a:t>
                      </a:r>
                    </a:p>
                  </a:txBody>
                  <a:tcPr marL="114300" marR="114300" marT="76200" marB="76200">
                    <a:solidFill>
                      <a:srgbClr val="172C42"/>
                    </a:solidFill>
                  </a:tcPr>
                </a:tc>
              </a:tr>
              <a:tr h="619125">
                <a:tc>
                  <a:txBody>
                    <a:bodyPr/>
                    <a:lstStyle/>
                    <a:p>
                      <a:r>
                        <a:rPr sz="1800">
                          <a:solidFill>
                            <a:srgbClr val="172C42"/>
                          </a:solidFill>
                          <a:latin typeface="Arial"/>
                          <a:ea typeface="Arial"/>
                          <a:cs typeface="Arial"/>
                        </a:rPr>
                        <a:t>E1 fixed split, one DSP</a:t>
                      </a:r>
                    </a:p>
                  </a:txBody>
                  <a:tcPr marL="114300" marR="114300" marT="76200" marB="76200">
                    <a:solidFill>
                      <a:srgbClr val="FFFFFF"/>
                    </a:solidFill>
                  </a:tcPr>
                </a:tc>
                <a:tc>
                  <a:txBody>
                    <a:bodyPr/>
                    <a:lstStyle/>
                    <a:p>
                      <a:r>
                        <a:rPr sz="1800">
                          <a:solidFill>
                            <a:srgbClr val="172C42"/>
                          </a:solidFill>
                          <a:latin typeface="Arial"/>
                          <a:ea typeface="Arial"/>
                          <a:cs typeface="Arial"/>
                        </a:rPr>
                        <a:t>Fullsigned16 pairs with exact fabric high parts</a:t>
                      </a:r>
                    </a:p>
                  </a:txBody>
                  <a:tcPr marL="114300" marR="114300" marT="76200" marB="76200">
                    <a:solidFill>
                      <a:srgbClr val="FFFFFF"/>
                    </a:solidFill>
                  </a:tcPr>
                </a:tc>
              </a:tr>
              <a:tr h="619125">
                <a:tc>
                  <a:txBody>
                    <a:bodyPr/>
                    <a:lstStyle/>
                    <a:p>
                      <a:r>
                        <a:rPr sz="1800">
                          <a:solidFill>
                            <a:srgbClr val="172C42"/>
                          </a:solidFill>
                          <a:latin typeface="Arial"/>
                          <a:ea typeface="Arial"/>
                          <a:cs typeface="Arial"/>
                        </a:rPr>
                        <a:t>E3 / E4 scalar DSP</a:t>
                      </a:r>
                    </a:p>
                  </a:txBody>
                  <a:tcPr marL="114300" marR="114300" marT="76200" marB="76200">
                    <a:solidFill>
                      <a:srgbClr val="FFFFFF"/>
                    </a:solidFill>
                  </a:tcPr>
                </a:tc>
                <a:tc>
                  <a:txBody>
                    <a:bodyPr/>
                    <a:lstStyle/>
                    <a:p>
                      <a:r>
                        <a:rPr sz="1800">
                          <a:solidFill>
                            <a:srgbClr val="172C42"/>
                          </a:solidFill>
                          <a:latin typeface="Arial"/>
                          <a:ea typeface="Arial"/>
                          <a:cs typeface="Arial"/>
                        </a:rPr>
                        <a:t>Two DSP pair / one DSP singleton</a:t>
                      </a:r>
                    </a:p>
                  </a:txBody>
                  <a:tcPr marL="114300" marR="114300" marT="76200" marB="76200">
                    <a:solidFill>
                      <a:srgbClr val="FFFFFF"/>
                    </a:solidFill>
                  </a:tcPr>
                </a:tc>
              </a:tr>
              <a:tr h="619125">
                <a:tc>
                  <a:txBody>
                    <a:bodyPr/>
                    <a:lstStyle/>
                    <a:p>
                      <a:r>
                        <a:rPr sz="1800">
                          <a:solidFill>
                            <a:srgbClr val="172C42"/>
                          </a:solidFill>
                          <a:latin typeface="Arial"/>
                          <a:ea typeface="Arial"/>
                          <a:cs typeface="Arial"/>
                        </a:rPr>
                        <a:t>E7 general LUT pair</a:t>
                      </a:r>
                    </a:p>
                  </a:txBody>
                  <a:tcPr marL="114300" marR="114300" marT="76200" marB="76200">
                    <a:solidFill>
                      <a:srgbClr val="FFFFFF"/>
                    </a:solidFill>
                  </a:tcPr>
                </a:tc>
                <a:tc>
                  <a:txBody>
                    <a:bodyPr/>
                    <a:lstStyle/>
                    <a:p>
                      <a:r>
                        <a:rPr sz="1800">
                          <a:solidFill>
                            <a:srgbClr val="172C42"/>
                          </a:solidFill>
                          <a:latin typeface="Arial"/>
                          <a:ea typeface="Arial"/>
                          <a:cs typeface="Arial"/>
                        </a:rPr>
                        <a:t>Exact full domain, zero DSP</a:t>
                      </a:r>
                    </a:p>
                  </a:txBody>
                  <a:tcPr marL="114300" marR="114300" marT="76200" marB="76200">
                    <a:solidFill>
                      <a:srgbClr val="FFFFFF"/>
                    </a:solidFill>
                  </a:tcPr>
                </a:tc>
              </a:tr>
              <a:tr h="619125">
                <a:tc>
                  <a:txBody>
                    <a:bodyPr/>
                    <a:lstStyle/>
                    <a:p>
                      <a:r>
                        <a:rPr sz="1800">
                          <a:solidFill>
                            <a:srgbClr val="172C42"/>
                          </a:solidFill>
                          <a:latin typeface="Arial"/>
                          <a:ea typeface="Arial"/>
                          <a:cs typeface="Arial"/>
                        </a:rPr>
                        <a:t>E6 half-leakage shift</a:t>
                      </a:r>
                    </a:p>
                  </a:txBody>
                  <a:tcPr marL="114300" marR="114300" marT="76200" marB="76200">
                    <a:solidFill>
                      <a:srgbClr val="FFFFFF"/>
                    </a:solidFill>
                  </a:tcPr>
                </a:tc>
                <a:tc>
                  <a:txBody>
                    <a:bodyPr/>
                    <a:lstStyle/>
                    <a:p>
                      <a:r>
                        <a:rPr sz="1800">
                          <a:solidFill>
                            <a:srgbClr val="172C42"/>
                          </a:solidFill>
                          <a:latin typeface="Arial"/>
                          <a:ea typeface="Arial"/>
                          <a:cs typeface="Arial"/>
                        </a:rPr>
                        <a:t>Exact zero DSP control for β=128</a:t>
                      </a:r>
                    </a:p>
                  </a:txBody>
                  <a:tcPr marL="114300" marR="114300" marT="76200" marB="76200">
                    <a:solidFill>
                      <a:srgbClr val="FFFFFF"/>
                    </a:solidFill>
                  </a:tcPr>
                </a:tc>
              </a:tr>
              <a:tr h="619125">
                <a:tc>
                  <a:txBody>
                    <a:bodyPr/>
                    <a:lstStyle/>
                    <a:p>
                      <a:r>
                        <a:rPr sz="1800">
                          <a:solidFill>
                            <a:srgbClr val="172C42"/>
                          </a:solidFill>
                          <a:latin typeface="Arial"/>
                          <a:ea typeface="Arial"/>
                          <a:cs typeface="Arial"/>
                        </a:rPr>
                        <a:t>E9 shared GLIF constants</a:t>
                      </a:r>
                    </a:p>
                  </a:txBody>
                  <a:tcPr marL="114300" marR="114300" marT="76200" marB="76200">
                    <a:solidFill>
                      <a:srgbClr val="FFFFFF"/>
                    </a:solidFill>
                  </a:tcPr>
                </a:tc>
                <a:tc>
                  <a:txBody>
                    <a:bodyPr/>
                    <a:lstStyle/>
                    <a:p>
                      <a:r>
                        <a:rPr sz="1800">
                          <a:solidFill>
                            <a:srgbClr val="172C42"/>
                          </a:solidFill>
                          <a:latin typeface="Arial"/>
                          <a:ea typeface="Arial"/>
                          <a:cs typeface="Arial"/>
                        </a:rPr>
                        <a:t>Zero DSP pair supporting all 33 trained codes</a:t>
                      </a:r>
                    </a:p>
                  </a:txBody>
                  <a:tcPr marL="114300" marR="114300" marT="76200" marB="7620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04383456-2B43-46D7-A102-24F07C0D0D0D}"/>
              </a:ext>
            </a:extLst>
          </p:cNvPr>
          <p:cNvSpPr>
            <a:spLocks xmlns:a="http://schemas.openxmlformats.org/drawingml/2006/main" noGrp="1"/>
          </p:cNvSpPr>
          <p:nvPr/>
        </p:nvSpPr>
        <p:spPr>
          <a:xfrm xmlns:a="http://schemas.openxmlformats.org/drawingml/2006/main">
            <a:off x="704850" y="5962650"/>
            <a:ext cx="1028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00" b="0">
                <a:solidFill>
                  <a:srgbClr val="536573"/>
                </a:solidFill>
                <a:latin typeface="Arial"/>
                <a:ea typeface="Arial"/>
                <a:cs typeface="Arial"/>
              </a:defRPr>
            </a:defPPr>
          </a:lstStyle>
          <a:p xmlns:a="http://schemas.openxmlformats.org/drawingml/2006/main">
            <a:pPr>
              <a:defRPr sz="1500" b="0">
                <a:solidFill>
                  <a:srgbClr val="536573"/>
                </a:solidFill>
                <a:latin typeface="Arial"/>
                <a:ea typeface="Arial"/>
                <a:cs typeface="Arial"/>
              </a:defRPr>
            </a:pPr>
            <a:r>
              <a:rPr sz="1500" b="0">
                <a:solidFill>
                  <a:srgbClr val="536573"/>
                </a:solidFill>
                <a:latin typeface="Arial"/>
                <a:ea typeface="Arial"/>
                <a:cs typeface="Arial"/>
              </a:rPr>
              <a:t>Same operation, same 12 ns route fixture, same operands within each energy comparison</a:t>
            </a:r>
          </a:p>
        </p:txBody>
      </p:sp>
    </p:spTree>
    <p:extLst>
      <p:ext uri="{BB962C8B-B14F-4D97-AF65-F5344CB8AC3E}">
        <p14:creationId xmlns:p14="http://schemas.microsoft.com/office/powerpoint/2010/main" val="241533423"/>
      </p:ext>
    </p:extLst>
  </p:cSld>
</p:sld>
</file>

<file path=ppt/slides/slide12.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756CC96-DA75-477F-95B8-06C0C4573917}"/>
              </a:ext>
            </a:extLst>
          </p:cNvPr>
          <p:cNvSpPr>
            <a:spLocks xmlns:a="http://schemas.openxmlformats.org/drawingml/2006/main" noGrp="1"/>
          </p:cNvSpPr>
          <p:nvPr/>
        </p:nvSpPr>
        <p:spPr>
          <a:xfrm xmlns:a="http://schemas.openxmlformats.org/drawingml/2006/main">
            <a:off x="628650" y="438150"/>
            <a:ext cx="109347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3300" b="1">
                <a:solidFill>
                  <a:srgbClr val="172C42"/>
                </a:solidFill>
                <a:latin typeface="Arial"/>
                <a:ea typeface="Arial"/>
                <a:cs typeface="Arial"/>
              </a:defRPr>
            </a:defPPr>
          </a:lstStyle>
          <a:p xmlns:a="http://schemas.openxmlformats.org/drawingml/2006/main">
            <a:pPr>
              <a:defRPr sz="3300" b="1">
                <a:solidFill>
                  <a:srgbClr val="172C42"/>
                </a:solidFill>
                <a:latin typeface="Arial"/>
                <a:ea typeface="Arial"/>
                <a:cs typeface="Arial"/>
              </a:defRPr>
            </a:pPr>
            <a:r>
              <a:rPr sz="3300" b="1">
                <a:solidFill>
                  <a:srgbClr val="172C42"/>
                </a:solidFill>
                <a:latin typeface="Arial"/>
                <a:ea typeface="Arial"/>
                <a:cs typeface="Arial"/>
              </a:rPr>
              <a:t>Exactness and protocol validation</a:t>
            </a:r>
          </a:p>
        </p:txBody>
      </p:sp>
      <p:sp>
        <p:nvSpPr>
          <p:cNvPr id="2" name="">
            <a:extLst xmlns:a="http://schemas.openxmlformats.org/drawingml/2006/main">
              <a:ext uri="{FF2B5EF4-FFF2-40B4-BE49-F238E27FC236}">
                <a16:creationId xmlns:a16="http://schemas.microsoft.com/office/drawing/2014/main" id="{C7B25F80-F5A4-459E-BEF0-40C837BA2E17}"/>
              </a:ext>
            </a:extLst>
          </p:cNvPr>
          <p:cNvSpPr>
            <a:spLocks xmlns:a="http://schemas.openxmlformats.org/drawingml/2006/main" noGrp="1"/>
          </p:cNvSpPr>
          <p:nvPr/>
        </p:nvSpPr>
        <p:spPr>
          <a:xfrm xmlns:a="http://schemas.openxmlformats.org/drawingml/2006/main">
            <a:off x="11106150" y="63436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0">
                <a:solidFill>
                  <a:srgbClr val="536573"/>
                </a:solidFill>
                <a:latin typeface="Arial"/>
                <a:ea typeface="Arial"/>
                <a:cs typeface="Arial"/>
              </a:defRPr>
            </a:defPPr>
          </a:lstStyle>
          <a:p xmlns:a="http://schemas.openxmlformats.org/drawingml/2006/main">
            <a:pPr>
              <a:defRPr sz="1350" b="0">
                <a:solidFill>
                  <a:srgbClr val="536573"/>
                </a:solidFill>
                <a:latin typeface="Arial"/>
                <a:ea typeface="Arial"/>
                <a:cs typeface="Arial"/>
              </a:defRPr>
            </a:pPr>
            <a:r>
              <a:rPr sz="1350" b="0">
                <a:solidFill>
                  <a:srgbClr val="536573"/>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2DC38522-A459-48F2-A6BF-27CE60A46745}"/>
              </a:ext>
            </a:extLst>
          </p:cNvPr>
          <p:cNvSpPr>
            <a:spLocks xmlns:a="http://schemas.openxmlformats.org/drawingml/2006/main" noGrp="1"/>
          </p:cNvSpPr>
          <p:nvPr/>
        </p:nvSpPr>
        <p:spPr>
          <a:xfrm xmlns:a="http://schemas.openxmlformats.org/drawingml/2006/main">
            <a:off x="704850" y="1809750"/>
            <a:ext cx="10668000" cy="3381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250" b="0">
                <a:solidFill>
                  <a:srgbClr val="172C42"/>
                </a:solidFill>
                <a:latin typeface="Arial"/>
                <a:ea typeface="Arial"/>
                <a:cs typeface="Arial"/>
              </a:defRPr>
            </a:defPPr>
          </a:lstStyle>
          <a:p xmlns:a="http://schemas.openxmlformats.org/drawingml/2006/main">
            <a:pPr>
              <a:defRPr sz="2250" b="0">
                <a:solidFill>
                  <a:srgbClr val="172C42"/>
                </a:solidFill>
                <a:latin typeface="Arial"/>
                <a:ea typeface="Arial"/>
                <a:cs typeface="Arial"/>
              </a:defRPr>
            </a:pPr>
            <a:r>
              <a:rPr sz="2250" b="0">
                <a:solidFill>
                  <a:srgbClr val="172C42"/>
                </a:solidFill>
                <a:latin typeface="Arial"/>
                <a:ea typeface="Arial"/>
                <a:cs typeface="Arial"/>
              </a:rPr>
              <a:t>67,371,008 exhaustive narrow pair cases</a:t>
            </a:r>
          </a:p>
          <a:p xmlns:a="http://schemas.openxmlformats.org/drawingml/2006/main">
            <a:pPr>
              <a:defRPr sz="2250" b="0">
                <a:solidFill>
                  <a:srgbClr val="172C42"/>
                </a:solidFill>
                <a:latin typeface="Arial"/>
                <a:ea typeface="Arial"/>
                <a:cs typeface="Arial"/>
              </a:defRPr>
            </a:pPr>
            <a:r>
              <a:rPr sz="2250" b="0">
                <a:solidFill>
                  <a:srgbClr val="172C42"/>
                </a:solidFill>
                <a:latin typeface="Arial"/>
                <a:ea typeface="Arial"/>
                <a:cs typeface="Arial"/>
              </a:rPr>
              <a:t>16,842,752 full-domain scalar / split cases</a:t>
            </a:r>
          </a:p>
          <a:p xmlns:a="http://schemas.openxmlformats.org/drawingml/2006/main">
            <a:pPr>
              <a:defRPr sz="2250" b="0">
                <a:solidFill>
                  <a:srgbClr val="172C42"/>
                </a:solidFill>
                <a:latin typeface="Arial"/>
                <a:ea typeface="Arial"/>
                <a:cs typeface="Arial"/>
              </a:defRPr>
            </a:pPr>
            <a:r>
              <a:rPr sz="2250" b="0">
                <a:solidFill>
                  <a:srgbClr val="172C42"/>
                </a:solidFill>
                <a:latin typeface="Arial"/>
                <a:ea typeface="Arial"/>
                <a:cs typeface="Arial"/>
              </a:rPr>
              <a:t>Stalled RTL checks verify order and held outputs</a:t>
            </a:r>
          </a:p>
          <a:p xmlns:a="http://schemas.openxmlformats.org/drawingml/2006/main">
            <a:pPr>
              <a:defRPr sz="2250" b="0">
                <a:solidFill>
                  <a:srgbClr val="172C42"/>
                </a:solidFill>
                <a:latin typeface="Arial"/>
                <a:ea typeface="Arial"/>
                <a:cs typeface="Arial"/>
              </a:defRPr>
            </a:pPr>
            <a:r>
              <a:rPr sz="2250" b="0">
                <a:solidFill>
                  <a:srgbClr val="172C42"/>
                </a:solidFill>
                <a:latin typeface="Arial"/>
                <a:ea typeface="Arial"/>
                <a:cs typeface="Arial"/>
              </a:rPr>
              <a:t>All 33 GLIF coefficients pass exhaustive new-control RTL</a:t>
            </a:r>
          </a:p>
        </p:txBody>
      </p:sp>
      <p:sp>
        <p:nvSpPr>
          <p:cNvPr id="4" name="">
            <a:extLst xmlns:a="http://schemas.openxmlformats.org/drawingml/2006/main">
              <a:ext uri="{FF2B5EF4-FFF2-40B4-BE49-F238E27FC236}">
                <a16:creationId xmlns:a16="http://schemas.microsoft.com/office/drawing/2014/main" id="{21964C41-C3F6-4CD6-9CFB-45409BD21944}"/>
              </a:ext>
            </a:extLst>
          </p:cNvPr>
          <p:cNvSpPr>
            <a:spLocks xmlns:a="http://schemas.openxmlformats.org/drawingml/2006/main" noGrp="1"/>
          </p:cNvSpPr>
          <p:nvPr/>
        </p:nvSpPr>
        <p:spPr>
          <a:xfrm xmlns:a="http://schemas.openxmlformats.org/drawingml/2006/main">
            <a:off x="704850" y="538162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625" b="1">
                <a:solidFill>
                  <a:srgbClr val="007E87"/>
                </a:solidFill>
                <a:latin typeface="Arial"/>
                <a:ea typeface="Arial"/>
                <a:cs typeface="Arial"/>
              </a:defRPr>
            </a:defPPr>
          </a:lstStyle>
          <a:p xmlns:a="http://schemas.openxmlformats.org/drawingml/2006/main">
            <a:pPr>
              <a:defRPr sz="2625" b="1">
                <a:solidFill>
                  <a:srgbClr val="007E87"/>
                </a:solidFill>
                <a:latin typeface="Arial"/>
                <a:ea typeface="Arial"/>
                <a:cs typeface="Arial"/>
              </a:defRPr>
            </a:pPr>
            <a:r>
              <a:rPr sz="2625" b="1">
                <a:solidFill>
                  <a:srgbClr val="007E87"/>
                </a:solidFill>
                <a:latin typeface="Arial"/>
                <a:ea typeface="Arial"/>
                <a:cs typeface="Arial"/>
              </a:rPr>
              <a:t>Zero differences from the declared integer oracle</a:t>
            </a:r>
          </a:p>
        </p:txBody>
      </p:sp>
    </p:spTree>
    <p:extLst>
      <p:ext uri="{BB962C8B-B14F-4D97-AF65-F5344CB8AC3E}">
        <p14:creationId xmlns:p14="http://schemas.microsoft.com/office/powerpoint/2010/main" val="916972976"/>
      </p:ext>
    </p:extLst>
  </p:cSld>
</p:sld>
</file>

<file path=ppt/slides/slide13.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2E30DF8-9DD3-42EF-B94E-E19278B0A7AB}"/>
              </a:ext>
            </a:extLst>
          </p:cNvPr>
          <p:cNvSpPr>
            <a:spLocks xmlns:a="http://schemas.openxmlformats.org/drawingml/2006/main" noGrp="1"/>
          </p:cNvSpPr>
          <p:nvPr/>
        </p:nvSpPr>
        <p:spPr>
          <a:xfrm xmlns:a="http://schemas.openxmlformats.org/drawingml/2006/main">
            <a:off x="628650" y="438150"/>
            <a:ext cx="109347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3300" b="1">
                <a:solidFill>
                  <a:srgbClr val="172C42"/>
                </a:solidFill>
                <a:latin typeface="Arial"/>
                <a:ea typeface="Arial"/>
                <a:cs typeface="Arial"/>
              </a:defRPr>
            </a:defPPr>
          </a:lstStyle>
          <a:p xmlns:a="http://schemas.openxmlformats.org/drawingml/2006/main">
            <a:pPr>
              <a:defRPr sz="3300" b="1">
                <a:solidFill>
                  <a:srgbClr val="172C42"/>
                </a:solidFill>
                <a:latin typeface="Arial"/>
                <a:ea typeface="Arial"/>
                <a:cs typeface="Arial"/>
              </a:defRPr>
            </a:pPr>
            <a:r>
              <a:rPr sz="3300" b="1">
                <a:solidFill>
                  <a:srgbClr val="172C42"/>
                </a:solidFill>
                <a:latin typeface="Arial"/>
                <a:ea typeface="Arial"/>
                <a:cs typeface="Arial"/>
              </a:rPr>
              <a:t>Public neuron model benchmarks</a:t>
            </a:r>
          </a:p>
        </p:txBody>
      </p:sp>
      <p:sp>
        <p:nvSpPr>
          <p:cNvPr id="2" name="">
            <a:extLst xmlns:a="http://schemas.openxmlformats.org/drawingml/2006/main">
              <a:ext uri="{FF2B5EF4-FFF2-40B4-BE49-F238E27FC236}">
                <a16:creationId xmlns:a16="http://schemas.microsoft.com/office/drawing/2014/main" id="{3DA38063-6C2E-43A3-A05E-C5124D4B1D5B}"/>
              </a:ext>
            </a:extLst>
          </p:cNvPr>
          <p:cNvSpPr>
            <a:spLocks xmlns:a="http://schemas.openxmlformats.org/drawingml/2006/main" noGrp="1"/>
          </p:cNvSpPr>
          <p:nvPr/>
        </p:nvSpPr>
        <p:spPr>
          <a:xfrm xmlns:a="http://schemas.openxmlformats.org/drawingml/2006/main">
            <a:off x="11106150" y="63436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0">
                <a:solidFill>
                  <a:srgbClr val="536573"/>
                </a:solidFill>
                <a:latin typeface="Arial"/>
                <a:ea typeface="Arial"/>
                <a:cs typeface="Arial"/>
              </a:defRPr>
            </a:defPPr>
          </a:lstStyle>
          <a:p xmlns:a="http://schemas.openxmlformats.org/drawingml/2006/main">
            <a:pPr>
              <a:defRPr sz="1350" b="0">
                <a:solidFill>
                  <a:srgbClr val="536573"/>
                </a:solidFill>
                <a:latin typeface="Arial"/>
                <a:ea typeface="Arial"/>
                <a:cs typeface="Arial"/>
              </a:defRPr>
            </a:pPr>
            <a:r>
              <a:rPr sz="1350" b="0">
                <a:solidFill>
                  <a:srgbClr val="536573"/>
                </a:solidFill>
                <a:latin typeface="Arial"/>
                <a:ea typeface="Arial"/>
                <a:cs typeface="Arial"/>
              </a:rPr>
              <a:t>13</a:t>
            </a:r>
          </a:p>
        </p:txBody>
      </p:sp>
      <p:graphicFrame>
        <p:nvGraphicFramePr>
          <p:cNvPr id="3" name="">
            <a:extLst xmlns:a="http://schemas.openxmlformats.org/drawingml/2006/main">
              <a:ext uri="{FF2B5EF4-FFF2-40B4-BE49-F238E27FC236}">
                <a16:creationId xmlns:a16="http://schemas.microsoft.com/office/drawing/2014/main" id="{4372D261-6AB2-43F2-A4AA-0BC553A7014B}"/>
              </a:ext>
            </a:extLst>
          </p:cNvPr>
          <p:cNvGraphicFramePr/>
          <p:nvPr/>
        </p:nvGraphicFramePr>
        <p:xfrm>
          <a:off xmlns:a="http://schemas.openxmlformats.org/drawingml/2006/main" x="685800" y="1676400"/>
          <a:ext xmlns:a="http://schemas.openxmlformats.org/drawingml/2006/main" cx="10820400" cy="3257550"/>
        </p:xfrm>
        <a:graphic xmlns:a="http://schemas.openxmlformats.org/drawingml/2006/main">
          <a:graphicData uri="http://schemas.openxmlformats.org/drawingml/2006/table">
            <a:tbl>
              <a:tblPr/>
              <a:tblGrid>
                <a:gridCol w="4095750"/>
                <a:gridCol w="2905125"/>
                <a:gridCol w="3819525"/>
              </a:tblGrid>
              <a:tr h="814388">
                <a:tc>
                  <a:txBody>
                    <a:bodyPr/>
                    <a:lstStyle/>
                    <a:p>
                      <a:r>
                        <a:rPr sz="1800" b="1">
                          <a:solidFill>
                            <a:srgbClr val="FFFFFF"/>
                          </a:solidFill>
                          <a:latin typeface="Arial"/>
                          <a:ea typeface="Arial"/>
                          <a:cs typeface="Arial"/>
                        </a:rPr>
                        <a:t>Model / dataset</a:t>
                      </a:r>
                    </a:p>
                  </a:txBody>
                  <a:tcPr marL="114300" marR="114300" marT="76200" marB="76200">
                    <a:solidFill>
                      <a:srgbClr val="172C42"/>
                    </a:solidFill>
                  </a:tcPr>
                </a:tc>
                <a:tc>
                  <a:txBody>
                    <a:bodyPr/>
                    <a:lstStyle/>
                    <a:p>
                      <a:r>
                        <a:rPr sz="1800" b="1">
                          <a:solidFill>
                            <a:srgbClr val="FFFFFF"/>
                          </a:solidFill>
                          <a:latin typeface="Arial"/>
                          <a:ea typeface="Arial"/>
                          <a:cs typeface="Arial"/>
                        </a:rPr>
                        <a:t>Validation scope</a:t>
                      </a:r>
                    </a:p>
                  </a:txBody>
                  <a:tcPr marL="114300" marR="114300" marT="76200" marB="76200">
                    <a:solidFill>
                      <a:srgbClr val="172C42"/>
                    </a:solidFill>
                  </a:tcPr>
                </a:tc>
                <a:tc>
                  <a:txBody>
                    <a:bodyPr/>
                    <a:lstStyle/>
                    <a:p>
                      <a:r>
                        <a:rPr sz="1800" b="1">
                          <a:solidFill>
                            <a:srgbClr val="FFFFFF"/>
                          </a:solidFill>
                          <a:latin typeface="Arial"/>
                          <a:ea typeface="Arial"/>
                          <a:cs typeface="Arial"/>
                        </a:rPr>
                        <a:t>Packing result</a:t>
                      </a:r>
                    </a:p>
                  </a:txBody>
                  <a:tcPr marL="114300" marR="114300" marT="76200" marB="76200">
                    <a:solidFill>
                      <a:srgbClr val="172C42"/>
                    </a:solidFill>
                  </a:tcPr>
                </a:tc>
              </a:tr>
              <a:tr h="814388">
                <a:tc>
                  <a:txBody>
                    <a:bodyPr/>
                    <a:lstStyle/>
                    <a:p>
                      <a:r>
                        <a:rPr sz="1800">
                          <a:solidFill>
                            <a:srgbClr val="172C42"/>
                          </a:solidFill>
                          <a:latin typeface="Arial"/>
                          <a:ea typeface="Arial"/>
                          <a:cs typeface="Arial"/>
                        </a:rPr>
                        <a:t>GLIF ResNet18 / CIFAR10 / T2</a:t>
                      </a:r>
                    </a:p>
                  </a:txBody>
                  <a:tcPr marL="114300" marR="114300" marT="76200" marB="76200">
                    <a:solidFill>
                      <a:srgbClr val="FFFFFF"/>
                    </a:solidFill>
                  </a:tcPr>
                </a:tc>
                <a:tc>
                  <a:txBody>
                    <a:bodyPr/>
                    <a:lstStyle/>
                    <a:p>
                      <a:r>
                        <a:rPr sz="1800">
                          <a:solidFill>
                            <a:srgbClr val="172C42"/>
                          </a:solidFill>
                          <a:latin typeface="Arial"/>
                          <a:ea typeface="Arial"/>
                          <a:cs typeface="Arial"/>
                        </a:rPr>
                        <a:t>10k conversion,64 packed</a:t>
                      </a:r>
                    </a:p>
                  </a:txBody>
                  <a:tcPr marL="114300" marR="114300" marT="76200" marB="76200">
                    <a:solidFill>
                      <a:srgbClr val="FFFFFF"/>
                    </a:solidFill>
                  </a:tcPr>
                </a:tc>
                <a:tc>
                  <a:txBody>
                    <a:bodyPr/>
                    <a:lstStyle/>
                    <a:p>
                      <a:r>
                        <a:rPr sz="1800">
                          <a:solidFill>
                            <a:srgbClr val="172C42"/>
                          </a:solidFill>
                          <a:latin typeface="Arial"/>
                          <a:ea typeface="Arial"/>
                          <a:cs typeface="Arial"/>
                        </a:rPr>
                        <a:t>All integer states/spikes/logits agree</a:t>
                      </a:r>
                    </a:p>
                  </a:txBody>
                  <a:tcPr marL="114300" marR="114300" marT="76200" marB="76200">
                    <a:solidFill>
                      <a:srgbClr val="FFFFFF"/>
                    </a:solidFill>
                  </a:tcPr>
                </a:tc>
              </a:tr>
              <a:tr h="814388">
                <a:tc>
                  <a:txBody>
                    <a:bodyPr/>
                    <a:lstStyle/>
                    <a:p>
                      <a:r>
                        <a:rPr sz="1800">
                          <a:solidFill>
                            <a:srgbClr val="172C42"/>
                          </a:solidFill>
                          <a:latin typeface="Arial"/>
                          <a:ea typeface="Arial"/>
                          <a:cs typeface="Arial"/>
                        </a:rPr>
                        <a:t>OTTT VGG11 / CIFAR10 / T6</a:t>
                      </a:r>
                    </a:p>
                  </a:txBody>
                  <a:tcPr marL="114300" marR="114300" marT="76200" marB="76200">
                    <a:solidFill>
                      <a:srgbClr val="FFFFFF"/>
                    </a:solidFill>
                  </a:tcPr>
                </a:tc>
                <a:tc>
                  <a:txBody>
                    <a:bodyPr/>
                    <a:lstStyle/>
                    <a:p>
                      <a:r>
                        <a:rPr sz="1800">
                          <a:solidFill>
                            <a:srgbClr val="172C42"/>
                          </a:solidFill>
                          <a:latin typeface="Arial"/>
                          <a:ea typeface="Arial"/>
                          <a:cs typeface="Arial"/>
                        </a:rPr>
                        <a:t>10k packed feedback</a:t>
                      </a:r>
                    </a:p>
                  </a:txBody>
                  <a:tcPr marL="114300" marR="114300" marT="76200" marB="76200">
                    <a:solidFill>
                      <a:srgbClr val="FFFFFF"/>
                    </a:solidFill>
                  </a:tcPr>
                </a:tc>
                <a:tc>
                  <a:txBody>
                    <a:bodyPr/>
                    <a:lstStyle/>
                    <a:p>
                      <a:r>
                        <a:rPr sz="1800">
                          <a:solidFill>
                            <a:srgbClr val="172C42"/>
                          </a:solidFill>
                          <a:latin typeface="Arial"/>
                          <a:ea typeface="Arial"/>
                          <a:cs typeface="Arial"/>
                        </a:rPr>
                        <a:t>All integer updates agree</a:t>
                      </a:r>
                    </a:p>
                  </a:txBody>
                  <a:tcPr marL="114300" marR="114300" marT="76200" marB="76200">
                    <a:solidFill>
                      <a:srgbClr val="FFFFFF"/>
                    </a:solidFill>
                  </a:tcPr>
                </a:tc>
              </a:tr>
              <a:tr h="814388">
                <a:tc>
                  <a:txBody>
                    <a:bodyPr/>
                    <a:lstStyle/>
                    <a:p>
                      <a:r>
                        <a:rPr sz="1800">
                          <a:solidFill>
                            <a:srgbClr val="172C42"/>
                          </a:solidFill>
                          <a:latin typeface="Arial"/>
                          <a:ea typeface="Arial"/>
                          <a:cs typeface="Arial"/>
                        </a:rPr>
                        <a:t>BNTT-style VGG11 / TinyImageNet / T30</a:t>
                      </a:r>
                    </a:p>
                  </a:txBody>
                  <a:tcPr marL="114300" marR="114300" marT="76200" marB="76200">
                    <a:solidFill>
                      <a:srgbClr val="FFFFFF"/>
                    </a:solidFill>
                  </a:tcPr>
                </a:tc>
                <a:tc>
                  <a:txBody>
                    <a:bodyPr/>
                    <a:lstStyle/>
                    <a:p>
                      <a:r>
                        <a:rPr sz="1800">
                          <a:solidFill>
                            <a:srgbClr val="172C42"/>
                          </a:solidFill>
                          <a:latin typeface="Arial"/>
                          <a:ea typeface="Arial"/>
                          <a:cs typeface="Arial"/>
                        </a:rPr>
                        <a:t>Predeclared64-image subset</a:t>
                      </a:r>
                    </a:p>
                  </a:txBody>
                  <a:tcPr marL="114300" marR="114300" marT="76200" marB="76200">
                    <a:solidFill>
                      <a:srgbClr val="FFFFFF"/>
                    </a:solidFill>
                  </a:tcPr>
                </a:tc>
                <a:tc>
                  <a:txBody>
                    <a:bodyPr/>
                    <a:lstStyle/>
                    <a:p>
                      <a:r>
                        <a:rPr sz="1800">
                          <a:solidFill>
                            <a:srgbClr val="172C42"/>
                          </a:solidFill>
                          <a:latin typeface="Arial"/>
                          <a:ea typeface="Arial"/>
                          <a:cs typeface="Arial"/>
                        </a:rPr>
                        <a:t>All integer states/spikes/logits agree</a:t>
                      </a:r>
                    </a:p>
                  </a:txBody>
                  <a:tcPr marL="114300" marR="114300" marT="76200" marB="7620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3CEB8A44-4A3D-4D1B-A6FC-E10E246099E0}"/>
              </a:ext>
            </a:extLst>
          </p:cNvPr>
          <p:cNvSpPr>
            <a:spLocks xmlns:a="http://schemas.openxmlformats.org/drawingml/2006/main" noGrp="1"/>
          </p:cNvSpPr>
          <p:nvPr/>
        </p:nvSpPr>
        <p:spPr>
          <a:xfrm xmlns:a="http://schemas.openxmlformats.org/drawingml/2006/main">
            <a:off x="704850" y="5210175"/>
            <a:ext cx="10572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175" b="1">
                <a:solidFill>
                  <a:srgbClr val="007E87"/>
                </a:solidFill>
                <a:latin typeface="Arial"/>
                <a:ea typeface="Arial"/>
                <a:cs typeface="Arial"/>
              </a:defRPr>
            </a:defPPr>
          </a:lstStyle>
          <a:p xmlns:a="http://schemas.openxmlformats.org/drawingml/2006/main">
            <a:pPr>
              <a:defRPr sz="2175" b="1">
                <a:solidFill>
                  <a:srgbClr val="007E87"/>
                </a:solidFill>
                <a:latin typeface="Arial"/>
                <a:ea typeface="Arial"/>
                <a:cs typeface="Arial"/>
              </a:defRPr>
            </a:pPr>
            <a:r>
              <a:rPr sz="2175" b="1">
                <a:solidFill>
                  <a:srgbClr val="007E87"/>
                </a:solidFill>
                <a:latin typeface="Arial"/>
                <a:ea typeface="Arial"/>
                <a:cs typeface="Arial"/>
              </a:rPr>
              <a:t>FP32-to-integer conversion changes some predictions</a:t>
            </a:r>
          </a:p>
          <a:p xmlns:a="http://schemas.openxmlformats.org/drawingml/2006/main">
            <a:pPr>
              <a:defRPr sz="2175" b="1">
                <a:solidFill>
                  <a:srgbClr val="007E87"/>
                </a:solidFill>
                <a:latin typeface="Arial"/>
                <a:ea typeface="Arial"/>
                <a:cs typeface="Arial"/>
              </a:defRPr>
            </a:pPr>
            <a:r>
              <a:rPr sz="2175" b="1">
                <a:solidFill>
                  <a:srgbClr val="007E87"/>
                </a:solidFill>
                <a:latin typeface="Arial"/>
                <a:ea typeface="Arial"/>
                <a:cs typeface="Arial"/>
              </a:rPr>
              <a:t>Packing adds no further differences in these checks</a:t>
            </a:r>
          </a:p>
        </p:txBody>
      </p:sp>
    </p:spTree>
    <p:extLst>
      <p:ext uri="{BB962C8B-B14F-4D97-AF65-F5344CB8AC3E}">
        <p14:creationId xmlns:p14="http://schemas.microsoft.com/office/powerpoint/2010/main" val="45736820"/>
      </p:ext>
    </p:extLst>
  </p:cSld>
</p:sld>
</file>

<file path=ppt/slides/slide14.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B03F288-AF74-4580-8940-55F73F594231}"/>
              </a:ext>
            </a:extLst>
          </p:cNvPr>
          <p:cNvSpPr>
            <a:spLocks xmlns:a="http://schemas.openxmlformats.org/drawingml/2006/main" noGrp="1"/>
          </p:cNvSpPr>
          <p:nvPr/>
        </p:nvSpPr>
        <p:spPr>
          <a:xfrm xmlns:a="http://schemas.openxmlformats.org/drawingml/2006/main">
            <a:off x="628650" y="438150"/>
            <a:ext cx="109347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3300" b="1">
                <a:solidFill>
                  <a:srgbClr val="172C42"/>
                </a:solidFill>
                <a:latin typeface="Arial"/>
                <a:ea typeface="Arial"/>
                <a:cs typeface="Arial"/>
              </a:defRPr>
            </a:defPPr>
          </a:lstStyle>
          <a:p xmlns:a="http://schemas.openxmlformats.org/drawingml/2006/main">
            <a:pPr>
              <a:defRPr sz="3300" b="1">
                <a:solidFill>
                  <a:srgbClr val="172C42"/>
                </a:solidFill>
                <a:latin typeface="Arial"/>
                <a:ea typeface="Arial"/>
                <a:cs typeface="Arial"/>
              </a:defRPr>
            </a:pPr>
            <a:r>
              <a:rPr sz="3300" b="1">
                <a:solidFill>
                  <a:srgbClr val="172C42"/>
                </a:solidFill>
                <a:latin typeface="Arial"/>
                <a:ea typeface="Arial"/>
                <a:cs typeface="Arial"/>
              </a:rPr>
              <a:t>Selected core resource trade-offs</a:t>
            </a:r>
          </a:p>
        </p:txBody>
      </p:sp>
      <p:sp>
        <p:nvSpPr>
          <p:cNvPr id="2" name="">
            <a:extLst xmlns:a="http://schemas.openxmlformats.org/drawingml/2006/main">
              <a:ext uri="{FF2B5EF4-FFF2-40B4-BE49-F238E27FC236}">
                <a16:creationId xmlns:a16="http://schemas.microsoft.com/office/drawing/2014/main" id="{9892CF5F-DB68-45A4-B2A0-BBEEC2425809}"/>
              </a:ext>
            </a:extLst>
          </p:cNvPr>
          <p:cNvSpPr>
            <a:spLocks xmlns:a="http://schemas.openxmlformats.org/drawingml/2006/main" noGrp="1"/>
          </p:cNvSpPr>
          <p:nvPr/>
        </p:nvSpPr>
        <p:spPr>
          <a:xfrm xmlns:a="http://schemas.openxmlformats.org/drawingml/2006/main">
            <a:off x="11106150" y="63436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0">
                <a:solidFill>
                  <a:srgbClr val="536573"/>
                </a:solidFill>
                <a:latin typeface="Arial"/>
                <a:ea typeface="Arial"/>
                <a:cs typeface="Arial"/>
              </a:defRPr>
            </a:defPPr>
          </a:lstStyle>
          <a:p xmlns:a="http://schemas.openxmlformats.org/drawingml/2006/main">
            <a:pPr>
              <a:defRPr sz="1350" b="0">
                <a:solidFill>
                  <a:srgbClr val="536573"/>
                </a:solidFill>
                <a:latin typeface="Arial"/>
                <a:ea typeface="Arial"/>
                <a:cs typeface="Arial"/>
              </a:defRPr>
            </a:pPr>
            <a:r>
              <a:rPr sz="1350" b="0">
                <a:solidFill>
                  <a:srgbClr val="536573"/>
                </a:solidFill>
                <a:latin typeface="Arial"/>
                <a:ea typeface="Arial"/>
                <a:cs typeface="Arial"/>
              </a:rPr>
              <a:t>14</a:t>
            </a:r>
          </a:p>
        </p:txBody>
      </p:sp>
      <p:graphicFrame>
        <p:nvGraphicFramePr>
          <p:cNvPr id="3" name="Chart">
            <a:extLst xmlns:a="http://schemas.openxmlformats.org/drawingml/2006/main">
              <a:ext uri="{FF2B5EF4-FFF2-40B4-BE49-F238E27FC236}">
                <a16:creationId xmlns:a16="http://schemas.microsoft.com/office/drawing/2014/main" id="{C1AFA9AE-3DC8-48E5-96B7-5A3C87995CC3}"/>
              </a:ext>
            </a:extLst>
          </p:cNvPr>
          <p:cNvGraphicFramePr/>
          <p:nvPr/>
        </p:nvGraphicFramePr>
        <p:xfrm>
          <a:off xmlns:a="http://schemas.openxmlformats.org/drawingml/2006/main" x="666750" y="1676400"/>
          <a:ext xmlns:a="http://schemas.openxmlformats.org/drawingml/2006/main" cx="10839450" cy="3429000"/>
        </p:xfrm>
        <a:graphic xmlns:a="http://schemas.openxmlformats.org/drawingml/2006/main">
          <a:graphicData uri="http://schemas.openxmlformats.org/drawingml/2006/chart">
            <c:chart xmlns:r="http://schemas.openxmlformats.org/officeDocument/2006/relationships" xmlns:c="http://schemas.openxmlformats.org/drawingml/2006/chart" r:id="R51bae25c33ae4400"/>
          </a:graphicData>
        </a:graphic>
      </p:graphicFrame>
      <p:sp>
        <p:nvSpPr>
          <p:cNvPr id="4" name="">
            <a:extLst xmlns:a="http://schemas.openxmlformats.org/drawingml/2006/main">
              <a:ext uri="{FF2B5EF4-FFF2-40B4-BE49-F238E27FC236}">
                <a16:creationId xmlns:a16="http://schemas.microsoft.com/office/drawing/2014/main" id="{AC75830B-1753-4812-8BA6-BDE59AC6DC27}"/>
              </a:ext>
            </a:extLst>
          </p:cNvPr>
          <p:cNvSpPr>
            <a:spLocks xmlns:a="http://schemas.openxmlformats.org/drawingml/2006/main" noGrp="1"/>
          </p:cNvSpPr>
          <p:nvPr/>
        </p:nvSpPr>
        <p:spPr>
          <a:xfrm xmlns:a="http://schemas.openxmlformats.org/drawingml/2006/main">
            <a:off x="704850" y="5267325"/>
            <a:ext cx="10572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175" b="1">
                <a:solidFill>
                  <a:srgbClr val="007E87"/>
                </a:solidFill>
                <a:latin typeface="Arial"/>
                <a:ea typeface="Arial"/>
                <a:cs typeface="Arial"/>
              </a:defRPr>
            </a:defPPr>
          </a:lstStyle>
          <a:p xmlns:a="http://schemas.openxmlformats.org/drawingml/2006/main">
            <a:pPr>
              <a:defRPr sz="2175" b="1">
                <a:solidFill>
                  <a:srgbClr val="007E87"/>
                </a:solidFill>
                <a:latin typeface="Arial"/>
                <a:ea typeface="Arial"/>
                <a:cs typeface="Arial"/>
              </a:defRPr>
            </a:pPr>
            <a:r>
              <a:rPr sz="2175" b="1">
                <a:solidFill>
                  <a:srgbClr val="007E87"/>
                </a:solidFill>
                <a:latin typeface="Arial"/>
                <a:ea typeface="Arial"/>
                <a:cs typeface="Arial"/>
              </a:rPr>
              <a:t>E5: 62 LUT / 44 FF / 1 DSP</a:t>
            </a:r>
          </a:p>
          <a:p xmlns:a="http://schemas.openxmlformats.org/drawingml/2006/main">
            <a:pPr>
              <a:defRPr sz="2175" b="1">
                <a:solidFill>
                  <a:srgbClr val="007E87"/>
                </a:solidFill>
                <a:latin typeface="Arial"/>
                <a:ea typeface="Arial"/>
                <a:cs typeface="Arial"/>
              </a:defRPr>
            </a:pPr>
            <a:r>
              <a:rPr sz="2175" b="1">
                <a:solidFill>
                  <a:srgbClr val="007E87"/>
                </a:solidFill>
                <a:latin typeface="Arial"/>
                <a:ea typeface="Arial"/>
                <a:cs typeface="Arial"/>
              </a:rPr>
              <a:t>E1: 202 LUT / 79 FF / 1 DSP</a:t>
            </a:r>
          </a:p>
        </p:txBody>
      </p:sp>
      <p:sp>
        <p:nvSpPr>
          <p:cNvPr id="5" name="">
            <a:extLst xmlns:a="http://schemas.openxmlformats.org/drawingml/2006/main">
              <a:ext uri="{FF2B5EF4-FFF2-40B4-BE49-F238E27FC236}">
                <a16:creationId xmlns:a16="http://schemas.microsoft.com/office/drawing/2014/main" id="{D5129298-B95F-4660-AFEA-EB5125A6429E}"/>
              </a:ext>
            </a:extLst>
          </p:cNvPr>
          <p:cNvSpPr>
            <a:spLocks xmlns:a="http://schemas.openxmlformats.org/drawingml/2006/main" noGrp="1"/>
          </p:cNvSpPr>
          <p:nvPr/>
        </p:nvSpPr>
        <p:spPr>
          <a:xfrm xmlns:a="http://schemas.openxmlformats.org/drawingml/2006/main">
            <a:off x="704850" y="6143625"/>
            <a:ext cx="1028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00" b="0">
                <a:solidFill>
                  <a:srgbClr val="536573"/>
                </a:solidFill>
                <a:latin typeface="Arial"/>
                <a:ea typeface="Arial"/>
                <a:cs typeface="Arial"/>
              </a:defRPr>
            </a:defPPr>
          </a:lstStyle>
          <a:p xmlns:a="http://schemas.openxmlformats.org/drawingml/2006/main">
            <a:pPr>
              <a:defRPr sz="1500" b="0">
                <a:solidFill>
                  <a:srgbClr val="536573"/>
                </a:solidFill>
                <a:latin typeface="Arial"/>
                <a:ea typeface="Arial"/>
                <a:cs typeface="Arial"/>
              </a:defRPr>
            </a:pPr>
            <a:r>
              <a:rPr sz="1500" b="0">
                <a:solidFill>
                  <a:srgbClr val="536573"/>
                </a:solidFill>
                <a:latin typeface="Arial"/>
                <a:ea typeface="Arial"/>
                <a:cs typeface="Arial"/>
              </a:rPr>
              <a:t>E3 uses 2 DSP. E7 and E9 use 0 DSP. Shared 94 fixture FFs excluded from core area</a:t>
            </a:r>
          </a:p>
        </p:txBody>
      </p:sp>
    </p:spTree>
    <p:extLst>
      <p:ext uri="{BB962C8B-B14F-4D97-AF65-F5344CB8AC3E}">
        <p14:creationId xmlns:p14="http://schemas.microsoft.com/office/powerpoint/2010/main" val="1096501482"/>
      </p:ext>
    </p:extLst>
  </p:cSld>
</p:sld>
</file>

<file path=ppt/slides/slide15.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E081626-F972-447B-907D-299C7F807E88}"/>
              </a:ext>
            </a:extLst>
          </p:cNvPr>
          <p:cNvSpPr>
            <a:spLocks xmlns:a="http://schemas.openxmlformats.org/drawingml/2006/main" noGrp="1"/>
          </p:cNvSpPr>
          <p:nvPr/>
        </p:nvSpPr>
        <p:spPr>
          <a:xfrm xmlns:a="http://schemas.openxmlformats.org/drawingml/2006/main">
            <a:off x="628650" y="438150"/>
            <a:ext cx="109347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3300" b="1">
                <a:solidFill>
                  <a:srgbClr val="172C42"/>
                </a:solidFill>
                <a:latin typeface="Arial"/>
                <a:ea typeface="Arial"/>
                <a:cs typeface="Arial"/>
              </a:defRPr>
            </a:defPPr>
          </a:lstStyle>
          <a:p xmlns:a="http://schemas.openxmlformats.org/drawingml/2006/main">
            <a:pPr>
              <a:defRPr sz="3300" b="1">
                <a:solidFill>
                  <a:srgbClr val="172C42"/>
                </a:solidFill>
                <a:latin typeface="Arial"/>
                <a:ea typeface="Arial"/>
                <a:cs typeface="Arial"/>
              </a:defRPr>
            </a:pPr>
            <a:r>
              <a:rPr sz="3300" b="1">
                <a:solidFill>
                  <a:srgbClr val="172C42"/>
                </a:solidFill>
                <a:latin typeface="Arial"/>
                <a:ea typeface="Arial"/>
                <a:cs typeface="Arial"/>
              </a:rPr>
              <a:t>Representative GLIF dynamic energy</a:t>
            </a:r>
          </a:p>
        </p:txBody>
      </p:sp>
      <p:sp>
        <p:nvSpPr>
          <p:cNvPr id="2" name="">
            <a:extLst xmlns:a="http://schemas.openxmlformats.org/drawingml/2006/main">
              <a:ext uri="{FF2B5EF4-FFF2-40B4-BE49-F238E27FC236}">
                <a16:creationId xmlns:a16="http://schemas.microsoft.com/office/drawing/2014/main" id="{0B8451F1-3397-47AA-B213-E735282D5085}"/>
              </a:ext>
            </a:extLst>
          </p:cNvPr>
          <p:cNvSpPr>
            <a:spLocks xmlns:a="http://schemas.openxmlformats.org/drawingml/2006/main" noGrp="1"/>
          </p:cNvSpPr>
          <p:nvPr/>
        </p:nvSpPr>
        <p:spPr>
          <a:xfrm xmlns:a="http://schemas.openxmlformats.org/drawingml/2006/main">
            <a:off x="11106150" y="63436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0">
                <a:solidFill>
                  <a:srgbClr val="536573"/>
                </a:solidFill>
                <a:latin typeface="Arial"/>
                <a:ea typeface="Arial"/>
                <a:cs typeface="Arial"/>
              </a:defRPr>
            </a:defPPr>
          </a:lstStyle>
          <a:p xmlns:a="http://schemas.openxmlformats.org/drawingml/2006/main">
            <a:pPr>
              <a:defRPr sz="1350" b="0">
                <a:solidFill>
                  <a:srgbClr val="536573"/>
                </a:solidFill>
                <a:latin typeface="Arial"/>
                <a:ea typeface="Arial"/>
                <a:cs typeface="Arial"/>
              </a:defRPr>
            </a:pPr>
            <a:r>
              <a:rPr sz="1350" b="0">
                <a:solidFill>
                  <a:srgbClr val="536573"/>
                </a:solidFill>
                <a:latin typeface="Arial"/>
                <a:ea typeface="Arial"/>
                <a:cs typeface="Arial"/>
              </a:rPr>
              <a:t>15</a:t>
            </a:r>
          </a:p>
        </p:txBody>
      </p:sp>
      <p:graphicFrame>
        <p:nvGraphicFramePr>
          <p:cNvPr id="3" name="Chart">
            <a:extLst xmlns:a="http://schemas.openxmlformats.org/drawingml/2006/main">
              <a:ext uri="{FF2B5EF4-FFF2-40B4-BE49-F238E27FC236}">
                <a16:creationId xmlns:a16="http://schemas.microsoft.com/office/drawing/2014/main" id="{C13DDE80-B503-488E-BFDA-0ED8F4444132}"/>
              </a:ext>
            </a:extLst>
          </p:cNvPr>
          <p:cNvGraphicFramePr/>
          <p:nvPr/>
        </p:nvGraphicFramePr>
        <p:xfrm>
          <a:off xmlns:a="http://schemas.openxmlformats.org/drawingml/2006/main" x="666750" y="1685925"/>
          <a:ext xmlns:a="http://schemas.openxmlformats.org/drawingml/2006/main" cx="10839450" cy="3476625"/>
        </p:xfrm>
        <a:graphic xmlns:a="http://schemas.openxmlformats.org/drawingml/2006/main">
          <a:graphicData uri="http://schemas.openxmlformats.org/drawingml/2006/chart">
            <c:chart xmlns:r="http://schemas.openxmlformats.org/officeDocument/2006/relationships" xmlns:c="http://schemas.openxmlformats.org/drawingml/2006/chart" r:id="Rbcfb3873c16f4b2d"/>
          </a:graphicData>
        </a:graphic>
      </p:graphicFrame>
      <p:sp>
        <p:nvSpPr>
          <p:cNvPr id="4" name="">
            <a:extLst xmlns:a="http://schemas.openxmlformats.org/drawingml/2006/main">
              <a:ext uri="{FF2B5EF4-FFF2-40B4-BE49-F238E27FC236}">
                <a16:creationId xmlns:a16="http://schemas.microsoft.com/office/drawing/2014/main" id="{A9826549-EA30-4AAF-8D0E-2D0342492630}"/>
              </a:ext>
            </a:extLst>
          </p:cNvPr>
          <p:cNvSpPr>
            <a:spLocks xmlns:a="http://schemas.openxmlformats.org/drawingml/2006/main" noGrp="1"/>
          </p:cNvSpPr>
          <p:nvPr/>
        </p:nvSpPr>
        <p:spPr>
          <a:xfrm xmlns:a="http://schemas.openxmlformats.org/drawingml/2006/main">
            <a:off x="704850" y="5267325"/>
            <a:ext cx="10572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175" b="1">
                <a:solidFill>
                  <a:srgbClr val="007E87"/>
                </a:solidFill>
                <a:latin typeface="Arial"/>
                <a:ea typeface="Arial"/>
                <a:cs typeface="Arial"/>
              </a:defRPr>
            </a:defPPr>
          </a:lstStyle>
          <a:p xmlns:a="http://schemas.openxmlformats.org/drawingml/2006/main">
            <a:pPr>
              <a:defRPr sz="2175" b="1">
                <a:solidFill>
                  <a:srgbClr val="007E87"/>
                </a:solidFill>
                <a:latin typeface="Arial"/>
                <a:ea typeface="Arial"/>
                <a:cs typeface="Arial"/>
              </a:defRPr>
            </a:pPr>
            <a:r>
              <a:rPr sz="2175" b="1">
                <a:solidFill>
                  <a:srgbClr val="007E87"/>
                </a:solidFill>
                <a:latin typeface="Arial"/>
                <a:ea typeface="Arial"/>
                <a:cs typeface="Arial"/>
              </a:rPr>
              <a:t>E5 saves 60.95% against E1</a:t>
            </a:r>
          </a:p>
          <a:p xmlns:a="http://schemas.openxmlformats.org/drawingml/2006/main">
            <a:pPr>
              <a:defRPr sz="2175" b="1">
                <a:solidFill>
                  <a:srgbClr val="007E87"/>
                </a:solidFill>
                <a:latin typeface="Arial"/>
                <a:ea typeface="Arial"/>
                <a:cs typeface="Arial"/>
              </a:defRPr>
            </a:pPr>
            <a:r>
              <a:rPr sz="2175" b="1">
                <a:solidFill>
                  <a:srgbClr val="007E87"/>
                </a:solidFill>
                <a:latin typeface="Arial"/>
                <a:ea typeface="Arial"/>
                <a:cs typeface="Arial"/>
              </a:rPr>
              <a:t>E3 remains near energy parity using two DSPs</a:t>
            </a:r>
          </a:p>
        </p:txBody>
      </p:sp>
      <p:sp>
        <p:nvSpPr>
          <p:cNvPr id="5" name="">
            <a:extLst xmlns:a="http://schemas.openxmlformats.org/drawingml/2006/main">
              <a:ext uri="{FF2B5EF4-FFF2-40B4-BE49-F238E27FC236}">
                <a16:creationId xmlns:a16="http://schemas.microsoft.com/office/drawing/2014/main" id="{30B05E99-58F0-4B8C-9144-D560256FE1E0}"/>
              </a:ext>
            </a:extLst>
          </p:cNvPr>
          <p:cNvSpPr>
            <a:spLocks xmlns:a="http://schemas.openxmlformats.org/drawingml/2006/main" noGrp="1"/>
          </p:cNvSpPr>
          <p:nvPr/>
        </p:nvSpPr>
        <p:spPr>
          <a:xfrm xmlns:a="http://schemas.openxmlformats.org/drawingml/2006/main">
            <a:off x="704850" y="6143625"/>
            <a:ext cx="1028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00" b="0">
                <a:solidFill>
                  <a:srgbClr val="536573"/>
                </a:solidFill>
                <a:latin typeface="Arial"/>
                <a:ea typeface="Arial"/>
                <a:cs typeface="Arial"/>
              </a:defRPr>
            </a:defPPr>
          </a:lstStyle>
          <a:p xmlns:a="http://schemas.openxmlformats.org/drawingml/2006/main">
            <a:pPr>
              <a:defRPr sz="1500" b="0">
                <a:solidFill>
                  <a:srgbClr val="536573"/>
                </a:solidFill>
                <a:latin typeface="Arial"/>
                <a:ea typeface="Arial"/>
                <a:cs typeface="Arial"/>
              </a:defRPr>
            </a:pPr>
            <a:r>
              <a:rPr sz="1500" b="0">
                <a:solidFill>
                  <a:srgbClr val="536573"/>
                </a:solidFill>
                <a:latin typeface="Arial"/>
                <a:ea typeface="Arial"/>
                <a:cs typeface="Arial"/>
              </a:rPr>
              <a:t>Estimated fixture dynamic energy at 25 °C. Common 94 fixture FFs included</a:t>
            </a:r>
          </a:p>
        </p:txBody>
      </p:sp>
    </p:spTree>
    <p:extLst>
      <p:ext uri="{BB962C8B-B14F-4D97-AF65-F5344CB8AC3E}">
        <p14:creationId xmlns:p14="http://schemas.microsoft.com/office/powerpoint/2010/main" val="743052254"/>
      </p:ext>
    </p:extLst>
  </p:cSld>
</p:sld>
</file>

<file path=ppt/slides/slide16.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C9831DB-D5E3-403F-A8D7-53F0BA4A4B9A}"/>
              </a:ext>
            </a:extLst>
          </p:cNvPr>
          <p:cNvSpPr>
            <a:spLocks xmlns:a="http://schemas.openxmlformats.org/drawingml/2006/main" noGrp="1"/>
          </p:cNvSpPr>
          <p:nvPr/>
        </p:nvSpPr>
        <p:spPr>
          <a:xfrm xmlns:a="http://schemas.openxmlformats.org/drawingml/2006/main">
            <a:off x="628650" y="438150"/>
            <a:ext cx="109347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3300" b="1">
                <a:solidFill>
                  <a:srgbClr val="172C42"/>
                </a:solidFill>
                <a:latin typeface="Arial"/>
                <a:ea typeface="Arial"/>
                <a:cs typeface="Arial"/>
              </a:defRPr>
            </a:defPPr>
          </a:lstStyle>
          <a:p xmlns:a="http://schemas.openxmlformats.org/drawingml/2006/main">
            <a:pPr>
              <a:defRPr sz="3300" b="1">
                <a:solidFill>
                  <a:srgbClr val="172C42"/>
                </a:solidFill>
                <a:latin typeface="Arial"/>
                <a:ea typeface="Arial"/>
                <a:cs typeface="Arial"/>
              </a:defRPr>
            </a:pPr>
            <a:r>
              <a:rPr sz="3300" b="1">
                <a:solidFill>
                  <a:srgbClr val="172C42"/>
                </a:solidFill>
                <a:latin typeface="Arial"/>
                <a:ea typeface="Arial"/>
                <a:cs typeface="Arial"/>
              </a:rPr>
              <a:t>Pairing opportunity depends on the workload</a:t>
            </a:r>
          </a:p>
        </p:txBody>
      </p:sp>
      <p:sp>
        <p:nvSpPr>
          <p:cNvPr id="2" name="">
            <a:extLst xmlns:a="http://schemas.openxmlformats.org/drawingml/2006/main">
              <a:ext uri="{FF2B5EF4-FFF2-40B4-BE49-F238E27FC236}">
                <a16:creationId xmlns:a16="http://schemas.microsoft.com/office/drawing/2014/main" id="{EE122E77-EC9E-42F1-AD08-30918123B2A6}"/>
              </a:ext>
            </a:extLst>
          </p:cNvPr>
          <p:cNvSpPr>
            <a:spLocks xmlns:a="http://schemas.openxmlformats.org/drawingml/2006/main" noGrp="1"/>
          </p:cNvSpPr>
          <p:nvPr/>
        </p:nvSpPr>
        <p:spPr>
          <a:xfrm xmlns:a="http://schemas.openxmlformats.org/drawingml/2006/main">
            <a:off x="11106150" y="63436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0">
                <a:solidFill>
                  <a:srgbClr val="536573"/>
                </a:solidFill>
                <a:latin typeface="Arial"/>
                <a:ea typeface="Arial"/>
                <a:cs typeface="Arial"/>
              </a:defRPr>
            </a:defPPr>
          </a:lstStyle>
          <a:p xmlns:a="http://schemas.openxmlformats.org/drawingml/2006/main">
            <a:pPr>
              <a:defRPr sz="1350" b="0">
                <a:solidFill>
                  <a:srgbClr val="536573"/>
                </a:solidFill>
                <a:latin typeface="Arial"/>
                <a:ea typeface="Arial"/>
                <a:cs typeface="Arial"/>
              </a:defRPr>
            </a:pPr>
            <a:r>
              <a:rPr sz="1350" b="0">
                <a:solidFill>
                  <a:srgbClr val="536573"/>
                </a:solidFill>
                <a:latin typeface="Arial"/>
                <a:ea typeface="Arial"/>
                <a:cs typeface="Arial"/>
              </a:rPr>
              <a:t>16</a:t>
            </a:r>
          </a:p>
        </p:txBody>
      </p:sp>
      <p:graphicFrame>
        <p:nvGraphicFramePr>
          <p:cNvPr id="3" name="Chart">
            <a:extLst xmlns:a="http://schemas.openxmlformats.org/drawingml/2006/main">
              <a:ext uri="{FF2B5EF4-FFF2-40B4-BE49-F238E27FC236}">
                <a16:creationId xmlns:a16="http://schemas.microsoft.com/office/drawing/2014/main" id="{B8FA0304-D01C-4043-AA3D-8B2612BE0550}"/>
              </a:ext>
            </a:extLst>
          </p:cNvPr>
          <p:cNvGraphicFramePr/>
          <p:nvPr/>
        </p:nvGraphicFramePr>
        <p:xfrm>
          <a:off xmlns:a="http://schemas.openxmlformats.org/drawingml/2006/main" x="666750" y="1685925"/>
          <a:ext xmlns:a="http://schemas.openxmlformats.org/drawingml/2006/main" cx="10839450" cy="3476625"/>
        </p:xfrm>
        <a:graphic xmlns:a="http://schemas.openxmlformats.org/drawingml/2006/main">
          <a:graphicData uri="http://schemas.openxmlformats.org/drawingml/2006/chart">
            <c:chart xmlns:r="http://schemas.openxmlformats.org/officeDocument/2006/relationships" xmlns:c="http://schemas.openxmlformats.org/drawingml/2006/chart" r:id="R636db54072cc41a9"/>
          </a:graphicData>
        </a:graphic>
      </p:graphicFrame>
      <p:sp>
        <p:nvSpPr>
          <p:cNvPr id="4" name="">
            <a:extLst xmlns:a="http://schemas.openxmlformats.org/drawingml/2006/main">
              <a:ext uri="{FF2B5EF4-FFF2-40B4-BE49-F238E27FC236}">
                <a16:creationId xmlns:a16="http://schemas.microsoft.com/office/drawing/2014/main" id="{4C433AB2-576E-40A3-8B5C-C76C795E61D9}"/>
              </a:ext>
            </a:extLst>
          </p:cNvPr>
          <p:cNvSpPr>
            <a:spLocks xmlns:a="http://schemas.openxmlformats.org/drawingml/2006/main" noGrp="1"/>
          </p:cNvSpPr>
          <p:nvPr/>
        </p:nvSpPr>
        <p:spPr>
          <a:xfrm xmlns:a="http://schemas.openxmlformats.org/drawingml/2006/main">
            <a:off x="704850" y="5314950"/>
            <a:ext cx="1057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175" b="1">
                <a:solidFill>
                  <a:srgbClr val="007E87"/>
                </a:solidFill>
                <a:latin typeface="Arial"/>
                <a:ea typeface="Arial"/>
                <a:cs typeface="Arial"/>
              </a:defRPr>
            </a:defPPr>
          </a:lstStyle>
          <a:p xmlns:a="http://schemas.openxmlformats.org/drawingml/2006/main">
            <a:pPr>
              <a:defRPr sz="2175" b="1">
                <a:solidFill>
                  <a:srgbClr val="007E87"/>
                </a:solidFill>
                <a:latin typeface="Arial"/>
                <a:ea typeface="Arial"/>
                <a:cs typeface="Arial"/>
              </a:defRPr>
            </a:pPr>
            <a:r>
              <a:rPr sz="2175" b="1">
                <a:solidFill>
                  <a:srgbClr val="007E87"/>
                </a:solidFill>
                <a:latin typeface="Arial"/>
                <a:ea typeface="Arial"/>
                <a:cs typeface="Arial"/>
              </a:rPr>
              <a:t>GLIF: 1.852 useful results per issue</a:t>
            </a:r>
          </a:p>
          <a:p xmlns:a="http://schemas.openxmlformats.org/drawingml/2006/main">
            <a:pPr>
              <a:defRPr sz="2175" b="1">
                <a:solidFill>
                  <a:srgbClr val="007E87"/>
                </a:solidFill>
                <a:latin typeface="Arial"/>
                <a:ea typeface="Arial"/>
                <a:cs typeface="Arial"/>
              </a:defRPr>
            </a:pPr>
            <a:r>
              <a:rPr sz="2175" b="1">
                <a:solidFill>
                  <a:srgbClr val="007E87"/>
                </a:solidFill>
                <a:latin typeface="Arial"/>
                <a:ea typeface="Arial"/>
                <a:cs typeface="Arial"/>
              </a:rPr>
              <a:t>Wider membranes make fixed full-domain pairs more attractive</a:t>
            </a:r>
          </a:p>
        </p:txBody>
      </p:sp>
    </p:spTree>
    <p:extLst>
      <p:ext uri="{BB962C8B-B14F-4D97-AF65-F5344CB8AC3E}">
        <p14:creationId xmlns:p14="http://schemas.microsoft.com/office/powerpoint/2010/main" val="596894203"/>
      </p:ext>
    </p:extLst>
  </p:cSld>
</p:sld>
</file>

<file path=ppt/slides/slide17.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682D4E9-5434-4E8D-BF92-21FE7DF730F0}"/>
              </a:ext>
            </a:extLst>
          </p:cNvPr>
          <p:cNvSpPr>
            <a:spLocks xmlns:a="http://schemas.openxmlformats.org/drawingml/2006/main" noGrp="1"/>
          </p:cNvSpPr>
          <p:nvPr/>
        </p:nvSpPr>
        <p:spPr>
          <a:xfrm xmlns:a="http://schemas.openxmlformats.org/drawingml/2006/main">
            <a:off x="628650" y="438150"/>
            <a:ext cx="109347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3300" b="1">
                <a:solidFill>
                  <a:srgbClr val="172C42"/>
                </a:solidFill>
                <a:latin typeface="Arial"/>
                <a:ea typeface="Arial"/>
                <a:cs typeface="Arial"/>
              </a:defRPr>
            </a:defPPr>
          </a:lstStyle>
          <a:p xmlns:a="http://schemas.openxmlformats.org/drawingml/2006/main">
            <a:pPr>
              <a:defRPr sz="3300" b="1">
                <a:solidFill>
                  <a:srgbClr val="172C42"/>
                </a:solidFill>
                <a:latin typeface="Arial"/>
                <a:ea typeface="Arial"/>
                <a:cs typeface="Arial"/>
              </a:defRPr>
            </a:pPr>
            <a:r>
              <a:rPr sz="3300" b="1">
                <a:solidFill>
                  <a:srgbClr val="172C42"/>
                </a:solidFill>
                <a:latin typeface="Arial"/>
                <a:ea typeface="Arial"/>
                <a:cs typeface="Arial"/>
              </a:rPr>
              <a:t>Constant leakage defines an important negative case</a:t>
            </a:r>
          </a:p>
        </p:txBody>
      </p:sp>
      <p:sp>
        <p:nvSpPr>
          <p:cNvPr id="2" name="">
            <a:extLst xmlns:a="http://schemas.openxmlformats.org/drawingml/2006/main">
              <a:ext uri="{FF2B5EF4-FFF2-40B4-BE49-F238E27FC236}">
                <a16:creationId xmlns:a16="http://schemas.microsoft.com/office/drawing/2014/main" id="{7E327E00-3D4D-4AFC-9F73-1E3007F3D5EC}"/>
              </a:ext>
            </a:extLst>
          </p:cNvPr>
          <p:cNvSpPr>
            <a:spLocks xmlns:a="http://schemas.openxmlformats.org/drawingml/2006/main" noGrp="1"/>
          </p:cNvSpPr>
          <p:nvPr/>
        </p:nvSpPr>
        <p:spPr>
          <a:xfrm xmlns:a="http://schemas.openxmlformats.org/drawingml/2006/main">
            <a:off x="11106150" y="63436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0">
                <a:solidFill>
                  <a:srgbClr val="536573"/>
                </a:solidFill>
                <a:latin typeface="Arial"/>
                <a:ea typeface="Arial"/>
                <a:cs typeface="Arial"/>
              </a:defRPr>
            </a:defPPr>
          </a:lstStyle>
          <a:p xmlns:a="http://schemas.openxmlformats.org/drawingml/2006/main">
            <a:pPr>
              <a:defRPr sz="1350" b="0">
                <a:solidFill>
                  <a:srgbClr val="536573"/>
                </a:solidFill>
                <a:latin typeface="Arial"/>
                <a:ea typeface="Arial"/>
                <a:cs typeface="Arial"/>
              </a:defRPr>
            </a:pPr>
            <a:r>
              <a:rPr sz="1350" b="0">
                <a:solidFill>
                  <a:srgbClr val="536573"/>
                </a:solidFill>
                <a:latin typeface="Arial"/>
                <a:ea typeface="Arial"/>
                <a:cs typeface="Arial"/>
              </a:rPr>
              <a:t>17</a:t>
            </a:r>
          </a:p>
        </p:txBody>
      </p:sp>
      <p:graphicFrame>
        <p:nvGraphicFramePr>
          <p:cNvPr id="3" name="Chart">
            <a:extLst xmlns:a="http://schemas.openxmlformats.org/drawingml/2006/main">
              <a:ext uri="{FF2B5EF4-FFF2-40B4-BE49-F238E27FC236}">
                <a16:creationId xmlns:a16="http://schemas.microsoft.com/office/drawing/2014/main" id="{9B206623-2484-425A-875E-14DE54513D79}"/>
              </a:ext>
            </a:extLst>
          </p:cNvPr>
          <p:cNvGraphicFramePr/>
          <p:nvPr/>
        </p:nvGraphicFramePr>
        <p:xfrm>
          <a:off xmlns:a="http://schemas.openxmlformats.org/drawingml/2006/main" x="666750" y="1695450"/>
          <a:ext xmlns:a="http://schemas.openxmlformats.org/drawingml/2006/main" cx="10839450" cy="3143250"/>
        </p:xfrm>
        <a:graphic xmlns:a="http://schemas.openxmlformats.org/drawingml/2006/main">
          <a:graphicData uri="http://schemas.openxmlformats.org/drawingml/2006/chart">
            <c:chart xmlns:r="http://schemas.openxmlformats.org/officeDocument/2006/relationships" xmlns:c="http://schemas.openxmlformats.org/drawingml/2006/chart" r:id="R0913c26384db4fc3"/>
          </a:graphicData>
        </a:graphic>
      </p:graphicFrame>
      <p:sp>
        <p:nvSpPr>
          <p:cNvPr id="4" name="">
            <a:extLst xmlns:a="http://schemas.openxmlformats.org/drawingml/2006/main">
              <a:ext uri="{FF2B5EF4-FFF2-40B4-BE49-F238E27FC236}">
                <a16:creationId xmlns:a16="http://schemas.microsoft.com/office/drawing/2014/main" id="{21A7C20B-B9C4-4143-A542-AB7F5DA872E6}"/>
              </a:ext>
            </a:extLst>
          </p:cNvPr>
          <p:cNvSpPr>
            <a:spLocks xmlns:a="http://schemas.openxmlformats.org/drawingml/2006/main" noGrp="1"/>
          </p:cNvSpPr>
          <p:nvPr/>
        </p:nvSpPr>
        <p:spPr>
          <a:xfrm xmlns:a="http://schemas.openxmlformats.org/drawingml/2006/main">
            <a:off x="704850" y="5000625"/>
            <a:ext cx="10572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325" b="1">
                <a:solidFill>
                  <a:srgbClr val="B06018"/>
                </a:solidFill>
                <a:latin typeface="Arial"/>
                <a:ea typeface="Arial"/>
                <a:cs typeface="Arial"/>
              </a:defRPr>
            </a:defPPr>
          </a:lstStyle>
          <a:p xmlns:a="http://schemas.openxmlformats.org/drawingml/2006/main">
            <a:pPr>
              <a:defRPr sz="2325" b="1">
                <a:solidFill>
                  <a:srgbClr val="B06018"/>
                </a:solidFill>
                <a:latin typeface="Arial"/>
                <a:ea typeface="Arial"/>
                <a:cs typeface="Arial"/>
              </a:defRPr>
            </a:pPr>
            <a:r>
              <a:rPr sz="2325" b="1">
                <a:solidFill>
                  <a:srgbClr val="B06018"/>
                </a:solidFill>
                <a:latin typeface="Arial"/>
                <a:ea typeface="Arial"/>
                <a:cs typeface="Arial"/>
              </a:rPr>
              <a:t>For β=128, exact shifting wins</a:t>
            </a:r>
          </a:p>
          <a:p xmlns:a="http://schemas.openxmlformats.org/drawingml/2006/main">
            <a:pPr>
              <a:defRPr sz="2325" b="1">
                <a:solidFill>
                  <a:srgbClr val="B06018"/>
                </a:solidFill>
                <a:latin typeface="Arial"/>
                <a:ea typeface="Arial"/>
                <a:cs typeface="Arial"/>
              </a:defRPr>
            </a:pPr>
            <a:r>
              <a:rPr sz="2325" b="1">
                <a:solidFill>
                  <a:srgbClr val="B06018"/>
                </a:solidFill>
                <a:latin typeface="Arial"/>
                <a:ea typeface="Arial"/>
                <a:cs typeface="Arial"/>
              </a:rPr>
              <a:t>For β=253, an exact shift/add identity also exists</a:t>
            </a:r>
          </a:p>
        </p:txBody>
      </p:sp>
      <p:sp>
        <p:nvSpPr>
          <p:cNvPr id="5" name="">
            <a:extLst xmlns:a="http://schemas.openxmlformats.org/drawingml/2006/main">
              <a:ext uri="{FF2B5EF4-FFF2-40B4-BE49-F238E27FC236}">
                <a16:creationId xmlns:a16="http://schemas.microsoft.com/office/drawing/2014/main" id="{F592A5E3-1F4F-4267-8594-F0798340665B}"/>
              </a:ext>
            </a:extLst>
          </p:cNvPr>
          <p:cNvSpPr>
            <a:spLocks xmlns:a="http://schemas.openxmlformats.org/drawingml/2006/main" noGrp="1"/>
          </p:cNvSpPr>
          <p:nvPr/>
        </p:nvSpPr>
        <p:spPr>
          <a:xfrm xmlns:a="http://schemas.openxmlformats.org/drawingml/2006/main">
            <a:off x="704850" y="5962650"/>
            <a:ext cx="1028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00" b="0">
                <a:solidFill>
                  <a:srgbClr val="536573"/>
                </a:solidFill>
                <a:latin typeface="Arial"/>
                <a:ea typeface="Arial"/>
                <a:cs typeface="Arial"/>
              </a:defRPr>
            </a:defPPr>
          </a:lstStyle>
          <a:p xmlns:a="http://schemas.openxmlformats.org/drawingml/2006/main">
            <a:pPr>
              <a:defRPr sz="1500" b="0">
                <a:solidFill>
                  <a:srgbClr val="536573"/>
                </a:solidFill>
                <a:latin typeface="Arial"/>
                <a:ea typeface="Arial"/>
                <a:cs typeface="Arial"/>
              </a:defRPr>
            </a:pPr>
            <a:r>
              <a:rPr sz="1500" b="0">
                <a:solidFill>
                  <a:srgbClr val="536573"/>
                </a:solidFill>
                <a:latin typeface="Arial"/>
                <a:ea typeface="Arial"/>
                <a:cs typeface="Arial"/>
              </a:rPr>
              <a:t>The β=253 circuit and energy have not been measured</a:t>
            </a:r>
          </a:p>
        </p:txBody>
      </p:sp>
    </p:spTree>
    <p:extLst>
      <p:ext uri="{BB962C8B-B14F-4D97-AF65-F5344CB8AC3E}">
        <p14:creationId xmlns:p14="http://schemas.microsoft.com/office/powerpoint/2010/main" val="422017480"/>
      </p:ext>
    </p:extLst>
  </p:cSld>
</p:sld>
</file>

<file path=ppt/slides/slide18.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477C443-868D-4CFF-86E8-A9047B927DB7}"/>
              </a:ext>
            </a:extLst>
          </p:cNvPr>
          <p:cNvSpPr>
            <a:spLocks xmlns:a="http://schemas.openxmlformats.org/drawingml/2006/main" noGrp="1"/>
          </p:cNvSpPr>
          <p:nvPr/>
        </p:nvSpPr>
        <p:spPr>
          <a:xfrm xmlns:a="http://schemas.openxmlformats.org/drawingml/2006/main">
            <a:off x="628650" y="438150"/>
            <a:ext cx="109347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3300" b="1">
                <a:solidFill>
                  <a:srgbClr val="172C42"/>
                </a:solidFill>
                <a:latin typeface="Arial"/>
                <a:ea typeface="Arial"/>
                <a:cs typeface="Arial"/>
              </a:defRPr>
            </a:defPPr>
          </a:lstStyle>
          <a:p xmlns:a="http://schemas.openxmlformats.org/drawingml/2006/main">
            <a:pPr>
              <a:defRPr sz="3300" b="1">
                <a:solidFill>
                  <a:srgbClr val="172C42"/>
                </a:solidFill>
                <a:latin typeface="Arial"/>
                <a:ea typeface="Arial"/>
                <a:cs typeface="Arial"/>
              </a:defRPr>
            </a:pPr>
            <a:r>
              <a:rPr sz="3300" b="1">
                <a:solidFill>
                  <a:srgbClr val="172C42"/>
                </a:solidFill>
                <a:latin typeface="Arial"/>
                <a:ea typeface="Arial"/>
                <a:cs typeface="Arial"/>
              </a:rPr>
              <a:t>Specific novelty and established ingredients</a:t>
            </a:r>
          </a:p>
        </p:txBody>
      </p:sp>
      <p:sp>
        <p:nvSpPr>
          <p:cNvPr id="2" name="">
            <a:extLst xmlns:a="http://schemas.openxmlformats.org/drawingml/2006/main">
              <a:ext uri="{FF2B5EF4-FFF2-40B4-BE49-F238E27FC236}">
                <a16:creationId xmlns:a16="http://schemas.microsoft.com/office/drawing/2014/main" id="{AAB20718-9811-4D80-9581-6C5170DE8DA7}"/>
              </a:ext>
            </a:extLst>
          </p:cNvPr>
          <p:cNvSpPr>
            <a:spLocks xmlns:a="http://schemas.openxmlformats.org/drawingml/2006/main" noGrp="1"/>
          </p:cNvSpPr>
          <p:nvPr/>
        </p:nvSpPr>
        <p:spPr>
          <a:xfrm xmlns:a="http://schemas.openxmlformats.org/drawingml/2006/main">
            <a:off x="11106150" y="63436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0">
                <a:solidFill>
                  <a:srgbClr val="536573"/>
                </a:solidFill>
                <a:latin typeface="Arial"/>
                <a:ea typeface="Arial"/>
                <a:cs typeface="Arial"/>
              </a:defRPr>
            </a:defPPr>
          </a:lstStyle>
          <a:p xmlns:a="http://schemas.openxmlformats.org/drawingml/2006/main">
            <a:pPr>
              <a:defRPr sz="1350" b="0">
                <a:solidFill>
                  <a:srgbClr val="536573"/>
                </a:solidFill>
                <a:latin typeface="Arial"/>
                <a:ea typeface="Arial"/>
                <a:cs typeface="Arial"/>
              </a:defRPr>
            </a:pPr>
            <a:r>
              <a:rPr sz="1350" b="0">
                <a:solidFill>
                  <a:srgbClr val="536573"/>
                </a:solidFill>
                <a:latin typeface="Arial"/>
                <a:ea typeface="Arial"/>
                <a:cs typeface="Arial"/>
              </a:rPr>
              <a:t>18</a:t>
            </a:r>
          </a:p>
        </p:txBody>
      </p:sp>
      <p:sp>
        <p:nvSpPr>
          <p:cNvPr id="3" name="">
            <a:extLst xmlns:a="http://schemas.openxmlformats.org/drawingml/2006/main">
              <a:ext uri="{FF2B5EF4-FFF2-40B4-BE49-F238E27FC236}">
                <a16:creationId xmlns:a16="http://schemas.microsoft.com/office/drawing/2014/main" id="{F9B80292-5F45-4AFB-8949-8E75897E64E7}"/>
              </a:ext>
            </a:extLst>
          </p:cNvPr>
          <p:cNvSpPr>
            <a:spLocks xmlns:a="http://schemas.openxmlformats.org/drawingml/2006/main" noGrp="1"/>
          </p:cNvSpPr>
          <p:nvPr/>
        </p:nvSpPr>
        <p:spPr>
          <a:xfrm xmlns:a="http://schemas.openxmlformats.org/drawingml/2006/main">
            <a:off x="704850" y="1676400"/>
            <a:ext cx="10668000" cy="3476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250" b="0">
                <a:solidFill>
                  <a:srgbClr val="172C42"/>
                </a:solidFill>
                <a:latin typeface="Arial"/>
                <a:ea typeface="Arial"/>
                <a:cs typeface="Arial"/>
              </a:defRPr>
            </a:defPPr>
          </a:lstStyle>
          <a:p xmlns:a="http://schemas.openxmlformats.org/drawingml/2006/main">
            <a:pPr>
              <a:defRPr sz="2250" b="0">
                <a:solidFill>
                  <a:srgbClr val="172C42"/>
                </a:solidFill>
                <a:latin typeface="Arial"/>
                <a:ea typeface="Arial"/>
                <a:cs typeface="Arial"/>
              </a:defRPr>
            </a:pPr>
            <a:r>
              <a:rPr sz="2250" b="0">
                <a:solidFill>
                  <a:srgbClr val="172C42"/>
                </a:solidFill>
                <a:latin typeface="Arial"/>
                <a:ea typeface="Arial"/>
                <a:cs typeface="Arial"/>
              </a:rPr>
              <a:t>Established: value-based packing and signed correction</a:t>
            </a:r>
          </a:p>
          <a:p xmlns:a="http://schemas.openxmlformats.org/drawingml/2006/main">
            <a:pPr>
              <a:defRPr sz="2250" b="0">
                <a:solidFill>
                  <a:srgbClr val="172C42"/>
                </a:solidFill>
                <a:latin typeface="Arial"/>
                <a:ea typeface="Arial"/>
                <a:cs typeface="Arial"/>
              </a:defRPr>
            </a:pPr>
            <a:r>
              <a:rPr sz="2250" b="0">
                <a:solidFill>
                  <a:srgbClr val="172C42"/>
                </a:solidFill>
                <a:latin typeface="Arial"/>
                <a:ea typeface="Arial"/>
                <a:cs typeface="Arial"/>
              </a:rPr>
              <a:t>Specific mechanism: compact exact leakage quotient recovery</a:t>
            </a:r>
          </a:p>
          <a:p xmlns:a="http://schemas.openxmlformats.org/drawingml/2006/main">
            <a:pPr>
              <a:defRPr sz="2250" b="0">
                <a:solidFill>
                  <a:srgbClr val="172C42"/>
                </a:solidFill>
                <a:latin typeface="Arial"/>
                <a:ea typeface="Arial"/>
                <a:cs typeface="Arial"/>
              </a:defRPr>
            </a:pPr>
            <a:r>
              <a:rPr sz="2250" b="0">
                <a:solidFill>
                  <a:srgbClr val="172C42"/>
                </a:solidFill>
                <a:latin typeface="Arial"/>
                <a:ea typeface="Arial"/>
                <a:cs typeface="Arial"/>
              </a:rPr>
              <a:t>Integrated contribution: actual-U admission with wide fallback</a:t>
            </a:r>
          </a:p>
          <a:p xmlns:a="http://schemas.openxmlformats.org/drawingml/2006/main">
            <a:pPr>
              <a:defRPr sz="2250" b="0">
                <a:solidFill>
                  <a:srgbClr val="172C42"/>
                </a:solidFill>
                <a:latin typeface="Arial"/>
                <a:ea typeface="Arial"/>
                <a:cs typeface="Arial"/>
              </a:defRPr>
            </a:pPr>
            <a:r>
              <a:rPr sz="2250" b="0">
                <a:solidFill>
                  <a:srgbClr val="172C42"/>
                </a:solidFill>
                <a:latin typeface="Arial"/>
                <a:ea typeface="Arial"/>
                <a:cs typeface="Arial"/>
              </a:rPr>
              <a:t>Evidence: measured same-operation trade-offs and model exactness</a:t>
            </a:r>
          </a:p>
        </p:txBody>
      </p:sp>
      <p:sp>
        <p:nvSpPr>
          <p:cNvPr id="4" name="">
            <a:extLst xmlns:a="http://schemas.openxmlformats.org/drawingml/2006/main">
              <a:ext uri="{FF2B5EF4-FFF2-40B4-BE49-F238E27FC236}">
                <a16:creationId xmlns:a16="http://schemas.microsoft.com/office/drawing/2014/main" id="{FFCE8D54-AFDA-4ED2-BE9A-DFDB66E9E2AF}"/>
              </a:ext>
            </a:extLst>
          </p:cNvPr>
          <p:cNvSpPr>
            <a:spLocks xmlns:a="http://schemas.openxmlformats.org/drawingml/2006/main" noGrp="1"/>
          </p:cNvSpPr>
          <p:nvPr/>
        </p:nvSpPr>
        <p:spPr>
          <a:xfrm xmlns:a="http://schemas.openxmlformats.org/drawingml/2006/main">
            <a:off x="704850" y="5410200"/>
            <a:ext cx="1057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175" b="1">
                <a:solidFill>
                  <a:srgbClr val="007E87"/>
                </a:solidFill>
                <a:latin typeface="Arial"/>
                <a:ea typeface="Arial"/>
                <a:cs typeface="Arial"/>
              </a:defRPr>
            </a:defPPr>
          </a:lstStyle>
          <a:p xmlns:a="http://schemas.openxmlformats.org/drawingml/2006/main">
            <a:pPr>
              <a:defRPr sz="2175" b="1">
                <a:solidFill>
                  <a:srgbClr val="007E87"/>
                </a:solidFill>
                <a:latin typeface="Arial"/>
                <a:ea typeface="Arial"/>
                <a:cs typeface="Arial"/>
              </a:defRPr>
            </a:pPr>
            <a:r>
              <a:rPr sz="2175" b="1">
                <a:solidFill>
                  <a:srgbClr val="007E87"/>
                </a:solidFill>
                <a:latin typeface="Arial"/>
                <a:ea typeface="Arial"/>
                <a:cs typeface="Arial"/>
              </a:rPr>
              <a:t>A new integrated mechanism can contribute</a:t>
            </a:r>
          </a:p>
          <a:p xmlns:a="http://schemas.openxmlformats.org/drawingml/2006/main">
            <a:pPr>
              <a:defRPr sz="2175" b="1">
                <a:solidFill>
                  <a:srgbClr val="007E87"/>
                </a:solidFill>
                <a:latin typeface="Arial"/>
                <a:ea typeface="Arial"/>
                <a:cs typeface="Arial"/>
              </a:defRPr>
            </a:pPr>
            <a:r>
              <a:rPr sz="2175" b="1">
                <a:solidFill>
                  <a:srgbClr val="007E87"/>
                </a:solidFill>
                <a:latin typeface="Arial"/>
                <a:ea typeface="Arial"/>
                <a:cs typeface="Arial"/>
              </a:rPr>
              <a:t>A proven worldwide first-ever claim is unnecessary here</a:t>
            </a:r>
          </a:p>
        </p:txBody>
      </p:sp>
    </p:spTree>
    <p:extLst>
      <p:ext uri="{BB962C8B-B14F-4D97-AF65-F5344CB8AC3E}">
        <p14:creationId xmlns:p14="http://schemas.microsoft.com/office/powerpoint/2010/main" val="1029283599"/>
      </p:ext>
    </p:extLst>
  </p:cSld>
</p:sld>
</file>

<file path=ppt/slides/slide19.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ABF0090-1E7E-477D-BD98-DC6B9D76C94F}"/>
              </a:ext>
            </a:extLst>
          </p:cNvPr>
          <p:cNvSpPr>
            <a:spLocks xmlns:a="http://schemas.openxmlformats.org/drawingml/2006/main" noGrp="1"/>
          </p:cNvSpPr>
          <p:nvPr/>
        </p:nvSpPr>
        <p:spPr>
          <a:xfrm xmlns:a="http://schemas.openxmlformats.org/drawingml/2006/main">
            <a:off x="628650" y="438150"/>
            <a:ext cx="109347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3300" b="1">
                <a:solidFill>
                  <a:srgbClr val="172C42"/>
                </a:solidFill>
                <a:latin typeface="Arial"/>
                <a:ea typeface="Arial"/>
                <a:cs typeface="Arial"/>
              </a:defRPr>
            </a:defPPr>
          </a:lstStyle>
          <a:p xmlns:a="http://schemas.openxmlformats.org/drawingml/2006/main">
            <a:pPr>
              <a:defRPr sz="3300" b="1">
                <a:solidFill>
                  <a:srgbClr val="172C42"/>
                </a:solidFill>
                <a:latin typeface="Arial"/>
                <a:ea typeface="Arial"/>
                <a:cs typeface="Arial"/>
              </a:defRPr>
            </a:pPr>
            <a:r>
              <a:rPr sz="3300" b="1">
                <a:solidFill>
                  <a:srgbClr val="172C42"/>
                </a:solidFill>
                <a:latin typeface="Arial"/>
                <a:ea typeface="Arial"/>
                <a:cs typeface="Arial"/>
              </a:rPr>
              <a:t>Paper recommendation and remaining limits</a:t>
            </a:r>
          </a:p>
        </p:txBody>
      </p:sp>
      <p:sp>
        <p:nvSpPr>
          <p:cNvPr id="2" name="">
            <a:extLst xmlns:a="http://schemas.openxmlformats.org/drawingml/2006/main">
              <a:ext uri="{FF2B5EF4-FFF2-40B4-BE49-F238E27FC236}">
                <a16:creationId xmlns:a16="http://schemas.microsoft.com/office/drawing/2014/main" id="{622B8232-A755-4C79-BEAE-304C37E9AB2B}"/>
              </a:ext>
            </a:extLst>
          </p:cNvPr>
          <p:cNvSpPr>
            <a:spLocks xmlns:a="http://schemas.openxmlformats.org/drawingml/2006/main" noGrp="1"/>
          </p:cNvSpPr>
          <p:nvPr/>
        </p:nvSpPr>
        <p:spPr>
          <a:xfrm xmlns:a="http://schemas.openxmlformats.org/drawingml/2006/main">
            <a:off x="11106150" y="63436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0">
                <a:solidFill>
                  <a:srgbClr val="536573"/>
                </a:solidFill>
                <a:latin typeface="Arial"/>
                <a:ea typeface="Arial"/>
                <a:cs typeface="Arial"/>
              </a:defRPr>
            </a:defPPr>
          </a:lstStyle>
          <a:p xmlns:a="http://schemas.openxmlformats.org/drawingml/2006/main">
            <a:pPr>
              <a:defRPr sz="1350" b="0">
                <a:solidFill>
                  <a:srgbClr val="536573"/>
                </a:solidFill>
                <a:latin typeface="Arial"/>
                <a:ea typeface="Arial"/>
                <a:cs typeface="Arial"/>
              </a:defRPr>
            </a:pPr>
            <a:r>
              <a:rPr sz="1350" b="0">
                <a:solidFill>
                  <a:srgbClr val="536573"/>
                </a:solidFill>
                <a:latin typeface="Arial"/>
                <a:ea typeface="Arial"/>
                <a:cs typeface="Arial"/>
              </a:rPr>
              <a:t>19</a:t>
            </a:r>
          </a:p>
        </p:txBody>
      </p:sp>
      <p:sp>
        <p:nvSpPr>
          <p:cNvPr id="3" name="">
            <a:extLst xmlns:a="http://schemas.openxmlformats.org/drawingml/2006/main">
              <a:ext uri="{FF2B5EF4-FFF2-40B4-BE49-F238E27FC236}">
                <a16:creationId xmlns:a16="http://schemas.microsoft.com/office/drawing/2014/main" id="{F1C6097B-B367-4985-BA2B-03F42C369F2A}"/>
              </a:ext>
            </a:extLst>
          </p:cNvPr>
          <p:cNvSpPr>
            <a:spLocks xmlns:a="http://schemas.openxmlformats.org/drawingml/2006/main" noGrp="1"/>
          </p:cNvSpPr>
          <p:nvPr/>
        </p:nvSpPr>
        <p:spPr>
          <a:xfrm xmlns:a="http://schemas.openxmlformats.org/drawingml/2006/main">
            <a:off x="704850" y="1676400"/>
            <a:ext cx="10668000" cy="3276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250" b="0">
                <a:solidFill>
                  <a:srgbClr val="172C42"/>
                </a:solidFill>
                <a:latin typeface="Arial"/>
                <a:ea typeface="Arial"/>
                <a:cs typeface="Arial"/>
              </a:defRPr>
            </a:defPPr>
          </a:lstStyle>
          <a:p xmlns:a="http://schemas.openxmlformats.org/drawingml/2006/main">
            <a:pPr>
              <a:defRPr sz="2250" b="0">
                <a:solidFill>
                  <a:srgbClr val="172C42"/>
                </a:solidFill>
                <a:latin typeface="Arial"/>
                <a:ea typeface="Arial"/>
                <a:cs typeface="Arial"/>
              </a:defRPr>
            </a:pPr>
            <a:r>
              <a:rPr sz="2250" b="0">
                <a:solidFill>
                  <a:srgbClr val="172C42"/>
                </a:solidFill>
                <a:latin typeface="Arial"/>
                <a:ea typeface="Arial"/>
                <a:cs typeface="Arial"/>
              </a:rPr>
              <a:t>Proceed with a focused leakage-primitive submission</a:t>
            </a:r>
          </a:p>
          <a:p xmlns:a="http://schemas.openxmlformats.org/drawingml/2006/main">
            <a:pPr>
              <a:defRPr sz="2250" b="0">
                <a:solidFill>
                  <a:srgbClr val="172C42"/>
                </a:solidFill>
                <a:latin typeface="Arial"/>
                <a:ea typeface="Arial"/>
                <a:cs typeface="Arial"/>
              </a:defRPr>
            </a:pPr>
            <a:r>
              <a:rPr sz="2250" b="0">
                <a:solidFill>
                  <a:srgbClr val="172C42"/>
                </a:solidFill>
                <a:latin typeface="Arial"/>
                <a:ea typeface="Arial"/>
                <a:cs typeface="Arial"/>
              </a:rPr>
              <a:t>Keep the exact decoder and membrane admission as one contribution</a:t>
            </a:r>
          </a:p>
          <a:p xmlns:a="http://schemas.openxmlformats.org/drawingml/2006/main">
            <a:pPr>
              <a:defRPr sz="2250" b="0">
                <a:solidFill>
                  <a:srgbClr val="172C42"/>
                </a:solidFill>
                <a:latin typeface="Arial"/>
                <a:ea typeface="Arial"/>
                <a:cs typeface="Arial"/>
              </a:defRPr>
            </a:pPr>
            <a:r>
              <a:rPr sz="2250" b="0">
                <a:solidFill>
                  <a:srgbClr val="172C42"/>
                </a:solidFill>
                <a:latin typeface="Arial"/>
                <a:ea typeface="Arial"/>
                <a:cs typeface="Arial"/>
              </a:rPr>
              <a:t>Report positive GLIF trade-offs and constant-leakage negative cases</a:t>
            </a:r>
          </a:p>
          <a:p xmlns:a="http://schemas.openxmlformats.org/drawingml/2006/main">
            <a:pPr>
              <a:defRPr sz="2250" b="0">
                <a:solidFill>
                  <a:srgbClr val="172C42"/>
                </a:solidFill>
                <a:latin typeface="Arial"/>
                <a:ea typeface="Arial"/>
                <a:cs typeface="Arial"/>
              </a:defRPr>
            </a:pPr>
            <a:r>
              <a:rPr sz="2250" b="0">
                <a:solidFill>
                  <a:srgbClr val="172C42"/>
                </a:solidFill>
                <a:latin typeface="Arial"/>
                <a:ea typeface="Arial"/>
                <a:cs typeface="Arial"/>
              </a:rPr>
              <a:t>Keep external integration and board-level claims outside the evidence</a:t>
            </a:r>
          </a:p>
        </p:txBody>
      </p:sp>
      <p:sp>
        <p:nvSpPr>
          <p:cNvPr id="4" name="">
            <a:extLst xmlns:a="http://schemas.openxmlformats.org/drawingml/2006/main">
              <a:ext uri="{FF2B5EF4-FFF2-40B4-BE49-F238E27FC236}">
                <a16:creationId xmlns:a16="http://schemas.microsoft.com/office/drawing/2014/main" id="{F90A20D2-0190-42D6-8A9E-A6540187E4B2}"/>
              </a:ext>
            </a:extLst>
          </p:cNvPr>
          <p:cNvSpPr>
            <a:spLocks xmlns:a="http://schemas.openxmlformats.org/drawingml/2006/main" noGrp="1"/>
          </p:cNvSpPr>
          <p:nvPr/>
        </p:nvSpPr>
        <p:spPr>
          <a:xfrm xmlns:a="http://schemas.openxmlformats.org/drawingml/2006/main">
            <a:off x="704850" y="5314950"/>
            <a:ext cx="105727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175" b="1">
                <a:solidFill>
                  <a:srgbClr val="007E87"/>
                </a:solidFill>
                <a:latin typeface="Arial"/>
                <a:ea typeface="Arial"/>
                <a:cs typeface="Arial"/>
              </a:defRPr>
            </a:defPPr>
          </a:lstStyle>
          <a:p xmlns:a="http://schemas.openxmlformats.org/drawingml/2006/main">
            <a:pPr>
              <a:defRPr sz="2175" b="1">
                <a:solidFill>
                  <a:srgbClr val="007E87"/>
                </a:solidFill>
                <a:latin typeface="Arial"/>
                <a:ea typeface="Arial"/>
                <a:cs typeface="Arial"/>
              </a:defRPr>
            </a:pPr>
            <a:r>
              <a:rPr sz="2175" b="1">
                <a:solidFill>
                  <a:srgbClr val="007E87"/>
                </a:solidFill>
                <a:latin typeface="Arial"/>
                <a:ea typeface="Arial"/>
                <a:cs typeface="Arial"/>
              </a:rPr>
              <a:t>Readiness supports submission preparation</a:t>
            </a:r>
          </a:p>
          <a:p xmlns:a="http://schemas.openxmlformats.org/drawingml/2006/main">
            <a:pPr>
              <a:defRPr sz="2175" b="1">
                <a:solidFill>
                  <a:srgbClr val="007E87"/>
                </a:solidFill>
                <a:latin typeface="Arial"/>
                <a:ea typeface="Arial"/>
                <a:cs typeface="Arial"/>
              </a:defRPr>
            </a:pPr>
            <a:r>
              <a:rPr sz="2175" b="1">
                <a:solidFill>
                  <a:srgbClr val="007E87"/>
                </a:solidFill>
                <a:latin typeface="Arial"/>
                <a:ea typeface="Arial"/>
                <a:cs typeface="Arial"/>
              </a:rPr>
              <a:t>Reviewers determine novelty significance and acceptance</a:t>
            </a:r>
          </a:p>
        </p:txBody>
      </p:sp>
    </p:spTree>
    <p:extLst>
      <p:ext uri="{BB962C8B-B14F-4D97-AF65-F5344CB8AC3E}">
        <p14:creationId xmlns:p14="http://schemas.microsoft.com/office/powerpoint/2010/main" val="333274735"/>
      </p:ext>
    </p:extLst>
  </p:cSld>
</p:sld>
</file>

<file path=ppt/slides/slide20.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125FB39-B4B0-401A-A12A-B594A1186AE4}"/>
              </a:ext>
            </a:extLst>
          </p:cNvPr>
          <p:cNvSpPr>
            <a:spLocks xmlns:a="http://schemas.openxmlformats.org/drawingml/2006/main" noGrp="1"/>
          </p:cNvSpPr>
          <p:nvPr/>
        </p:nvSpPr>
        <p:spPr>
          <a:xfrm xmlns:a="http://schemas.openxmlformats.org/drawingml/2006/main">
            <a:off x="628650" y="438150"/>
            <a:ext cx="109347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3300" b="1">
                <a:solidFill>
                  <a:srgbClr val="172C42"/>
                </a:solidFill>
                <a:latin typeface="Arial"/>
                <a:ea typeface="Arial"/>
                <a:cs typeface="Arial"/>
              </a:defRPr>
            </a:defPPr>
          </a:lstStyle>
          <a:p xmlns:a="http://schemas.openxmlformats.org/drawingml/2006/main">
            <a:pPr>
              <a:defRPr sz="3300" b="1">
                <a:solidFill>
                  <a:srgbClr val="172C42"/>
                </a:solidFill>
                <a:latin typeface="Arial"/>
                <a:ea typeface="Arial"/>
                <a:cs typeface="Arial"/>
              </a:defRPr>
            </a:pPr>
            <a:r>
              <a:rPr sz="3300" b="1">
                <a:solidFill>
                  <a:srgbClr val="172C42"/>
                </a:solidFill>
                <a:latin typeface="Arial"/>
                <a:ea typeface="Arial"/>
                <a:cs typeface="Arial"/>
              </a:rPr>
              <a:t>Mentor handoff and reproduction</a:t>
            </a:r>
          </a:p>
        </p:txBody>
      </p:sp>
      <p:sp>
        <p:nvSpPr>
          <p:cNvPr id="2" name="">
            <a:extLst xmlns:a="http://schemas.openxmlformats.org/drawingml/2006/main">
              <a:ext uri="{FF2B5EF4-FFF2-40B4-BE49-F238E27FC236}">
                <a16:creationId xmlns:a16="http://schemas.microsoft.com/office/drawing/2014/main" id="{BCF7DCA0-AB9E-4251-867E-43C6B87C4294}"/>
              </a:ext>
            </a:extLst>
          </p:cNvPr>
          <p:cNvSpPr>
            <a:spLocks xmlns:a="http://schemas.openxmlformats.org/drawingml/2006/main" noGrp="1"/>
          </p:cNvSpPr>
          <p:nvPr/>
        </p:nvSpPr>
        <p:spPr>
          <a:xfrm xmlns:a="http://schemas.openxmlformats.org/drawingml/2006/main">
            <a:off x="11106150" y="63436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0">
                <a:solidFill>
                  <a:srgbClr val="536573"/>
                </a:solidFill>
                <a:latin typeface="Arial"/>
                <a:ea typeface="Arial"/>
                <a:cs typeface="Arial"/>
              </a:defRPr>
            </a:defPPr>
          </a:lstStyle>
          <a:p xmlns:a="http://schemas.openxmlformats.org/drawingml/2006/main">
            <a:pPr>
              <a:defRPr sz="1350" b="0">
                <a:solidFill>
                  <a:srgbClr val="536573"/>
                </a:solidFill>
                <a:latin typeface="Arial"/>
                <a:ea typeface="Arial"/>
                <a:cs typeface="Arial"/>
              </a:defRPr>
            </a:pPr>
            <a:r>
              <a:rPr sz="1350" b="0">
                <a:solidFill>
                  <a:srgbClr val="536573"/>
                </a:solidFill>
                <a:latin typeface="Arial"/>
                <a:ea typeface="Arial"/>
                <a:cs typeface="Arial"/>
              </a:rPr>
              <a:t>20</a:t>
            </a:r>
          </a:p>
        </p:txBody>
      </p:sp>
      <p:sp>
        <p:nvSpPr>
          <p:cNvPr id="3" name="">
            <a:extLst xmlns:a="http://schemas.openxmlformats.org/drawingml/2006/main">
              <a:ext uri="{FF2B5EF4-FFF2-40B4-BE49-F238E27FC236}">
                <a16:creationId xmlns:a16="http://schemas.microsoft.com/office/drawing/2014/main" id="{DD2FDED9-DE3E-4ED4-952D-DE6231C10C32}"/>
              </a:ext>
            </a:extLst>
          </p:cNvPr>
          <p:cNvSpPr>
            <a:spLocks xmlns:a="http://schemas.openxmlformats.org/drawingml/2006/main" noGrp="1"/>
          </p:cNvSpPr>
          <p:nvPr/>
        </p:nvSpPr>
        <p:spPr>
          <a:xfrm xmlns:a="http://schemas.openxmlformats.org/drawingml/2006/main">
            <a:off x="704850" y="1676400"/>
            <a:ext cx="10572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1">
                <a:solidFill>
                  <a:srgbClr val="007E87"/>
                </a:solidFill>
                <a:latin typeface="Arial"/>
                <a:ea typeface="Arial"/>
                <a:cs typeface="Arial"/>
              </a:defRPr>
            </a:defPPr>
          </a:lstStyle>
          <a:p xmlns:a="http://schemas.openxmlformats.org/drawingml/2006/main">
            <a:pPr>
              <a:defRPr sz="2400" b="1">
                <a:solidFill>
                  <a:srgbClr val="007E87"/>
                </a:solidFill>
                <a:latin typeface="Arial"/>
                <a:ea typeface="Arial"/>
                <a:cs typeface="Arial"/>
              </a:defRPr>
            </a:pPr>
            <a:r>
              <a:rPr sz="2400" b="1">
                <a:solidFill>
                  <a:srgbClr val="007E87"/>
                </a:solidFill>
                <a:latin typeface="Arial"/>
                <a:ea typeface="Arial"/>
                <a:cs typeface="Arial"/>
              </a:rPr>
              <a:t>github.com/riteshdasari/membrane-leakage-packing</a:t>
            </a:r>
          </a:p>
        </p:txBody>
      </p:sp>
      <p:sp>
        <p:nvSpPr>
          <p:cNvPr id="4" name="">
            <a:extLst xmlns:a="http://schemas.openxmlformats.org/drawingml/2006/main">
              <a:ext uri="{FF2B5EF4-FFF2-40B4-BE49-F238E27FC236}">
                <a16:creationId xmlns:a16="http://schemas.microsoft.com/office/drawing/2014/main" id="{B029DDC7-BD51-43C4-886C-7154D9DB0FC3}"/>
              </a:ext>
            </a:extLst>
          </p:cNvPr>
          <p:cNvSpPr>
            <a:spLocks xmlns:a="http://schemas.openxmlformats.org/drawingml/2006/main" noGrp="1"/>
          </p:cNvSpPr>
          <p:nvPr/>
        </p:nvSpPr>
        <p:spPr>
          <a:xfrm xmlns:a="http://schemas.openxmlformats.org/drawingml/2006/main">
            <a:off x="704850" y="2762250"/>
            <a:ext cx="10668000" cy="2600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250" b="0">
                <a:solidFill>
                  <a:srgbClr val="172C42"/>
                </a:solidFill>
                <a:latin typeface="Arial"/>
                <a:ea typeface="Arial"/>
                <a:cs typeface="Arial"/>
              </a:defRPr>
            </a:defPPr>
          </a:lstStyle>
          <a:p xmlns:a="http://schemas.openxmlformats.org/drawingml/2006/main">
            <a:pPr>
              <a:defRPr sz="2250" b="0">
                <a:solidFill>
                  <a:srgbClr val="172C42"/>
                </a:solidFill>
                <a:latin typeface="Arial"/>
                <a:ea typeface="Arial"/>
                <a:cs typeface="Arial"/>
              </a:defRPr>
            </a:pPr>
            <a:r>
              <a:rPr sz="2250" b="0">
                <a:solidFill>
                  <a:srgbClr val="172C42"/>
                </a:solidFill>
                <a:latin typeface="Arial"/>
                <a:ea typeface="Arial"/>
                <a:cs typeface="Arial"/>
              </a:rPr>
              <a:t>README and worked integer examples</a:t>
            </a:r>
          </a:p>
          <a:p xmlns:a="http://schemas.openxmlformats.org/drawingml/2006/main">
            <a:pPr>
              <a:defRPr sz="2250" b="0">
                <a:solidFill>
                  <a:srgbClr val="172C42"/>
                </a:solidFill>
                <a:latin typeface="Arial"/>
                <a:ea typeface="Arial"/>
                <a:cs typeface="Arial"/>
              </a:defRPr>
            </a:pPr>
            <a:r>
              <a:rPr sz="2250" b="0">
                <a:solidFill>
                  <a:srgbClr val="172C42"/>
                </a:solidFill>
                <a:latin typeface="Arial"/>
                <a:ea typeface="Arial"/>
                <a:cs typeface="Arial"/>
              </a:rPr>
              <a:t>IEEE paper source and editable diagrams in these slides</a:t>
            </a:r>
          </a:p>
          <a:p xmlns:a="http://schemas.openxmlformats.org/drawingml/2006/main">
            <a:pPr>
              <a:defRPr sz="2250" b="0">
                <a:solidFill>
                  <a:srgbClr val="172C42"/>
                </a:solidFill>
                <a:latin typeface="Arial"/>
                <a:ea typeface="Arial"/>
                <a:cs typeface="Arial"/>
              </a:defRPr>
            </a:pPr>
            <a:r>
              <a:rPr sz="2250" b="0">
                <a:solidFill>
                  <a:srgbClr val="172C42"/>
                </a:solidFill>
                <a:latin typeface="Arial"/>
                <a:ea typeface="Arial"/>
                <a:cs typeface="Arial"/>
              </a:rPr>
              <a:t>Full user-facing chat export and archived research code</a:t>
            </a:r>
          </a:p>
          <a:p xmlns:a="http://schemas.openxmlformats.org/drawingml/2006/main">
            <a:pPr>
              <a:defRPr sz="2250" b="0">
                <a:solidFill>
                  <a:srgbClr val="172C42"/>
                </a:solidFill>
                <a:latin typeface="Arial"/>
                <a:ea typeface="Arial"/>
                <a:cs typeface="Arial"/>
              </a:defRPr>
            </a:pPr>
            <a:r>
              <a:rPr sz="2250" b="0">
                <a:solidFill>
                  <a:srgbClr val="172C42"/>
                </a:solidFill>
                <a:latin typeface="Arial"/>
                <a:ea typeface="Arial"/>
                <a:cs typeface="Arial"/>
              </a:rPr>
              <a:t>Evidence manifest with accepted results and failed attempts</a:t>
            </a:r>
          </a:p>
        </p:txBody>
      </p:sp>
      <p:sp>
        <p:nvSpPr>
          <p:cNvPr id="5" name="">
            <a:extLst xmlns:a="http://schemas.openxmlformats.org/drawingml/2006/main">
              <a:ext uri="{FF2B5EF4-FFF2-40B4-BE49-F238E27FC236}">
                <a16:creationId xmlns:a16="http://schemas.microsoft.com/office/drawing/2014/main" id="{9D314976-DC6C-49AA-9138-6186D16EDE93}"/>
              </a:ext>
            </a:extLst>
          </p:cNvPr>
          <p:cNvSpPr>
            <a:spLocks xmlns:a="http://schemas.openxmlformats.org/drawingml/2006/main" noGrp="1"/>
          </p:cNvSpPr>
          <p:nvPr/>
        </p:nvSpPr>
        <p:spPr>
          <a:xfrm xmlns:a="http://schemas.openxmlformats.org/drawingml/2006/main">
            <a:off x="704850" y="5962650"/>
            <a:ext cx="1028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00" b="0">
                <a:solidFill>
                  <a:srgbClr val="536573"/>
                </a:solidFill>
                <a:latin typeface="Arial"/>
                <a:ea typeface="Arial"/>
                <a:cs typeface="Arial"/>
              </a:defRPr>
            </a:defPPr>
          </a:lstStyle>
          <a:p xmlns:a="http://schemas.openxmlformats.org/drawingml/2006/main">
            <a:pPr>
              <a:defRPr sz="1500" b="0">
                <a:solidFill>
                  <a:srgbClr val="536573"/>
                </a:solidFill>
                <a:latin typeface="Arial"/>
                <a:ea typeface="Arial"/>
                <a:cs typeface="Arial"/>
              </a:defRPr>
            </a:pPr>
            <a:r>
              <a:rPr sz="1500" b="0">
                <a:solidFill>
                  <a:srgbClr val="536573"/>
                </a:solidFill>
                <a:latin typeface="Arial"/>
                <a:ea typeface="Arial"/>
                <a:cs typeface="Arial"/>
              </a:rPr>
              <a:t>OpenAI Codex assisted prototyping, validation, analysis, drafting and slides. Author placeholder: X</a:t>
            </a:r>
          </a:p>
        </p:txBody>
      </p:sp>
    </p:spTree>
    <p:extLst>
      <p:ext uri="{BB962C8B-B14F-4D97-AF65-F5344CB8AC3E}">
        <p14:creationId xmlns:p14="http://schemas.microsoft.com/office/powerpoint/2010/main" val="1730938002"/>
      </p:ext>
    </p:extLst>
  </p:cSld>
</p:sld>
</file>

<file path=ppt/slides/slide21.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33BEDC9-C298-4DCE-B6CF-C27F1C9FBE6F}"/>
              </a:ext>
            </a:extLst>
          </p:cNvPr>
          <p:cNvSpPr>
            <a:spLocks xmlns:a="http://schemas.openxmlformats.org/drawingml/2006/main" noGrp="1"/>
          </p:cNvSpPr>
          <p:nvPr/>
        </p:nvSpPr>
        <p:spPr>
          <a:xfrm xmlns:a="http://schemas.openxmlformats.org/drawingml/2006/main">
            <a:off x="628650" y="438150"/>
            <a:ext cx="109347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3300" b="1">
                <a:solidFill>
                  <a:srgbClr val="172C42"/>
                </a:solidFill>
                <a:latin typeface="Arial"/>
                <a:ea typeface="Arial"/>
                <a:cs typeface="Arial"/>
              </a:defRPr>
            </a:defPPr>
          </a:lstStyle>
          <a:p xmlns:a="http://schemas.openxmlformats.org/drawingml/2006/main">
            <a:pPr>
              <a:defRPr sz="3300" b="1">
                <a:solidFill>
                  <a:srgbClr val="172C42"/>
                </a:solidFill>
                <a:latin typeface="Arial"/>
                <a:ea typeface="Arial"/>
                <a:cs typeface="Arial"/>
              </a:defRPr>
            </a:pPr>
            <a:r>
              <a:rPr sz="3300" b="1">
                <a:solidFill>
                  <a:srgbClr val="172C42"/>
                </a:solidFill>
                <a:latin typeface="Arial"/>
                <a:ea typeface="Arial"/>
                <a:cs typeface="Arial"/>
              </a:rPr>
              <a:t>Appendix: exact decoder equations</a:t>
            </a:r>
          </a:p>
        </p:txBody>
      </p:sp>
      <p:sp>
        <p:nvSpPr>
          <p:cNvPr id="2" name="">
            <a:extLst xmlns:a="http://schemas.openxmlformats.org/drawingml/2006/main">
              <a:ext uri="{FF2B5EF4-FFF2-40B4-BE49-F238E27FC236}">
                <a16:creationId xmlns:a16="http://schemas.microsoft.com/office/drawing/2014/main" id="{19487A79-7FA2-4702-A47A-0A80873EDAB3}"/>
              </a:ext>
            </a:extLst>
          </p:cNvPr>
          <p:cNvSpPr>
            <a:spLocks xmlns:a="http://schemas.openxmlformats.org/drawingml/2006/main" noGrp="1"/>
          </p:cNvSpPr>
          <p:nvPr/>
        </p:nvSpPr>
        <p:spPr>
          <a:xfrm xmlns:a="http://schemas.openxmlformats.org/drawingml/2006/main">
            <a:off x="11106150" y="63436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0">
                <a:solidFill>
                  <a:srgbClr val="536573"/>
                </a:solidFill>
                <a:latin typeface="Arial"/>
                <a:ea typeface="Arial"/>
                <a:cs typeface="Arial"/>
              </a:defRPr>
            </a:defPPr>
          </a:lstStyle>
          <a:p xmlns:a="http://schemas.openxmlformats.org/drawingml/2006/main">
            <a:pPr>
              <a:defRPr sz="1350" b="0">
                <a:solidFill>
                  <a:srgbClr val="536573"/>
                </a:solidFill>
                <a:latin typeface="Arial"/>
                <a:ea typeface="Arial"/>
                <a:cs typeface="Arial"/>
              </a:defRPr>
            </a:pPr>
            <a:r>
              <a:rPr sz="1350" b="0">
                <a:solidFill>
                  <a:srgbClr val="536573"/>
                </a:solidFill>
                <a:latin typeface="Arial"/>
                <a:ea typeface="Arial"/>
                <a:cs typeface="Arial"/>
              </a:rPr>
              <a:t>21</a:t>
            </a:r>
          </a:p>
        </p:txBody>
      </p:sp>
      <p:sp>
        <p:nvSpPr>
          <p:cNvPr id="3" name="">
            <a:extLst xmlns:a="http://schemas.openxmlformats.org/drawingml/2006/main">
              <a:ext uri="{FF2B5EF4-FFF2-40B4-BE49-F238E27FC236}">
                <a16:creationId xmlns:a16="http://schemas.microsoft.com/office/drawing/2014/main" id="{CB70C601-4F53-4AD9-94C7-6416A7B54DE7}"/>
              </a:ext>
            </a:extLst>
          </p:cNvPr>
          <p:cNvSpPr>
            <a:spLocks xmlns:a="http://schemas.openxmlformats.org/drawingml/2006/main" noGrp="1"/>
          </p:cNvSpPr>
          <p:nvPr/>
        </p:nvSpPr>
        <p:spPr>
          <a:xfrm xmlns:a="http://schemas.openxmlformats.org/drawingml/2006/main">
            <a:off x="704850" y="1581150"/>
            <a:ext cx="105727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625" b="1">
                <a:solidFill>
                  <a:srgbClr val="007E87"/>
                </a:solidFill>
                <a:latin typeface="Arial"/>
                <a:ea typeface="Arial"/>
                <a:cs typeface="Arial"/>
              </a:defRPr>
            </a:defPPr>
          </a:lstStyle>
          <a:p xmlns:a="http://schemas.openxmlformats.org/drawingml/2006/main">
            <a:pPr>
              <a:defRPr sz="2625" b="1">
                <a:solidFill>
                  <a:srgbClr val="007E87"/>
                </a:solidFill>
                <a:latin typeface="Arial"/>
                <a:ea typeface="Arial"/>
                <a:cs typeface="Arial"/>
              </a:defRPr>
            </a:pPr>
            <a:r>
              <a:rPr sz="2625" b="1">
                <a:solidFill>
                  <a:srgbClr val="007E87"/>
                </a:solidFill>
                <a:latin typeface="Arial"/>
                <a:ea typeface="Arial"/>
                <a:cs typeface="Arial"/>
              </a:rPr>
              <a:t>r = (LSB(β) AND LSB(u₁)) XOR 1</a:t>
            </a:r>
          </a:p>
          <a:p xmlns:a="http://schemas.openxmlformats.org/drawingml/2006/main">
            <a:pPr>
              <a:defRPr sz="2625" b="1">
                <a:solidFill>
                  <a:srgbClr val="007E87"/>
                </a:solidFill>
                <a:latin typeface="Arial"/>
                <a:ea typeface="Arial"/>
                <a:cs typeface="Arial"/>
              </a:defRPr>
            </a:pPr>
            <a:r>
              <a:rPr sz="2625" b="1">
                <a:solidFill>
                  <a:srgbClr val="007E87"/>
                </a:solidFill>
                <a:latin typeface="Arial"/>
                <a:ea typeface="Arial"/>
                <a:cs typeface="Arial"/>
              </a:rPr>
              <a:t>n = P₁₆ XOR r</a:t>
            </a:r>
          </a:p>
        </p:txBody>
      </p:sp>
      <p:sp>
        <p:nvSpPr>
          <p:cNvPr id="4" name="">
            <a:extLst xmlns:a="http://schemas.openxmlformats.org/drawingml/2006/main">
              <a:ext uri="{FF2B5EF4-FFF2-40B4-BE49-F238E27FC236}">
                <a16:creationId xmlns:a16="http://schemas.microsoft.com/office/drawing/2014/main" id="{16D634B8-73F1-4982-A7AA-C031AF87DADE}"/>
              </a:ext>
            </a:extLst>
          </p:cNvPr>
          <p:cNvSpPr>
            <a:spLocks xmlns:a="http://schemas.openxmlformats.org/drawingml/2006/main" noGrp="1"/>
          </p:cNvSpPr>
          <p:nvPr/>
        </p:nvSpPr>
        <p:spPr>
          <a:xfrm xmlns:a="http://schemas.openxmlformats.org/drawingml/2006/main">
            <a:off x="704850" y="3162300"/>
            <a:ext cx="106680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250" b="0">
                <a:solidFill>
                  <a:srgbClr val="172C42"/>
                </a:solidFill>
                <a:latin typeface="Arial"/>
                <a:ea typeface="Arial"/>
                <a:cs typeface="Arial"/>
              </a:defRPr>
            </a:defPPr>
          </a:lstStyle>
          <a:p xmlns:a="http://schemas.openxmlformats.org/drawingml/2006/main">
            <a:pPr>
              <a:defRPr sz="2250" b="0">
                <a:solidFill>
                  <a:srgbClr val="172C42"/>
                </a:solidFill>
                <a:latin typeface="Arial"/>
                <a:ea typeface="Arial"/>
                <a:cs typeface="Arial"/>
              </a:defRPr>
            </a:pPr>
            <a:r>
              <a:rPr sz="2250" b="0">
                <a:solidFill>
                  <a:srgbClr val="172C42"/>
                </a:solidFill>
                <a:latin typeface="Arial"/>
                <a:ea typeface="Arial"/>
                <a:cs typeface="Arial"/>
              </a:rPr>
              <a:t>L₀ = unsigned(P[15:8]) − 256n</a:t>
            </a:r>
          </a:p>
          <a:p xmlns:a="http://schemas.openxmlformats.org/drawingml/2006/main">
            <a:pPr>
              <a:defRPr sz="2250" b="0">
                <a:solidFill>
                  <a:srgbClr val="172C42"/>
                </a:solidFill>
                <a:latin typeface="Arial"/>
                <a:ea typeface="Arial"/>
                <a:cs typeface="Arial"/>
              </a:defRPr>
            </a:pPr>
            <a:r>
              <a:rPr sz="2250" b="0">
                <a:solidFill>
                  <a:srgbClr val="172C42"/>
                </a:solidFill>
                <a:latin typeface="Arial"/>
                <a:ea typeface="Arial"/>
                <a:cs typeface="Arial"/>
              </a:rPr>
              <a:t>L₁ = signed9(P[32:24]) + (n AND P[23:16] = 255)</a:t>
            </a:r>
          </a:p>
        </p:txBody>
      </p:sp>
      <p:sp>
        <p:nvSpPr>
          <p:cNvPr id="5" name="">
            <a:extLst xmlns:a="http://schemas.openxmlformats.org/drawingml/2006/main">
              <a:ext uri="{FF2B5EF4-FFF2-40B4-BE49-F238E27FC236}">
                <a16:creationId xmlns:a16="http://schemas.microsoft.com/office/drawing/2014/main" id="{5D0E3270-CB8A-46CE-8D45-D24E828C0FEB}"/>
              </a:ext>
            </a:extLst>
          </p:cNvPr>
          <p:cNvSpPr>
            <a:spLocks xmlns:a="http://schemas.openxmlformats.org/drawingml/2006/main" noGrp="1"/>
          </p:cNvSpPr>
          <p:nvPr/>
        </p:nvSpPr>
        <p:spPr>
          <a:xfrm xmlns:a="http://schemas.openxmlformats.org/drawingml/2006/main">
            <a:off x="704850" y="512445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100" b="0">
                <a:solidFill>
                  <a:srgbClr val="536573"/>
                </a:solidFill>
                <a:latin typeface="Arial"/>
                <a:ea typeface="Arial"/>
                <a:cs typeface="Arial"/>
              </a:defRPr>
            </a:defPPr>
          </a:lstStyle>
          <a:p xmlns:a="http://schemas.openxmlformats.org/drawingml/2006/main">
            <a:pPr>
              <a:defRPr sz="2100" b="0">
                <a:solidFill>
                  <a:srgbClr val="536573"/>
                </a:solidFill>
                <a:latin typeface="Arial"/>
                <a:ea typeface="Arial"/>
                <a:cs typeface="Arial"/>
              </a:defRPr>
            </a:pPr>
            <a:r>
              <a:rPr sz="2100" b="0">
                <a:solidFill>
                  <a:srgbClr val="536573"/>
                </a:solidFill>
                <a:latin typeface="Arial"/>
                <a:ea typeface="Arial"/>
                <a:cs typeface="Arial"/>
              </a:rPr>
              <a:t>P[i:j] selects inclusive bits i through j</a:t>
            </a:r>
          </a:p>
          <a:p xmlns:a="http://schemas.openxmlformats.org/drawingml/2006/main">
            <a:pPr>
              <a:defRPr sz="2100" b="0">
                <a:solidFill>
                  <a:srgbClr val="536573"/>
                </a:solidFill>
                <a:latin typeface="Arial"/>
                <a:ea typeface="Arial"/>
                <a:cs typeface="Arial"/>
              </a:defRPr>
            </a:pPr>
            <a:r>
              <a:rPr sz="2100" b="0">
                <a:solidFill>
                  <a:srgbClr val="536573"/>
                </a:solidFill>
                <a:latin typeface="Arial"/>
                <a:ea typeface="Arial"/>
                <a:cs typeface="Arial"/>
              </a:rPr>
              <a:t>LSB denotes the least significant bit (odd/even parity)</a:t>
            </a:r>
          </a:p>
        </p:txBody>
      </p:sp>
    </p:spTree>
    <p:extLst>
      <p:ext uri="{BB962C8B-B14F-4D97-AF65-F5344CB8AC3E}">
        <p14:creationId xmlns:p14="http://schemas.microsoft.com/office/powerpoint/2010/main" val="1219313528"/>
      </p:ext>
    </p:extLst>
  </p:cSld>
</p:sld>
</file>

<file path=ppt/slides/slide22.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673F7AC-323A-47AB-99C5-5F2E04238A1D}"/>
              </a:ext>
            </a:extLst>
          </p:cNvPr>
          <p:cNvSpPr>
            <a:spLocks xmlns:a="http://schemas.openxmlformats.org/drawingml/2006/main" noGrp="1"/>
          </p:cNvSpPr>
          <p:nvPr/>
        </p:nvSpPr>
        <p:spPr>
          <a:xfrm xmlns:a="http://schemas.openxmlformats.org/drawingml/2006/main">
            <a:off x="628650" y="438150"/>
            <a:ext cx="109347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3300" b="1">
                <a:solidFill>
                  <a:srgbClr val="172C42"/>
                </a:solidFill>
                <a:latin typeface="Arial"/>
                <a:ea typeface="Arial"/>
                <a:cs typeface="Arial"/>
              </a:defRPr>
            </a:defPPr>
          </a:lstStyle>
          <a:p xmlns:a="http://schemas.openxmlformats.org/drawingml/2006/main">
            <a:pPr>
              <a:defRPr sz="3300" b="1">
                <a:solidFill>
                  <a:srgbClr val="172C42"/>
                </a:solidFill>
                <a:latin typeface="Arial"/>
                <a:ea typeface="Arial"/>
                <a:cs typeface="Arial"/>
              </a:defRPr>
            </a:pPr>
            <a:r>
              <a:rPr sz="3300" b="1">
                <a:solidFill>
                  <a:srgbClr val="172C42"/>
                </a:solidFill>
                <a:latin typeface="Arial"/>
                <a:ea typeface="Arial"/>
                <a:cs typeface="Arial"/>
              </a:rPr>
              <a:t>Appendix: the exact fixed split reference</a:t>
            </a:r>
          </a:p>
        </p:txBody>
      </p:sp>
      <p:sp>
        <p:nvSpPr>
          <p:cNvPr id="2" name="">
            <a:extLst xmlns:a="http://schemas.openxmlformats.org/drawingml/2006/main">
              <a:ext uri="{FF2B5EF4-FFF2-40B4-BE49-F238E27FC236}">
                <a16:creationId xmlns:a16="http://schemas.microsoft.com/office/drawing/2014/main" id="{6D35D3DC-A95D-4D76-BAEE-C8874D817888}"/>
              </a:ext>
            </a:extLst>
          </p:cNvPr>
          <p:cNvSpPr>
            <a:spLocks xmlns:a="http://schemas.openxmlformats.org/drawingml/2006/main" noGrp="1"/>
          </p:cNvSpPr>
          <p:nvPr/>
        </p:nvSpPr>
        <p:spPr>
          <a:xfrm xmlns:a="http://schemas.openxmlformats.org/drawingml/2006/main">
            <a:off x="11106150" y="63436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0">
                <a:solidFill>
                  <a:srgbClr val="536573"/>
                </a:solidFill>
                <a:latin typeface="Arial"/>
                <a:ea typeface="Arial"/>
                <a:cs typeface="Arial"/>
              </a:defRPr>
            </a:defPPr>
          </a:lstStyle>
          <a:p xmlns:a="http://schemas.openxmlformats.org/drawingml/2006/main">
            <a:pPr>
              <a:defRPr sz="1350" b="0">
                <a:solidFill>
                  <a:srgbClr val="536573"/>
                </a:solidFill>
                <a:latin typeface="Arial"/>
                <a:ea typeface="Arial"/>
                <a:cs typeface="Arial"/>
              </a:defRPr>
            </a:pPr>
            <a:r>
              <a:rPr sz="1350" b="0">
                <a:solidFill>
                  <a:srgbClr val="536573"/>
                </a:solidFill>
                <a:latin typeface="Arial"/>
                <a:ea typeface="Arial"/>
                <a:cs typeface="Arial"/>
              </a:rPr>
              <a:t>22</a:t>
            </a:r>
          </a:p>
        </p:txBody>
      </p:sp>
      <p:sp>
        <p:nvSpPr>
          <p:cNvPr id="3" name="">
            <a:extLst xmlns:a="http://schemas.openxmlformats.org/drawingml/2006/main">
              <a:ext uri="{FF2B5EF4-FFF2-40B4-BE49-F238E27FC236}">
                <a16:creationId xmlns:a16="http://schemas.microsoft.com/office/drawing/2014/main" id="{FECF6EDF-DB53-4096-96E0-F505C1B49DBB}"/>
              </a:ext>
            </a:extLst>
          </p:cNvPr>
          <p:cNvSpPr>
            <a:spLocks xmlns:a="http://schemas.openxmlformats.org/drawingml/2006/main" noGrp="1"/>
          </p:cNvSpPr>
          <p:nvPr/>
        </p:nvSpPr>
        <p:spPr>
          <a:xfrm xmlns:a="http://schemas.openxmlformats.org/drawingml/2006/main">
            <a:off x="704850" y="160020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700" b="1">
                <a:solidFill>
                  <a:srgbClr val="007E87"/>
                </a:solidFill>
                <a:latin typeface="Arial"/>
                <a:ea typeface="Arial"/>
                <a:cs typeface="Arial"/>
              </a:defRPr>
            </a:defPPr>
          </a:lstStyle>
          <a:p xmlns:a="http://schemas.openxmlformats.org/drawingml/2006/main">
            <a:pPr>
              <a:defRPr sz="2700" b="1">
                <a:solidFill>
                  <a:srgbClr val="007E87"/>
                </a:solidFill>
                <a:latin typeface="Arial"/>
                <a:ea typeface="Arial"/>
                <a:cs typeface="Arial"/>
              </a:defRPr>
            </a:pPr>
            <a:r>
              <a:rPr sz="2700" b="1">
                <a:solidFill>
                  <a:srgbClr val="007E87"/>
                </a:solidFill>
                <a:latin typeface="Arial"/>
                <a:ea typeface="Arial"/>
                <a:cs typeface="Arial"/>
              </a:rPr>
              <a:t>U = 256h + q, with 0 ≤ q ≤ 255</a:t>
            </a:r>
          </a:p>
        </p:txBody>
      </p:sp>
      <p:sp>
        <p:nvSpPr>
          <p:cNvPr id="4" name="">
            <a:extLst xmlns:a="http://schemas.openxmlformats.org/drawingml/2006/main">
              <a:ext uri="{FF2B5EF4-FFF2-40B4-BE49-F238E27FC236}">
                <a16:creationId xmlns:a16="http://schemas.microsoft.com/office/drawing/2014/main" id="{27CD258D-9570-4437-B668-65EB7D362722}"/>
              </a:ext>
            </a:extLst>
          </p:cNvPr>
          <p:cNvSpPr>
            <a:spLocks xmlns:a="http://schemas.openxmlformats.org/drawingml/2006/main" noGrp="1"/>
          </p:cNvSpPr>
          <p:nvPr/>
        </p:nvSpPr>
        <p:spPr>
          <a:xfrm xmlns:a="http://schemas.openxmlformats.org/drawingml/2006/main">
            <a:off x="704850" y="2305050"/>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700" b="1">
                <a:solidFill>
                  <a:srgbClr val="007E87"/>
                </a:solidFill>
                <a:latin typeface="Arial"/>
                <a:ea typeface="Arial"/>
                <a:cs typeface="Arial"/>
              </a:defRPr>
            </a:defPPr>
          </a:lstStyle>
          <a:p xmlns:a="http://schemas.openxmlformats.org/drawingml/2006/main">
            <a:pPr>
              <a:defRPr sz="2700" b="1">
                <a:solidFill>
                  <a:srgbClr val="007E87"/>
                </a:solidFill>
                <a:latin typeface="Arial"/>
                <a:ea typeface="Arial"/>
                <a:cs typeface="Arial"/>
              </a:defRPr>
            </a:pPr>
            <a:r>
              <a:rPr sz="2700" b="1">
                <a:solidFill>
                  <a:srgbClr val="007E87"/>
                </a:solidFill>
                <a:latin typeface="Arial"/>
                <a:ea typeface="Arial"/>
                <a:cs typeface="Arial"/>
              </a:rPr>
              <a:t>L = βh + ceil(βq / 256)</a:t>
            </a:r>
          </a:p>
        </p:txBody>
      </p:sp>
      <p:graphicFrame>
        <p:nvGraphicFramePr>
          <p:cNvPr id="5" name="">
            <a:extLst xmlns:a="http://schemas.openxmlformats.org/drawingml/2006/main">
              <a:ext uri="{FF2B5EF4-FFF2-40B4-BE49-F238E27FC236}">
                <a16:creationId xmlns:a16="http://schemas.microsoft.com/office/drawing/2014/main" id="{A6025A0F-BB8C-4106-9DEB-51FF28EAEF79}"/>
              </a:ext>
            </a:extLst>
          </p:cNvPr>
          <p:cNvGraphicFramePr/>
          <p:nvPr/>
        </p:nvGraphicFramePr>
        <p:xfrm>
          <a:off xmlns:a="http://schemas.openxmlformats.org/drawingml/2006/main" x="685800" y="3324225"/>
          <a:ext xmlns:a="http://schemas.openxmlformats.org/drawingml/2006/main" cx="10820400" cy="2124075"/>
        </p:xfrm>
        <a:graphic xmlns:a="http://schemas.openxmlformats.org/drawingml/2006/main">
          <a:graphicData uri="http://schemas.openxmlformats.org/drawingml/2006/table">
            <a:tbl>
              <a:tblPr/>
              <a:tblGrid>
                <a:gridCol w="2238375"/>
                <a:gridCol w="2714625"/>
                <a:gridCol w="4057650"/>
                <a:gridCol w="1809750"/>
              </a:tblGrid>
              <a:tr h="708025">
                <a:tc>
                  <a:txBody>
                    <a:bodyPr/>
                    <a:lstStyle/>
                    <a:p>
                      <a:r>
                        <a:rPr sz="1800" b="1">
                          <a:solidFill>
                            <a:srgbClr val="FFFFFF"/>
                          </a:solidFill>
                          <a:latin typeface="Arial"/>
                          <a:ea typeface="Arial"/>
                          <a:cs typeface="Arial"/>
                        </a:rPr>
                        <a:t>Input</a:t>
                      </a:r>
                    </a:p>
                  </a:txBody>
                  <a:tcPr marL="114300" marR="114300" marT="76200" marB="76200">
                    <a:solidFill>
                      <a:srgbClr val="172C42"/>
                    </a:solidFill>
                  </a:tcPr>
                </a:tc>
                <a:tc>
                  <a:txBody>
                    <a:bodyPr/>
                    <a:lstStyle/>
                    <a:p>
                      <a:r>
                        <a:rPr sz="1800" b="1">
                          <a:solidFill>
                            <a:srgbClr val="FFFFFF"/>
                          </a:solidFill>
                          <a:latin typeface="Arial"/>
                          <a:ea typeface="Arial"/>
                          <a:cs typeface="Arial"/>
                        </a:rPr>
                        <a:t>High part in fabric</a:t>
                      </a:r>
                    </a:p>
                  </a:txBody>
                  <a:tcPr marL="114300" marR="114300" marT="76200" marB="76200">
                    <a:solidFill>
                      <a:srgbClr val="172C42"/>
                    </a:solidFill>
                  </a:tcPr>
                </a:tc>
                <a:tc>
                  <a:txBody>
                    <a:bodyPr/>
                    <a:lstStyle/>
                    <a:p>
                      <a:r>
                        <a:rPr sz="1800" b="1">
                          <a:solidFill>
                            <a:srgbClr val="FFFFFF"/>
                          </a:solidFill>
                          <a:latin typeface="Arial"/>
                          <a:ea typeface="Arial"/>
                          <a:cs typeface="Arial"/>
                        </a:rPr>
                        <a:t>Residue in DSP</a:t>
                      </a:r>
                    </a:p>
                  </a:txBody>
                  <a:tcPr marL="114300" marR="114300" marT="76200" marB="76200">
                    <a:solidFill>
                      <a:srgbClr val="172C42"/>
                    </a:solidFill>
                  </a:tcPr>
                </a:tc>
                <a:tc>
                  <a:txBody>
                    <a:bodyPr/>
                    <a:lstStyle/>
                    <a:p>
                      <a:r>
                        <a:rPr sz="1800" b="1">
                          <a:solidFill>
                            <a:srgbClr val="FFFFFF"/>
                          </a:solidFill>
                          <a:latin typeface="Arial"/>
                          <a:ea typeface="Arial"/>
                          <a:cs typeface="Arial"/>
                        </a:rPr>
                        <a:t>Exact sum</a:t>
                      </a:r>
                    </a:p>
                  </a:txBody>
                  <a:tcPr marL="114300" marR="114300" marT="76200" marB="76200">
                    <a:solidFill>
                      <a:srgbClr val="172C42"/>
                    </a:solidFill>
                  </a:tcPr>
                </a:tc>
              </a:tr>
              <a:tr h="708025">
                <a:tc>
                  <a:txBody>
                    <a:bodyPr/>
                    <a:lstStyle/>
                    <a:p>
                      <a:r>
                        <a:rPr sz="1800">
                          <a:solidFill>
                            <a:srgbClr val="172C42"/>
                          </a:solidFill>
                          <a:latin typeface="Arial"/>
                          <a:ea typeface="Arial"/>
                          <a:cs typeface="Arial"/>
                        </a:rPr>
                        <a:t>U=381, β=78</a:t>
                      </a:r>
                    </a:p>
                  </a:txBody>
                  <a:tcPr marL="114300" marR="114300" marT="76200" marB="76200">
                    <a:solidFill>
                      <a:srgbClr val="FFFFFF"/>
                    </a:solidFill>
                  </a:tcPr>
                </a:tc>
                <a:tc>
                  <a:txBody>
                    <a:bodyPr/>
                    <a:lstStyle/>
                    <a:p>
                      <a:r>
                        <a:rPr sz="1800">
                          <a:solidFill>
                            <a:srgbClr val="172C42"/>
                          </a:solidFill>
                          <a:latin typeface="Arial"/>
                          <a:ea typeface="Arial"/>
                          <a:cs typeface="Arial"/>
                        </a:rPr>
                        <a:t>78 × 1 = 78</a:t>
                      </a:r>
                    </a:p>
                  </a:txBody>
                  <a:tcPr marL="114300" marR="114300" marT="76200" marB="76200">
                    <a:solidFill>
                      <a:srgbClr val="FFFFFF"/>
                    </a:solidFill>
                  </a:tcPr>
                </a:tc>
                <a:tc>
                  <a:txBody>
                    <a:bodyPr/>
                    <a:lstStyle/>
                    <a:p>
                      <a:r>
                        <a:rPr sz="1800">
                          <a:solidFill>
                            <a:srgbClr val="172C42"/>
                          </a:solidFill>
                          <a:latin typeface="Arial"/>
                          <a:ea typeface="Arial"/>
                          <a:cs typeface="Arial"/>
                        </a:rPr>
                        <a:t>ceil(78 × 125 / 256) = 39</a:t>
                      </a:r>
                    </a:p>
                  </a:txBody>
                  <a:tcPr marL="114300" marR="114300" marT="76200" marB="76200">
                    <a:solidFill>
                      <a:srgbClr val="FFFFFF"/>
                    </a:solidFill>
                  </a:tcPr>
                </a:tc>
                <a:tc>
                  <a:txBody>
                    <a:bodyPr/>
                    <a:lstStyle/>
                    <a:p>
                      <a:r>
                        <a:rPr sz="1800">
                          <a:solidFill>
                            <a:srgbClr val="172C42"/>
                          </a:solidFill>
                          <a:latin typeface="Arial"/>
                          <a:ea typeface="Arial"/>
                          <a:cs typeface="Arial"/>
                        </a:rPr>
                        <a:t>117</a:t>
                      </a:r>
                    </a:p>
                  </a:txBody>
                  <a:tcPr marL="114300" marR="114300" marT="76200" marB="76200">
                    <a:solidFill>
                      <a:srgbClr val="FFFFFF"/>
                    </a:solidFill>
                  </a:tcPr>
                </a:tc>
              </a:tr>
              <a:tr h="708025">
                <a:tc>
                  <a:txBody>
                    <a:bodyPr/>
                    <a:lstStyle/>
                    <a:p>
                      <a:r>
                        <a:rPr sz="1800">
                          <a:solidFill>
                            <a:srgbClr val="172C42"/>
                          </a:solidFill>
                          <a:latin typeface="Arial"/>
                          <a:ea typeface="Arial"/>
                          <a:cs typeface="Arial"/>
                        </a:rPr>
                        <a:t>U=−3, β=128</a:t>
                      </a:r>
                    </a:p>
                  </a:txBody>
                  <a:tcPr marL="114300" marR="114300" marT="76200" marB="76200">
                    <a:solidFill>
                      <a:srgbClr val="FFFFFF"/>
                    </a:solidFill>
                  </a:tcPr>
                </a:tc>
                <a:tc>
                  <a:txBody>
                    <a:bodyPr/>
                    <a:lstStyle/>
                    <a:p>
                      <a:r>
                        <a:rPr sz="1800">
                          <a:solidFill>
                            <a:srgbClr val="172C42"/>
                          </a:solidFill>
                          <a:latin typeface="Arial"/>
                          <a:ea typeface="Arial"/>
                          <a:cs typeface="Arial"/>
                        </a:rPr>
                        <a:t>128 × (−1) = −128</a:t>
                      </a:r>
                    </a:p>
                  </a:txBody>
                  <a:tcPr marL="114300" marR="114300" marT="76200" marB="76200">
                    <a:solidFill>
                      <a:srgbClr val="FFFFFF"/>
                    </a:solidFill>
                  </a:tcPr>
                </a:tc>
                <a:tc>
                  <a:txBody>
                    <a:bodyPr/>
                    <a:lstStyle/>
                    <a:p>
                      <a:r>
                        <a:rPr sz="1800">
                          <a:solidFill>
                            <a:srgbClr val="172C42"/>
                          </a:solidFill>
                          <a:latin typeface="Arial"/>
                          <a:ea typeface="Arial"/>
                          <a:cs typeface="Arial"/>
                        </a:rPr>
                        <a:t>ceil(128 × 253 / 256) = 127</a:t>
                      </a:r>
                    </a:p>
                  </a:txBody>
                  <a:tcPr marL="114300" marR="114300" marT="76200" marB="76200">
                    <a:solidFill>
                      <a:srgbClr val="FFFFFF"/>
                    </a:solidFill>
                  </a:tcPr>
                </a:tc>
                <a:tc>
                  <a:txBody>
                    <a:bodyPr/>
                    <a:lstStyle/>
                    <a:p>
                      <a:r>
                        <a:rPr sz="1800">
                          <a:solidFill>
                            <a:srgbClr val="172C42"/>
                          </a:solidFill>
                          <a:latin typeface="Arial"/>
                          <a:ea typeface="Arial"/>
                          <a:cs typeface="Arial"/>
                        </a:rPr>
                        <a:t>−1</a:t>
                      </a:r>
                    </a:p>
                  </a:txBody>
                  <a:tcPr marL="114300" marR="114300" marT="76200" marB="7620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DC81FBDA-2968-4575-BC7A-A5965F968848}"/>
              </a:ext>
            </a:extLst>
          </p:cNvPr>
          <p:cNvSpPr>
            <a:spLocks xmlns:a="http://schemas.openxmlformats.org/drawingml/2006/main" noGrp="1"/>
          </p:cNvSpPr>
          <p:nvPr/>
        </p:nvSpPr>
        <p:spPr>
          <a:xfrm xmlns:a="http://schemas.openxmlformats.org/drawingml/2006/main">
            <a:off x="704850" y="5962650"/>
            <a:ext cx="1028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00" b="0">
                <a:solidFill>
                  <a:srgbClr val="536573"/>
                </a:solidFill>
                <a:latin typeface="Arial"/>
                <a:ea typeface="Arial"/>
                <a:cs typeface="Arial"/>
              </a:defRPr>
            </a:defPPr>
          </a:lstStyle>
          <a:p xmlns:a="http://schemas.openxmlformats.org/drawingml/2006/main">
            <a:pPr>
              <a:defRPr sz="1500" b="0">
                <a:solidFill>
                  <a:srgbClr val="536573"/>
                </a:solidFill>
                <a:latin typeface="Arial"/>
                <a:ea typeface="Arial"/>
                <a:cs typeface="Arial"/>
              </a:defRPr>
            </a:pPr>
            <a:r>
              <a:rPr sz="1500" b="0">
                <a:solidFill>
                  <a:srgbClr val="536573"/>
                </a:solidFill>
                <a:latin typeface="Arial"/>
                <a:ea typeface="Arial"/>
                <a:cs typeface="Arial"/>
              </a:rPr>
              <a:t>Fixed E1 keeps full-domain pair occupancy and pays for the high-part fabric</a:t>
            </a:r>
          </a:p>
        </p:txBody>
      </p:sp>
    </p:spTree>
    <p:extLst>
      <p:ext uri="{BB962C8B-B14F-4D97-AF65-F5344CB8AC3E}">
        <p14:creationId xmlns:p14="http://schemas.microsoft.com/office/powerpoint/2010/main" val="118144430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2026-10-11T06:16:26.9080000Z</dcterms:created>
  <dcterms:modified xsi:type="dcterms:W3CDTF">2026-10-11T06:16:26.9080000Z</dcterms:modified>
</coreProperties>
</file>